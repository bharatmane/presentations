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35" r:id="rId2"/>
    <p:sldId id="353" r:id="rId3"/>
    <p:sldId id="355" r:id="rId4"/>
    <p:sldId id="359" r:id="rId5"/>
    <p:sldId id="358" r:id="rId6"/>
    <p:sldId id="357" r:id="rId7"/>
    <p:sldId id="360" r:id="rId8"/>
    <p:sldId id="352" r:id="rId9"/>
    <p:sldId id="340" r:id="rId10"/>
    <p:sldId id="342" r:id="rId11"/>
    <p:sldId id="35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BB4129-60AB-480C-B1D4-D0A9B366C14A}">
          <p14:sldIdLst>
            <p14:sldId id="335"/>
            <p14:sldId id="353"/>
            <p14:sldId id="355"/>
            <p14:sldId id="359"/>
            <p14:sldId id="358"/>
            <p14:sldId id="357"/>
            <p14:sldId id="360"/>
            <p14:sldId id="352"/>
            <p14:sldId id="340"/>
            <p14:sldId id="342"/>
            <p14:sldId id="35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2D2D2D"/>
    <a:srgbClr val="505050"/>
    <a:srgbClr val="2E323E"/>
    <a:srgbClr val="F77F07"/>
    <a:srgbClr val="F99837"/>
    <a:srgbClr val="ECECEC"/>
    <a:srgbClr val="E4E4E4"/>
    <a:srgbClr val="E2E2E2"/>
    <a:srgbClr val="F8FA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71462" autoAdjust="0"/>
  </p:normalViewPr>
  <p:slideViewPr>
    <p:cSldViewPr snapToGrid="0">
      <p:cViewPr varScale="1">
        <p:scale>
          <a:sx n="78" d="100"/>
          <a:sy n="78" d="100"/>
        </p:scale>
        <p:origin x="161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46E21ED-16CE-4F24-80AE-EAA670226342}" type="datetimeFigureOut">
              <a:rPr lang="en-US" smtClean="0"/>
              <a:t>1/12/2019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75D9F6-7422-48F2-8A6C-3C4CB49F3925}"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49767B-8DD0-4A45-953D-8094941534E6}" type="datetimeFigureOut">
              <a:rPr lang="en-US" smtClean="0"/>
              <a:pPr/>
              <a:t>1/12/2019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F9E20-B887-4600-B1E3-3C3A8AFB3A82}" type="slidenum">
              <a:rPr lang="en-US" smtClean="0"/>
              <a:pPr/>
              <a:t>‹#›</a:t>
            </a:fld>
            <a:endParaRPr lang="en-US"/>
          </a:p>
        </p:txBody>
      </p:sp>
    </p:spTree>
    <p:extLst>
      <p:ext uri="{BB962C8B-B14F-4D97-AF65-F5344CB8AC3E}">
        <p14:creationId xmlns:p14="http://schemas.microsoft.com/office/powerpoint/2010/main" val="239193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a:t>
            </a:fld>
            <a:endParaRPr lang="en-US"/>
          </a:p>
        </p:txBody>
      </p:sp>
    </p:spTree>
    <p:extLst>
      <p:ext uri="{BB962C8B-B14F-4D97-AF65-F5344CB8AC3E}">
        <p14:creationId xmlns:p14="http://schemas.microsoft.com/office/powerpoint/2010/main" val="1176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https://www.udemy.com/chris-anderson-on-public-speaking/</a:t>
            </a:r>
          </a:p>
          <a:p>
            <a:r>
              <a:rPr lang="en-IN" dirty="0"/>
              <a:t>C</a:t>
            </a:r>
            <a:r>
              <a:rPr lang="en-US" dirty="0" err="1"/>
              <a:t>hris</a:t>
            </a:r>
            <a:r>
              <a:rPr lang="en-US" dirty="0"/>
              <a:t> Anderson</a:t>
            </a:r>
          </a:p>
        </p:txBody>
      </p:sp>
      <p:sp>
        <p:nvSpPr>
          <p:cNvPr id="4" name="Slide Number Placeholder 3"/>
          <p:cNvSpPr>
            <a:spLocks noGrp="1"/>
          </p:cNvSpPr>
          <p:nvPr>
            <p:ph type="sldNum" sz="quarter" idx="5"/>
          </p:nvPr>
        </p:nvSpPr>
        <p:spPr/>
        <p:txBody>
          <a:bodyPr/>
          <a:lstStyle/>
          <a:p>
            <a:fld id="{636F9E20-B887-4600-B1E3-3C3A8AFB3A82}" type="slidenum">
              <a:rPr lang="en-US" smtClean="0"/>
              <a:pPr/>
              <a:t>2</a:t>
            </a:fld>
            <a:endParaRPr lang="en-US"/>
          </a:p>
        </p:txBody>
      </p:sp>
    </p:spTree>
    <p:extLst>
      <p:ext uri="{BB962C8B-B14F-4D97-AF65-F5344CB8AC3E}">
        <p14:creationId xmlns:p14="http://schemas.microsoft.com/office/powerpoint/2010/main" val="95096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a great way to think about "a talk" is as a journey. You, the speaker, are going with your audience on a journey of discovery together. </a:t>
            </a:r>
          </a:p>
          <a:p>
            <a:r>
              <a:rPr lang="en-GB" dirty="0"/>
              <a:t>So what makes a journey successful? </a:t>
            </a:r>
          </a:p>
          <a:p>
            <a:r>
              <a:rPr lang="en-GB" dirty="0"/>
              <a:t>It's really just two simple things. </a:t>
            </a:r>
          </a:p>
          <a:p>
            <a:r>
              <a:rPr lang="en-GB" dirty="0"/>
              <a:t>The first is you obviously have to start where the audience is. </a:t>
            </a:r>
          </a:p>
          <a:p>
            <a:r>
              <a:rPr lang="en-GB" dirty="0"/>
              <a:t>You start on the journey together. So that means you have to be putting yourself in their shoes and planning to use their language, their assumptions, not your own starting assumptions. </a:t>
            </a:r>
          </a:p>
          <a:p>
            <a:r>
              <a:rPr lang="en-GB" dirty="0"/>
              <a:t>And then each step of the journey needs to be both possible and desirable.</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a:t>
            </a:fld>
            <a:endParaRPr lang="en-US"/>
          </a:p>
        </p:txBody>
      </p:sp>
    </p:spTree>
    <p:extLst>
      <p:ext uri="{BB962C8B-B14F-4D97-AF65-F5344CB8AC3E}">
        <p14:creationId xmlns:p14="http://schemas.microsoft.com/office/powerpoint/2010/main" val="273463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4</a:t>
            </a:fld>
            <a:endParaRPr lang="en-US"/>
          </a:p>
        </p:txBody>
      </p:sp>
    </p:spTree>
    <p:extLst>
      <p:ext uri="{BB962C8B-B14F-4D97-AF65-F5344CB8AC3E}">
        <p14:creationId xmlns:p14="http://schemas.microsoft.com/office/powerpoint/2010/main" val="367900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There’s a helpful word used to </a:t>
            </a:r>
            <a:r>
              <a:rPr lang="en-GB" sz="1200" b="0" i="0" kern="1200" dirty="0" err="1">
                <a:solidFill>
                  <a:schemeClr val="tx1"/>
                </a:solidFill>
                <a:effectLst/>
                <a:latin typeface="+mn-lt"/>
                <a:ea typeface="+mn-ea"/>
                <a:cs typeface="+mn-cs"/>
              </a:rPr>
              <a:t>analyze</a:t>
            </a:r>
            <a:r>
              <a:rPr lang="en-GB" sz="1200" b="0" i="0" kern="1200" dirty="0">
                <a:solidFill>
                  <a:schemeClr val="tx1"/>
                </a:solidFill>
                <a:effectLst/>
                <a:latin typeface="+mn-lt"/>
                <a:ea typeface="+mn-ea"/>
                <a:cs typeface="+mn-cs"/>
              </a:rPr>
              <a:t> plays, movies, and novels; it applies to talks, too. </a:t>
            </a:r>
          </a:p>
          <a:p>
            <a:r>
              <a:rPr lang="en-GB" sz="1200" b="0" i="0" kern="1200" dirty="0">
                <a:solidFill>
                  <a:schemeClr val="tx1"/>
                </a:solidFill>
                <a:effectLst/>
                <a:latin typeface="+mn-lt"/>
                <a:ea typeface="+mn-ea"/>
                <a:cs typeface="+mn-cs"/>
              </a:rPr>
              <a:t>It’s “through-line,” the connecting theme that ties together each narrative element. </a:t>
            </a:r>
          </a:p>
          <a:p>
            <a:r>
              <a:rPr lang="en-GB" sz="1200" b="0" i="0" kern="1200" dirty="0">
                <a:solidFill>
                  <a:schemeClr val="tx1"/>
                </a:solidFill>
                <a:effectLst/>
                <a:latin typeface="+mn-lt"/>
                <a:ea typeface="+mn-ea"/>
                <a:cs typeface="+mn-cs"/>
              </a:rPr>
              <a:t>Every talk should have one.</a:t>
            </a:r>
          </a:p>
          <a:p>
            <a:r>
              <a:rPr lang="en-US" dirty="0"/>
              <a:t>https://www.fastcompany.com/3059547/ted-talk-masters-teach-you-how-to-tell-a-story-that-actually-means-something</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5</a:t>
            </a:fld>
            <a:endParaRPr lang="en-US"/>
          </a:p>
        </p:txBody>
      </p:sp>
    </p:spTree>
    <p:extLst>
      <p:ext uri="{BB962C8B-B14F-4D97-AF65-F5344CB8AC3E}">
        <p14:creationId xmlns:p14="http://schemas.microsoft.com/office/powerpoint/2010/main" val="4104380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cost of a poor PowerPoint presentation is staggering. Ian Parker in </a:t>
            </a:r>
            <a:r>
              <a:rPr lang="en-GB" sz="1200" b="0" i="1" kern="1200" dirty="0">
                <a:solidFill>
                  <a:schemeClr val="tx1"/>
                </a:solidFill>
                <a:effectLst/>
                <a:latin typeface="+mn-lt"/>
                <a:ea typeface="+mn-ea"/>
                <a:cs typeface="+mn-cs"/>
              </a:rPr>
              <a:t>The New </a:t>
            </a:r>
            <a:r>
              <a:rPr lang="en-GB" sz="1200" b="0" i="1" kern="1200" dirty="0" err="1">
                <a:solidFill>
                  <a:schemeClr val="tx1"/>
                </a:solidFill>
                <a:effectLst/>
                <a:latin typeface="+mn-lt"/>
                <a:ea typeface="+mn-ea"/>
                <a:cs typeface="+mn-cs"/>
              </a:rPr>
              <a:t>Yorker</a:t>
            </a:r>
            <a:r>
              <a:rPr lang="en-GB" sz="1200" b="0" i="0" kern="1200" dirty="0" err="1">
                <a:solidFill>
                  <a:schemeClr val="tx1"/>
                </a:solidFill>
                <a:effectLst/>
                <a:latin typeface="+mn-lt"/>
                <a:ea typeface="+mn-ea"/>
                <a:cs typeface="+mn-cs"/>
              </a:rPr>
              <a:t>magazine</a:t>
            </a:r>
            <a:r>
              <a:rPr lang="en-GB" sz="1200" b="0" i="0" kern="1200" dirty="0">
                <a:solidFill>
                  <a:schemeClr val="tx1"/>
                </a:solidFill>
                <a:effectLst/>
                <a:latin typeface="+mn-lt"/>
                <a:ea typeface="+mn-ea"/>
                <a:cs typeface="+mn-cs"/>
              </a:rPr>
              <a:t> states that according to Microsoft estimates, there are more than 30 million PowerPoint presentations made each day. If we assume some relatively conservative meeting parameters of four people per presentation, a half-hour presentation on average and the wasted time due to a poor presentation is one-quarter of the presentation time, we arrive at a waste of 15 million person hours per day. At an average salary of $35,000 per year for those attending the meeting, the cost of that wasted time is a staggering $252 million and change each </a:t>
            </a:r>
            <a:r>
              <a:rPr lang="en-GB" sz="1200" b="0" i="0" kern="1200" dirty="0" err="1">
                <a:solidFill>
                  <a:schemeClr val="tx1"/>
                </a:solidFill>
                <a:effectLst/>
                <a:latin typeface="+mn-lt"/>
                <a:ea typeface="+mn-ea"/>
                <a:cs typeface="+mn-cs"/>
              </a:rPr>
              <a:t>day.soft</a:t>
            </a:r>
            <a:r>
              <a:rPr lang="en-GB" sz="1200" b="0" i="0" kern="1200" dirty="0">
                <a:solidFill>
                  <a:schemeClr val="tx1"/>
                </a:solidFill>
                <a:effectLst/>
                <a:latin typeface="+mn-lt"/>
                <a:ea typeface="+mn-ea"/>
                <a:cs typeface="+mn-cs"/>
              </a:rPr>
              <a:t> estimates, there are more than 30 million PowerPoint presentations made each day. </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9</a:t>
            </a:fld>
            <a:endParaRPr lang="en-US"/>
          </a:p>
        </p:txBody>
      </p:sp>
    </p:spTree>
    <p:extLst>
      <p:ext uri="{BB962C8B-B14F-4D97-AF65-F5344CB8AC3E}">
        <p14:creationId xmlns:p14="http://schemas.microsoft.com/office/powerpoint/2010/main" val="34048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first is the ramble.</a:t>
            </a:r>
          </a:p>
          <a:p>
            <a:r>
              <a:rPr lang="en-GB" sz="1200" b="0" i="0" kern="1200" dirty="0">
                <a:solidFill>
                  <a:schemeClr val="tx1"/>
                </a:solidFill>
                <a:effectLst/>
                <a:latin typeface="+mn-lt"/>
                <a:ea typeface="+mn-ea"/>
                <a:cs typeface="+mn-cs"/>
              </a:rPr>
              <a:t>So many speakers think that they can just come and wing it.</a:t>
            </a:r>
          </a:p>
          <a:p>
            <a:r>
              <a:rPr lang="en-GB" sz="1200" b="0" i="0" kern="1200" dirty="0">
                <a:solidFill>
                  <a:schemeClr val="tx1"/>
                </a:solidFill>
                <a:effectLst/>
                <a:latin typeface="+mn-lt"/>
                <a:ea typeface="+mn-ea"/>
                <a:cs typeface="+mn-cs"/>
              </a:rPr>
              <a:t>They come under-prepared to a speaking occasion and they</a:t>
            </a:r>
          </a:p>
          <a:p>
            <a:r>
              <a:rPr lang="en-GB" sz="1200" b="0" i="0" kern="1200" dirty="0">
                <a:solidFill>
                  <a:schemeClr val="tx1"/>
                </a:solidFill>
                <a:effectLst/>
                <a:latin typeface="+mn-lt"/>
                <a:ea typeface="+mn-ea"/>
                <a:cs typeface="+mn-cs"/>
              </a:rPr>
              <a:t>just talk about one thing that's on</a:t>
            </a:r>
          </a:p>
          <a:p>
            <a:r>
              <a:rPr lang="en-GB" sz="1200" b="0" i="0" kern="1200" dirty="0">
                <a:solidFill>
                  <a:schemeClr val="tx1"/>
                </a:solidFill>
                <a:effectLst/>
                <a:latin typeface="+mn-lt"/>
                <a:ea typeface="+mn-ea"/>
                <a:cs typeface="+mn-cs"/>
              </a:rPr>
              <a:t>their mind and then they shift to another and they go,</a:t>
            </a:r>
          </a:p>
          <a:p>
            <a:r>
              <a:rPr lang="en-GB" sz="1200" b="0" i="0" kern="1200" dirty="0">
                <a:solidFill>
                  <a:schemeClr val="tx1"/>
                </a:solidFill>
                <a:effectLst/>
                <a:latin typeface="+mn-lt"/>
                <a:ea typeface="+mn-ea"/>
                <a:cs typeface="+mn-cs"/>
              </a:rPr>
              <a:t>oh, yes, and another thing that I just must mention before I stop</a:t>
            </a:r>
          </a:p>
          <a:p>
            <a:r>
              <a:rPr lang="en-GB" sz="1200" b="0" i="0" kern="1200" dirty="0">
                <a:solidFill>
                  <a:schemeClr val="tx1"/>
                </a:solidFill>
                <a:effectLst/>
                <a:latin typeface="+mn-lt"/>
                <a:ea typeface="+mn-ea"/>
                <a:cs typeface="+mn-cs"/>
              </a:rPr>
              <a:t>is and the audience doesn't know where they are heading.</a:t>
            </a:r>
          </a:p>
          <a:p>
            <a:r>
              <a:rPr lang="en-GB" sz="1200" b="0" i="0" kern="1200" dirty="0">
                <a:solidFill>
                  <a:schemeClr val="tx1"/>
                </a:solidFill>
                <a:effectLst/>
                <a:latin typeface="+mn-lt"/>
                <a:ea typeface="+mn-ea"/>
                <a:cs typeface="+mn-cs"/>
              </a:rPr>
              <a:t>There's no connection between these different parts.</a:t>
            </a:r>
          </a:p>
          <a:p>
            <a:r>
              <a:rPr lang="en-GB" sz="1200" b="0" i="0" kern="1200" dirty="0">
                <a:solidFill>
                  <a:schemeClr val="tx1"/>
                </a:solidFill>
                <a:effectLst/>
                <a:latin typeface="+mn-lt"/>
                <a:ea typeface="+mn-ea"/>
                <a:cs typeface="+mn-cs"/>
              </a:rPr>
              <a:t>The speaker may think that, hey,</a:t>
            </a:r>
          </a:p>
          <a:p>
            <a:r>
              <a:rPr lang="en-GB" sz="1200" b="0" i="0" kern="1200" dirty="0">
                <a:solidFill>
                  <a:schemeClr val="tx1"/>
                </a:solidFill>
                <a:effectLst/>
                <a:latin typeface="+mn-lt"/>
                <a:ea typeface="+mn-ea"/>
                <a:cs typeface="+mn-cs"/>
              </a:rPr>
              <a:t>all of this is interesting,</a:t>
            </a:r>
          </a:p>
          <a:p>
            <a:r>
              <a:rPr lang="en-GB" sz="1200" b="0" i="0" kern="1200" dirty="0">
                <a:solidFill>
                  <a:schemeClr val="tx1"/>
                </a:solidFill>
                <a:effectLst/>
                <a:latin typeface="+mn-lt"/>
                <a:ea typeface="+mn-ea"/>
                <a:cs typeface="+mn-cs"/>
              </a:rPr>
              <a:t>I'm an interesting person,</a:t>
            </a:r>
          </a:p>
          <a:p>
            <a:r>
              <a:rPr lang="en-GB" sz="1200" b="0" i="0" kern="1200" dirty="0">
                <a:solidFill>
                  <a:schemeClr val="tx1"/>
                </a:solidFill>
                <a:effectLst/>
                <a:latin typeface="+mn-lt"/>
                <a:ea typeface="+mn-ea"/>
                <a:cs typeface="+mn-cs"/>
              </a:rPr>
              <a:t>look at me, the audience experience is just one of deep frustration. Don't ramble.</a:t>
            </a:r>
          </a:p>
          <a:p>
            <a:r>
              <a:rPr lang="en-GB" sz="1200" b="0" i="0" kern="1200" dirty="0">
                <a:solidFill>
                  <a:schemeClr val="tx1"/>
                </a:solidFill>
                <a:effectLst/>
                <a:latin typeface="+mn-lt"/>
                <a:ea typeface="+mn-ea"/>
                <a:cs typeface="+mn-cs"/>
              </a:rPr>
              <a:t>You owe it to our audience to prepare a connected talk.</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10</a:t>
            </a:fld>
            <a:endParaRPr lang="en-US"/>
          </a:p>
        </p:txBody>
      </p:sp>
    </p:spTree>
    <p:extLst>
      <p:ext uri="{BB962C8B-B14F-4D97-AF65-F5344CB8AC3E}">
        <p14:creationId xmlns:p14="http://schemas.microsoft.com/office/powerpoint/2010/main" val="3137435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So how do you structure</a:t>
            </a:r>
          </a:p>
          <a:p>
            <a:r>
              <a:rPr lang="en-GB" sz="1200" b="0" i="0" kern="1200" dirty="0">
                <a:solidFill>
                  <a:schemeClr val="tx1"/>
                </a:solidFill>
                <a:effectLst/>
                <a:latin typeface="+mn-lt"/>
                <a:ea typeface="+mn-ea"/>
                <a:cs typeface="+mn-cs"/>
              </a:rPr>
              <a:t>a talk that is going to be successful at communicating an idea that matters?</a:t>
            </a:r>
          </a:p>
          <a:p>
            <a:r>
              <a:rPr lang="en-GB" sz="1200" b="0" i="0" kern="1200" dirty="0">
                <a:solidFill>
                  <a:schemeClr val="tx1"/>
                </a:solidFill>
                <a:effectLst/>
                <a:latin typeface="+mn-lt"/>
                <a:ea typeface="+mn-ea"/>
                <a:cs typeface="+mn-cs"/>
              </a:rPr>
              <a:t>The number one key is to be disciplined here.</a:t>
            </a:r>
          </a:p>
          <a:p>
            <a:r>
              <a:rPr lang="en-GB" sz="1200" b="0" i="0" kern="1200" dirty="0">
                <a:solidFill>
                  <a:schemeClr val="tx1"/>
                </a:solidFill>
                <a:effectLst/>
                <a:latin typeface="+mn-lt"/>
                <a:ea typeface="+mn-ea"/>
                <a:cs typeface="+mn-cs"/>
              </a:rPr>
              <a:t>It's to cut out everything that does not relate directly to that idea.</a:t>
            </a:r>
          </a:p>
          <a:p>
            <a:r>
              <a:rPr lang="en-GB" sz="1200" b="0" i="0" kern="1200" dirty="0">
                <a:solidFill>
                  <a:schemeClr val="tx1"/>
                </a:solidFill>
                <a:effectLst/>
                <a:latin typeface="+mn-lt"/>
                <a:ea typeface="+mn-ea"/>
                <a:cs typeface="+mn-cs"/>
              </a:rPr>
              <a:t>It's a total trap that people fall into when they've got 20-30 minutes to speak.</a:t>
            </a:r>
          </a:p>
          <a:p>
            <a:r>
              <a:rPr lang="en-GB" sz="1200" b="0" i="0" kern="1200" dirty="0">
                <a:solidFill>
                  <a:schemeClr val="tx1"/>
                </a:solidFill>
                <a:effectLst/>
                <a:latin typeface="+mn-lt"/>
                <a:ea typeface="+mn-ea"/>
                <a:cs typeface="+mn-cs"/>
              </a:rPr>
              <a:t>They want to cram in everything that they're excited about right now. Who wouldn't?</a:t>
            </a:r>
          </a:p>
          <a:p>
            <a:r>
              <a:rPr lang="en-GB" sz="1200" b="0" i="0" kern="1200" dirty="0">
                <a:solidFill>
                  <a:schemeClr val="tx1"/>
                </a:solidFill>
                <a:effectLst/>
                <a:latin typeface="+mn-lt"/>
                <a:ea typeface="+mn-ea"/>
                <a:cs typeface="+mn-cs"/>
              </a:rPr>
              <a:t>The trouble with that is that it leads to</a:t>
            </a:r>
          </a:p>
          <a:p>
            <a:r>
              <a:rPr lang="en-GB" sz="1200" b="0" i="0" kern="1200" dirty="0">
                <a:solidFill>
                  <a:schemeClr val="tx1"/>
                </a:solidFill>
                <a:effectLst/>
                <a:latin typeface="+mn-lt"/>
                <a:ea typeface="+mn-ea"/>
                <a:cs typeface="+mn-cs"/>
              </a:rPr>
              <a:t>a chaotic talk and it leads to nothing being explained in depth.</a:t>
            </a:r>
          </a:p>
          <a:p>
            <a:r>
              <a:rPr lang="en-GB" sz="1200" b="0" i="0" kern="1200" dirty="0">
                <a:solidFill>
                  <a:schemeClr val="tx1"/>
                </a:solidFill>
                <a:effectLst/>
                <a:latin typeface="+mn-lt"/>
                <a:ea typeface="+mn-ea"/>
                <a:cs typeface="+mn-cs"/>
              </a:rPr>
              <a:t>To make an idea land it has to be unpacked carefully.</a:t>
            </a:r>
          </a:p>
          <a:p>
            <a:r>
              <a:rPr lang="en-GB" sz="1200" b="0" i="0" kern="1200" dirty="0">
                <a:solidFill>
                  <a:schemeClr val="tx1"/>
                </a:solidFill>
                <a:effectLst/>
                <a:latin typeface="+mn-lt"/>
                <a:ea typeface="+mn-ea"/>
                <a:cs typeface="+mn-cs"/>
              </a:rPr>
              <a:t>There's a lot of context that you have to give and that means</a:t>
            </a:r>
          </a:p>
          <a:p>
            <a:r>
              <a:rPr lang="en-GB" sz="1200" b="0" i="0" kern="1200" dirty="0">
                <a:solidFill>
                  <a:schemeClr val="tx1"/>
                </a:solidFill>
                <a:effectLst/>
                <a:latin typeface="+mn-lt"/>
                <a:ea typeface="+mn-ea"/>
                <a:cs typeface="+mn-cs"/>
              </a:rPr>
              <a:t>you have to cut out everything except that one idea.</a:t>
            </a:r>
          </a:p>
          <a:p>
            <a:r>
              <a:rPr lang="en-GB" sz="1200" b="0" i="0" kern="1200" dirty="0">
                <a:solidFill>
                  <a:schemeClr val="tx1"/>
                </a:solidFill>
                <a:effectLst/>
                <a:latin typeface="+mn-lt"/>
                <a:ea typeface="+mn-ea"/>
                <a:cs typeface="+mn-cs"/>
              </a:rPr>
              <a:t>And it really is hard.</a:t>
            </a:r>
          </a:p>
          <a:p>
            <a:r>
              <a:rPr lang="en-GB" sz="1200" b="0" i="0" kern="1200" dirty="0">
                <a:solidFill>
                  <a:schemeClr val="tx1"/>
                </a:solidFill>
                <a:effectLst/>
                <a:latin typeface="+mn-lt"/>
                <a:ea typeface="+mn-ea"/>
                <a:cs typeface="+mn-cs"/>
              </a:rPr>
              <a:t>It's like when you've planned your talk, cut it in half,</a:t>
            </a:r>
          </a:p>
          <a:p>
            <a:r>
              <a:rPr lang="en-GB" sz="1200" b="0" i="0" kern="1200" dirty="0">
                <a:solidFill>
                  <a:schemeClr val="tx1"/>
                </a:solidFill>
                <a:effectLst/>
                <a:latin typeface="+mn-lt"/>
                <a:ea typeface="+mn-ea"/>
                <a:cs typeface="+mn-cs"/>
              </a:rPr>
              <a:t>cut out half of the topics that you've planned to talk</a:t>
            </a:r>
          </a:p>
          <a:p>
            <a:r>
              <a:rPr lang="en-GB" sz="1200" b="0" i="0" kern="1200" dirty="0">
                <a:solidFill>
                  <a:schemeClr val="tx1"/>
                </a:solidFill>
                <a:effectLst/>
                <a:latin typeface="+mn-lt"/>
                <a:ea typeface="+mn-ea"/>
                <a:cs typeface="+mn-cs"/>
              </a:rPr>
              <a:t>about and just make yourself ask again,</a:t>
            </a:r>
          </a:p>
          <a:p>
            <a:r>
              <a:rPr lang="en-GB" sz="1200" b="0" i="0" kern="1200" dirty="0">
                <a:solidFill>
                  <a:schemeClr val="tx1"/>
                </a:solidFill>
                <a:effectLst/>
                <a:latin typeface="+mn-lt"/>
                <a:ea typeface="+mn-ea"/>
                <a:cs typeface="+mn-cs"/>
              </a:rPr>
              <a:t>what is the key thing I'm trying to say here?</a:t>
            </a:r>
          </a:p>
          <a:p>
            <a:r>
              <a:rPr lang="en-GB" sz="1200" b="0" i="0" kern="1200" dirty="0">
                <a:solidFill>
                  <a:schemeClr val="tx1"/>
                </a:solidFill>
                <a:effectLst/>
                <a:latin typeface="+mn-lt"/>
                <a:ea typeface="+mn-ea"/>
                <a:cs typeface="+mn-cs"/>
              </a:rPr>
              <a:t>Does this thing honestly add to that?</a:t>
            </a:r>
          </a:p>
          <a:p>
            <a:r>
              <a:rPr lang="en-GB" sz="1200" b="0" i="0" kern="1200" dirty="0">
                <a:solidFill>
                  <a:schemeClr val="tx1"/>
                </a:solidFill>
                <a:effectLst/>
                <a:latin typeface="+mn-lt"/>
                <a:ea typeface="+mn-ea"/>
                <a:cs typeface="+mn-cs"/>
              </a:rPr>
              <a:t>If it doesn't, get rid of it.</a:t>
            </a:r>
          </a:p>
          <a:p>
            <a:r>
              <a:rPr lang="en-GB" sz="1200" b="0" i="0" kern="1200" dirty="0">
                <a:solidFill>
                  <a:schemeClr val="tx1"/>
                </a:solidFill>
                <a:effectLst/>
                <a:latin typeface="+mn-lt"/>
                <a:ea typeface="+mn-ea"/>
                <a:cs typeface="+mn-cs"/>
              </a:rPr>
              <a:t>That thing that you are left with,</a:t>
            </a:r>
          </a:p>
          <a:p>
            <a:r>
              <a:rPr lang="en-GB" sz="1200" b="0" i="0" kern="1200" dirty="0">
                <a:solidFill>
                  <a:schemeClr val="tx1"/>
                </a:solidFill>
                <a:effectLst/>
                <a:latin typeface="+mn-lt"/>
                <a:ea typeface="+mn-ea"/>
                <a:cs typeface="+mn-cs"/>
              </a:rPr>
              <a:t>that becomes the through line of your talk.</a:t>
            </a:r>
          </a:p>
          <a:p>
            <a:r>
              <a:rPr lang="en-GB" sz="1200" b="0" i="0" kern="1200" dirty="0">
                <a:solidFill>
                  <a:schemeClr val="tx1"/>
                </a:solidFill>
                <a:effectLst/>
                <a:latin typeface="+mn-lt"/>
                <a:ea typeface="+mn-ea"/>
                <a:cs typeface="+mn-cs"/>
              </a:rPr>
              <a:t>Now this is a really important concept, a through line.</a:t>
            </a:r>
          </a:p>
          <a:p>
            <a:r>
              <a:rPr lang="en-GB" sz="1200" b="0" i="0" kern="1200" dirty="0">
                <a:solidFill>
                  <a:schemeClr val="tx1"/>
                </a:solidFill>
                <a:effectLst/>
                <a:latin typeface="+mn-lt"/>
                <a:ea typeface="+mn-ea"/>
                <a:cs typeface="+mn-cs"/>
              </a:rPr>
              <a:t>This is, you can think of it as almost like a cord that runs through</a:t>
            </a:r>
          </a:p>
          <a:p>
            <a:r>
              <a:rPr lang="en-GB" sz="1200" b="0" i="0" kern="1200" dirty="0">
                <a:solidFill>
                  <a:schemeClr val="tx1"/>
                </a:solidFill>
                <a:effectLst/>
                <a:latin typeface="+mn-lt"/>
                <a:ea typeface="+mn-ea"/>
                <a:cs typeface="+mn-cs"/>
              </a:rPr>
              <a:t>the talk that every part of the talk is attached to in some way.</a:t>
            </a:r>
          </a:p>
          <a:p>
            <a:r>
              <a:rPr lang="en-GB" sz="1200" b="0" i="0" kern="1200" dirty="0">
                <a:solidFill>
                  <a:schemeClr val="tx1"/>
                </a:solidFill>
                <a:effectLst/>
                <a:latin typeface="+mn-lt"/>
                <a:ea typeface="+mn-ea"/>
                <a:cs typeface="+mn-cs"/>
              </a:rPr>
              <a:t>The cord really represents the core idea that you want to share.</a:t>
            </a:r>
          </a:p>
          <a:p>
            <a:r>
              <a:rPr lang="en-GB" sz="1200" b="0" i="0" kern="1200" dirty="0">
                <a:solidFill>
                  <a:schemeClr val="tx1"/>
                </a:solidFill>
                <a:effectLst/>
                <a:latin typeface="+mn-lt"/>
                <a:ea typeface="+mn-ea"/>
                <a:cs typeface="+mn-cs"/>
              </a:rPr>
              <a:t>But all the different other pieces attach in,</a:t>
            </a:r>
          </a:p>
          <a:p>
            <a:r>
              <a:rPr lang="en-GB" sz="1200" b="0" i="0" kern="1200" dirty="0">
                <a:solidFill>
                  <a:schemeClr val="tx1"/>
                </a:solidFill>
                <a:effectLst/>
                <a:latin typeface="+mn-lt"/>
                <a:ea typeface="+mn-ea"/>
                <a:cs typeface="+mn-cs"/>
              </a:rPr>
              <a:t>so there might be an introduction,</a:t>
            </a:r>
          </a:p>
          <a:p>
            <a:r>
              <a:rPr lang="en-GB" sz="1200" b="0" i="0" kern="1200" dirty="0">
                <a:solidFill>
                  <a:schemeClr val="tx1"/>
                </a:solidFill>
                <a:effectLst/>
                <a:latin typeface="+mn-lt"/>
                <a:ea typeface="+mn-ea"/>
                <a:cs typeface="+mn-cs"/>
              </a:rPr>
              <a:t>an early anecdote that showed how you got interested in this topic,</a:t>
            </a:r>
          </a:p>
          <a:p>
            <a:r>
              <a:rPr lang="en-GB" sz="1200" b="0" i="0" kern="1200" dirty="0">
                <a:solidFill>
                  <a:schemeClr val="tx1"/>
                </a:solidFill>
                <a:effectLst/>
                <a:latin typeface="+mn-lt"/>
                <a:ea typeface="+mn-ea"/>
                <a:cs typeface="+mn-cs"/>
              </a:rPr>
              <a:t>some historical context as to why it actually matters.</a:t>
            </a:r>
          </a:p>
          <a:p>
            <a:r>
              <a:rPr lang="en-GB" sz="1200" b="0" i="0" kern="1200" dirty="0">
                <a:solidFill>
                  <a:schemeClr val="tx1"/>
                </a:solidFill>
                <a:effectLst/>
                <a:latin typeface="+mn-lt"/>
                <a:ea typeface="+mn-ea"/>
                <a:cs typeface="+mn-cs"/>
              </a:rPr>
              <a:t>Some attempts to solve the problem that went wrong either by others or by you.</a:t>
            </a:r>
          </a:p>
          <a:p>
            <a:r>
              <a:rPr lang="en-GB" sz="1200" b="0" i="0" kern="1200" dirty="0">
                <a:solidFill>
                  <a:schemeClr val="tx1"/>
                </a:solidFill>
                <a:effectLst/>
                <a:latin typeface="+mn-lt"/>
                <a:ea typeface="+mn-ea"/>
                <a:cs typeface="+mn-cs"/>
              </a:rPr>
              <a:t>Some examples of what it took to get to a solution and so forth.</a:t>
            </a:r>
          </a:p>
          <a:p>
            <a:r>
              <a:rPr lang="en-GB" sz="1200" b="0" i="0" kern="1200" dirty="0">
                <a:solidFill>
                  <a:schemeClr val="tx1"/>
                </a:solidFill>
                <a:effectLst/>
                <a:latin typeface="+mn-lt"/>
                <a:ea typeface="+mn-ea"/>
                <a:cs typeface="+mn-cs"/>
              </a:rPr>
              <a:t>And then at the end perhaps some implications,</a:t>
            </a:r>
          </a:p>
          <a:p>
            <a:r>
              <a:rPr lang="en-GB" sz="1200" b="0" i="0" kern="1200" dirty="0">
                <a:solidFill>
                  <a:schemeClr val="tx1"/>
                </a:solidFill>
                <a:effectLst/>
                <a:latin typeface="+mn-lt"/>
                <a:ea typeface="+mn-ea"/>
                <a:cs typeface="+mn-cs"/>
              </a:rPr>
              <a:t>but you can think of all these as additional pieces attached to a through line,</a:t>
            </a:r>
          </a:p>
          <a:p>
            <a:r>
              <a:rPr lang="en-GB" sz="1200" b="0" i="0" kern="1200" dirty="0">
                <a:solidFill>
                  <a:schemeClr val="tx1"/>
                </a:solidFill>
                <a:effectLst/>
                <a:latin typeface="+mn-lt"/>
                <a:ea typeface="+mn-ea"/>
                <a:cs typeface="+mn-cs"/>
              </a:rPr>
              <a:t>that through line is the structure of your talk.</a:t>
            </a:r>
          </a:p>
          <a:p>
            <a:r>
              <a:rPr lang="en-GB" sz="1200" b="0" i="0" kern="1200" dirty="0">
                <a:solidFill>
                  <a:schemeClr val="tx1"/>
                </a:solidFill>
                <a:effectLst/>
                <a:latin typeface="+mn-lt"/>
                <a:ea typeface="+mn-ea"/>
                <a:cs typeface="+mn-cs"/>
              </a:rPr>
              <a:t>And it's really helpful to think of every talk as having that through line,</a:t>
            </a:r>
          </a:p>
          <a:p>
            <a:r>
              <a:rPr lang="en-GB" sz="1200" b="0" i="0" kern="1200" dirty="0">
                <a:solidFill>
                  <a:schemeClr val="tx1"/>
                </a:solidFill>
                <a:effectLst/>
                <a:latin typeface="+mn-lt"/>
                <a:ea typeface="+mn-ea"/>
                <a:cs typeface="+mn-cs"/>
              </a:rPr>
              <a:t>that'll help you decide whether something should be included or not.</a:t>
            </a:r>
          </a:p>
          <a:p>
            <a:r>
              <a:rPr lang="en-GB" sz="1200" b="0" i="0" kern="1200" dirty="0">
                <a:solidFill>
                  <a:schemeClr val="tx1"/>
                </a:solidFill>
                <a:effectLst/>
                <a:latin typeface="+mn-lt"/>
                <a:ea typeface="+mn-ea"/>
                <a:cs typeface="+mn-cs"/>
              </a:rPr>
              <a:t>So every successful TED talk,</a:t>
            </a:r>
          </a:p>
          <a:p>
            <a:r>
              <a:rPr lang="en-GB" sz="1200" b="0" i="0" kern="1200" dirty="0">
                <a:solidFill>
                  <a:schemeClr val="tx1"/>
                </a:solidFill>
                <a:effectLst/>
                <a:latin typeface="+mn-lt"/>
                <a:ea typeface="+mn-ea"/>
                <a:cs typeface="+mn-cs"/>
              </a:rPr>
              <a:t>for example, has its own through line.</a:t>
            </a:r>
          </a:p>
          <a:p>
            <a:r>
              <a:rPr lang="en-GB" sz="1200" b="0" i="0" kern="1200" dirty="0">
                <a:solidFill>
                  <a:schemeClr val="tx1"/>
                </a:solidFill>
                <a:effectLst/>
                <a:latin typeface="+mn-lt"/>
                <a:ea typeface="+mn-ea"/>
                <a:cs typeface="+mn-cs"/>
              </a:rPr>
              <a:t>When Berne Brown gave her talk,</a:t>
            </a:r>
          </a:p>
          <a:p>
            <a:r>
              <a:rPr lang="en-GB" sz="1200" b="0" i="0" kern="1200" dirty="0">
                <a:solidFill>
                  <a:schemeClr val="tx1"/>
                </a:solidFill>
                <a:effectLst/>
                <a:latin typeface="+mn-lt"/>
                <a:ea typeface="+mn-ea"/>
                <a:cs typeface="+mn-cs"/>
              </a:rPr>
              <a:t>I would describe her through line as</a:t>
            </a:r>
          </a:p>
          <a:p>
            <a:r>
              <a:rPr lang="en-GB" sz="1200" b="0" i="0" kern="1200" dirty="0">
                <a:solidFill>
                  <a:schemeClr val="tx1"/>
                </a:solidFill>
                <a:effectLst/>
                <a:latin typeface="+mn-lt"/>
                <a:ea typeface="+mn-ea"/>
                <a:cs typeface="+mn-cs"/>
              </a:rPr>
              <a:t>vulnerability is something to be treasured, not hidden from.</a:t>
            </a:r>
          </a:p>
          <a:p>
            <a:r>
              <a:rPr lang="en-GB" sz="1200" b="0" i="0" kern="1200" dirty="0">
                <a:solidFill>
                  <a:schemeClr val="tx1"/>
                </a:solidFill>
                <a:effectLst/>
                <a:latin typeface="+mn-lt"/>
                <a:ea typeface="+mn-ea"/>
                <a:cs typeface="+mn-cs"/>
              </a:rPr>
              <a:t>That single idea, every part of that talk,</a:t>
            </a:r>
          </a:p>
          <a:p>
            <a:r>
              <a:rPr lang="en-GB" sz="1200" b="0" i="0" kern="1200" dirty="0">
                <a:solidFill>
                  <a:schemeClr val="tx1"/>
                </a:solidFill>
                <a:effectLst/>
                <a:latin typeface="+mn-lt"/>
                <a:ea typeface="+mn-ea"/>
                <a:cs typeface="+mn-cs"/>
              </a:rPr>
              <a:t>attached to in some way.</a:t>
            </a:r>
          </a:p>
          <a:p>
            <a:r>
              <a:rPr lang="en-GB" sz="1200" b="0" i="0" kern="1200" dirty="0">
                <a:solidFill>
                  <a:schemeClr val="tx1"/>
                </a:solidFill>
                <a:effectLst/>
                <a:latin typeface="+mn-lt"/>
                <a:ea typeface="+mn-ea"/>
                <a:cs typeface="+mn-cs"/>
              </a:rPr>
              <a:t>Ken Robinson spoke about how creativity really matters</a:t>
            </a:r>
          </a:p>
          <a:p>
            <a:r>
              <a:rPr lang="en-GB" sz="1200" b="0" i="0" kern="1200" dirty="0">
                <a:solidFill>
                  <a:schemeClr val="tx1"/>
                </a:solidFill>
                <a:effectLst/>
                <a:latin typeface="+mn-lt"/>
                <a:ea typeface="+mn-ea"/>
                <a:cs typeface="+mn-cs"/>
              </a:rPr>
              <a:t>for our kids' future and it's not being nurtured properly at school.</a:t>
            </a:r>
          </a:p>
          <a:p>
            <a:r>
              <a:rPr lang="en-GB" sz="1200" b="0" i="0" kern="1200" dirty="0">
                <a:solidFill>
                  <a:schemeClr val="tx1"/>
                </a:solidFill>
                <a:effectLst/>
                <a:latin typeface="+mn-lt"/>
                <a:ea typeface="+mn-ea"/>
                <a:cs typeface="+mn-cs"/>
              </a:rPr>
              <a:t>But through lines can be simpler.</a:t>
            </a:r>
          </a:p>
          <a:p>
            <a:r>
              <a:rPr lang="en-GB" sz="1200" b="0" i="0" kern="1200" dirty="0" err="1">
                <a:solidFill>
                  <a:schemeClr val="tx1"/>
                </a:solidFill>
                <a:effectLst/>
                <a:latin typeface="+mn-lt"/>
                <a:ea typeface="+mn-ea"/>
                <a:cs typeface="+mn-cs"/>
              </a:rPr>
              <a:t>Elora</a:t>
            </a:r>
            <a:r>
              <a:rPr lang="en-GB" sz="1200" b="0" i="0" kern="1200" dirty="0">
                <a:solidFill>
                  <a:schemeClr val="tx1"/>
                </a:solidFill>
                <a:effectLst/>
                <a:latin typeface="+mn-lt"/>
                <a:ea typeface="+mn-ea"/>
                <a:cs typeface="+mn-cs"/>
              </a:rPr>
              <a:t> Hardy gave a talk about how building from bamboo could be really beautiful.</a:t>
            </a:r>
          </a:p>
          <a:p>
            <a:r>
              <a:rPr lang="en-GB" sz="1200" b="0" i="0" kern="1200" dirty="0">
                <a:solidFill>
                  <a:schemeClr val="tx1"/>
                </a:solidFill>
                <a:effectLst/>
                <a:latin typeface="+mn-lt"/>
                <a:ea typeface="+mn-ea"/>
                <a:cs typeface="+mn-cs"/>
              </a:rPr>
              <a:t>So it's not like a complex idea.</a:t>
            </a:r>
          </a:p>
          <a:p>
            <a:r>
              <a:rPr lang="en-GB" sz="1200" b="0" i="0" kern="1200" dirty="0">
                <a:solidFill>
                  <a:schemeClr val="tx1"/>
                </a:solidFill>
                <a:effectLst/>
                <a:latin typeface="+mn-lt"/>
                <a:ea typeface="+mn-ea"/>
                <a:cs typeface="+mn-cs"/>
              </a:rPr>
              <a:t>It's an aesthetic idea more, but it still,</a:t>
            </a:r>
          </a:p>
          <a:p>
            <a:r>
              <a:rPr lang="en-GB" sz="1200" b="0" i="0" u="sng" kern="1200" dirty="0">
                <a:solidFill>
                  <a:schemeClr val="tx1"/>
                </a:solidFill>
                <a:effectLst/>
                <a:latin typeface="+mn-lt"/>
                <a:ea typeface="+mn-ea"/>
                <a:cs typeface="+mn-cs"/>
              </a:rPr>
              <a:t>it was an idea which informed every single part of her talk.</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11</a:t>
            </a:fld>
            <a:endParaRPr lang="en-US"/>
          </a:p>
        </p:txBody>
      </p:sp>
    </p:spTree>
    <p:extLst>
      <p:ext uri="{BB962C8B-B14F-4D97-AF65-F5344CB8AC3E}">
        <p14:creationId xmlns:p14="http://schemas.microsoft.com/office/powerpoint/2010/main" val="2979888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157364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8311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58B92-C2C2-4D92-AC41-E2D2D85B460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E92856-56B1-4D91-BB72-909EB7E510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2E3F4B-FE6D-40ED-A9F5-BC0F46321DF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58AA0BA8-F0B1-4DDF-A0FD-BC203FA393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3AD9A5-2112-4533-A1CB-0CA6A0A442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16654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42240" y="121075"/>
            <a:ext cx="11893973"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42239" y="894185"/>
            <a:ext cx="11893973"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53286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82880" y="148175"/>
            <a:ext cx="11785600"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82880" y="928052"/>
            <a:ext cx="11785600"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1901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FE7D62-D573-4E1E-A2D5-9E747E2F0855}"/>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4" name="Footer Placeholder 3">
            <a:extLst>
              <a:ext uri="{FF2B5EF4-FFF2-40B4-BE49-F238E27FC236}">
                <a16:creationId xmlns:a16="http://schemas.microsoft.com/office/drawing/2014/main" id="{B2061520-24E5-43CB-BDF9-DA30DFBFAB0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EF7F479-6CE2-40D3-8B2E-F5EC0885E2B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grpSp>
        <p:nvGrpSpPr>
          <p:cNvPr id="6" name="Group 5">
            <a:extLst>
              <a:ext uri="{FF2B5EF4-FFF2-40B4-BE49-F238E27FC236}">
                <a16:creationId xmlns:a16="http://schemas.microsoft.com/office/drawing/2014/main" id="{2539DD7F-95B3-4BD0-9564-3384459F9E17}"/>
              </a:ext>
            </a:extLst>
          </p:cNvPr>
          <p:cNvGrpSpPr/>
          <p:nvPr userDrawn="1"/>
        </p:nvGrpSpPr>
        <p:grpSpPr>
          <a:xfrm>
            <a:off x="156315" y="1831474"/>
            <a:ext cx="5998137" cy="3195051"/>
            <a:chOff x="142867" y="1364410"/>
            <a:chExt cx="5998137" cy="3195051"/>
          </a:xfrm>
        </p:grpSpPr>
        <p:sp>
          <p:nvSpPr>
            <p:cNvPr id="7" name="TextBox 6">
              <a:extLst>
                <a:ext uri="{FF2B5EF4-FFF2-40B4-BE49-F238E27FC236}">
                  <a16:creationId xmlns:a16="http://schemas.microsoft.com/office/drawing/2014/main" id="{2851D5C5-C65B-41F9-9FDC-9781C2CCE211}"/>
                </a:ext>
              </a:extLst>
            </p:cNvPr>
            <p:cNvSpPr txBox="1"/>
            <p:nvPr/>
          </p:nvSpPr>
          <p:spPr>
            <a:xfrm>
              <a:off x="244467" y="1864343"/>
              <a:ext cx="4863832" cy="1200329"/>
            </a:xfrm>
            <a:prstGeom prst="rect">
              <a:avLst/>
            </a:prstGeom>
            <a:noFill/>
          </p:spPr>
          <p:txBody>
            <a:bodyPr wrap="none" rtlCol="0">
              <a:spAutoFit/>
            </a:bodyPr>
            <a:lstStyle/>
            <a:p>
              <a:r>
                <a:rPr lang="en-IN" sz="7000" dirty="0">
                  <a:latin typeface="Ostrich Sans Medium" panose="00000500000000000000" pitchFamily="50" charset="0"/>
                </a:rPr>
                <a:t>WHY WE NEED TO</a:t>
              </a:r>
              <a:endParaRPr lang="en-US" sz="7000" dirty="0">
                <a:latin typeface="Ostrich Sans Medium" panose="00000500000000000000" pitchFamily="50" charset="0"/>
              </a:endParaRPr>
            </a:p>
          </p:txBody>
        </p:sp>
        <p:sp>
          <p:nvSpPr>
            <p:cNvPr id="8" name="TextBox 7">
              <a:extLst>
                <a:ext uri="{FF2B5EF4-FFF2-40B4-BE49-F238E27FC236}">
                  <a16:creationId xmlns:a16="http://schemas.microsoft.com/office/drawing/2014/main" id="{22F4D905-4D9E-4F4B-8DAF-1FE4C1366FA3}"/>
                </a:ext>
              </a:extLst>
            </p:cNvPr>
            <p:cNvSpPr txBox="1"/>
            <p:nvPr/>
          </p:nvSpPr>
          <p:spPr>
            <a:xfrm>
              <a:off x="142867" y="2464508"/>
              <a:ext cx="4939173" cy="1631216"/>
            </a:xfrm>
            <a:prstGeom prst="rect">
              <a:avLst/>
            </a:prstGeom>
            <a:noFill/>
          </p:spPr>
          <p:txBody>
            <a:bodyPr wrap="none" rtlCol="0">
              <a:spAutoFit/>
            </a:bodyPr>
            <a:lstStyle/>
            <a:p>
              <a:r>
                <a:rPr lang="en-IN" sz="10000" dirty="0">
                  <a:latin typeface="Source Sans Pro Black" panose="020B0803030403020204" pitchFamily="34" charset="0"/>
                  <a:ea typeface="Source Sans Pro Black" panose="020B0803030403020204" pitchFamily="34" charset="0"/>
                </a:rPr>
                <a:t>BOTHER</a:t>
              </a:r>
            </a:p>
          </p:txBody>
        </p:sp>
        <p:sp>
          <p:nvSpPr>
            <p:cNvPr id="9" name="Rectangle 8">
              <a:extLst>
                <a:ext uri="{FF2B5EF4-FFF2-40B4-BE49-F238E27FC236}">
                  <a16:creationId xmlns:a16="http://schemas.microsoft.com/office/drawing/2014/main" id="{10501C60-05CA-4F22-B1A3-C7D231CE805B}"/>
                </a:ext>
              </a:extLst>
            </p:cNvPr>
            <p:cNvSpPr/>
            <p:nvPr/>
          </p:nvSpPr>
          <p:spPr>
            <a:xfrm>
              <a:off x="4736452" y="1364410"/>
              <a:ext cx="1404552" cy="3154710"/>
            </a:xfrm>
            <a:prstGeom prst="rect">
              <a:avLst/>
            </a:prstGeom>
          </p:spPr>
          <p:txBody>
            <a:bodyPr wrap="none">
              <a:spAutoFit/>
            </a:bodyPr>
            <a:lstStyle/>
            <a:p>
              <a:r>
                <a:rPr lang="en-IN" sz="19900" dirty="0">
                  <a:latin typeface="Source Sans Pro Black" panose="020B0803030403020204" pitchFamily="34" charset="0"/>
                  <a:ea typeface="Source Sans Pro Black" panose="020B0803030403020204" pitchFamily="34" charset="0"/>
                </a:rPr>
                <a:t>?</a:t>
              </a:r>
              <a:endParaRPr lang="en-US" dirty="0"/>
            </a:p>
          </p:txBody>
        </p:sp>
        <p:sp>
          <p:nvSpPr>
            <p:cNvPr id="10" name="TextBox 9">
              <a:extLst>
                <a:ext uri="{FF2B5EF4-FFF2-40B4-BE49-F238E27FC236}">
                  <a16:creationId xmlns:a16="http://schemas.microsoft.com/office/drawing/2014/main" id="{F6CA5798-DE99-4136-903E-FC0C0E5F5167}"/>
                </a:ext>
              </a:extLst>
            </p:cNvPr>
            <p:cNvSpPr txBox="1"/>
            <p:nvPr/>
          </p:nvSpPr>
          <p:spPr>
            <a:xfrm>
              <a:off x="244467" y="3913130"/>
              <a:ext cx="4600940" cy="646331"/>
            </a:xfrm>
            <a:prstGeom prst="rect">
              <a:avLst/>
            </a:prstGeom>
            <a:noFill/>
          </p:spPr>
          <p:txBody>
            <a:bodyPr wrap="none" rtlCol="0">
              <a:spAutoFit/>
            </a:bodyPr>
            <a:lstStyle/>
            <a:p>
              <a:r>
                <a:rPr lang="en-IN" sz="3600" dirty="0">
                  <a:latin typeface="Capsuula" panose="02000506000000020004" pitchFamily="2" charset="0"/>
                </a:rPr>
                <a:t>Top 10 reasons from the web</a:t>
              </a:r>
              <a:endParaRPr lang="en-US" sz="3600" dirty="0">
                <a:latin typeface="Capsuula" panose="02000506000000020004" pitchFamily="2" charset="0"/>
              </a:endParaRPr>
            </a:p>
          </p:txBody>
        </p:sp>
        <p:cxnSp>
          <p:nvCxnSpPr>
            <p:cNvPr id="11" name="Straight Connector 10">
              <a:extLst>
                <a:ext uri="{FF2B5EF4-FFF2-40B4-BE49-F238E27FC236}">
                  <a16:creationId xmlns:a16="http://schemas.microsoft.com/office/drawing/2014/main" id="{68AFC7EE-3361-4194-9A52-BF311C6607D7}"/>
                </a:ext>
              </a:extLst>
            </p:cNvPr>
            <p:cNvCxnSpPr/>
            <p:nvPr/>
          </p:nvCxnSpPr>
          <p:spPr>
            <a:xfrm>
              <a:off x="325149" y="3941393"/>
              <a:ext cx="5175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345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80F1-C7D7-4BD4-8BE0-6A71EA1FD25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3F26-A7EA-49CE-B7C1-5556D02B6DF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C3A8A0-AC40-438A-964A-59EBE34E2DD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7F5F8400-9705-45F8-953B-D3C64BCADDE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4FBE03-B21D-4059-B93A-62B73A8B5B5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20868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F9F8-C11A-4854-88EE-B56FE1D5B4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CBB155D-15D0-4EE2-B74D-955A038E07D7}"/>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5D64D9-C064-4C5B-922E-2D991BA825F5}"/>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C8CE5-56EA-43DB-A1D2-A9DDACB0F50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7645141D-078E-4AA6-9223-AA4B1D812D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2EEEEA-4D36-4AA4-8AA7-4B7ADC0E7AEF}"/>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24679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8EB0-165C-40FC-91FC-EC402630B61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12CB1E2-FB0C-4335-AF39-D772F435252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265867D-3CE7-4D64-8E54-CB3857CF08C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A43759-70CC-4183-B255-57870371721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69DC26A-D654-4173-8129-6CBCF16DFDA1}"/>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7CC76-99E6-4A67-96DE-FF9AE36FF5B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8" name="Footer Placeholder 7">
            <a:extLst>
              <a:ext uri="{FF2B5EF4-FFF2-40B4-BE49-F238E27FC236}">
                <a16:creationId xmlns:a16="http://schemas.microsoft.com/office/drawing/2014/main" id="{0C959D32-0B77-4DCE-86E0-E94E4A9A7FA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6BCFB17D-5E58-42FD-90EF-BF8483396A9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21355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8EDA-48DF-41EC-A691-2A2522FBC47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18BD1E1-FDC0-4C47-8D14-A3BEABA8FF09}"/>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4" name="Footer Placeholder 3">
            <a:extLst>
              <a:ext uri="{FF2B5EF4-FFF2-40B4-BE49-F238E27FC236}">
                <a16:creationId xmlns:a16="http://schemas.microsoft.com/office/drawing/2014/main" id="{FFE567E1-2A3F-45F5-A95E-372EDBEF3C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A05F6B5-A812-4E28-9F45-2A47E1DCDF74}"/>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2523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08AD8E-59DB-4538-8FD2-6624ED97AB2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3" name="Footer Placeholder 2">
            <a:extLst>
              <a:ext uri="{FF2B5EF4-FFF2-40B4-BE49-F238E27FC236}">
                <a16:creationId xmlns:a16="http://schemas.microsoft.com/office/drawing/2014/main" id="{1F8BA089-E5C7-4198-968B-E504D593C1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63B7638-321B-4F17-A2B5-C8C715341F89}"/>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02352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D32-1C90-4C12-8785-7D11E2904A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ABC17-EFA9-4515-9012-CD63CDC91B3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5CF7F5-4CC3-44A4-8D0A-60CB9F40317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65F274-A1CE-459F-B2A6-3274158D343C}"/>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65D4CEDF-08CB-40CA-84B1-67CC4E7CB3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3CE5518-982C-43BF-A289-47F0CB41EA75}"/>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949893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B04B-6D32-4DBE-B277-267D3891EF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952F1A-B117-4C7D-8826-8DCC7E8ED1A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15D7B2-3AD2-40A1-84C4-E0A4F8273D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B613DD-2DD5-4C39-A6D3-E453388D51F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7233F84B-7435-418E-B452-EFAB7DDD9CE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2C683CB-F4E6-4584-A8C7-3BFDA787BED1}"/>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602434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80F-F04E-46CD-A489-B8EC4D6691D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317693-1E01-46A2-9E83-FFB850EE21E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E4F00-087D-4736-BB08-F02FC7833996}"/>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5A47B423-6542-4CF2-9E93-36B93C755E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2E5BF2E-1650-4CB3-8967-02242F045B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828479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93433E-C45E-4479-AD52-4A33C50973B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5E31B-A62F-4063-92C0-B0AF37E8D5C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16A27-B87A-43E9-B20A-E5F8A0DEF9FB}"/>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82D59FCE-320C-4473-BD8F-8B61A1B8B4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AD247AC-EE0D-4F09-AA8A-7444CFBA580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48008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BCD92-0A79-4A5E-B0BD-80978161E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D8C6DE-5191-4FA7-95FA-167F6C3955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7246"/>
      </p:ext>
    </p:extLst>
  </p:cSld>
  <p:clrMap bg1="lt1" tx1="dk1" bg2="lt2" tx2="dk2" accent1="accent1" accent2="accent2" accent3="accent3" accent4="accent4" accent5="accent5" accent6="accent6" hlink="hlink" folHlink="folHlink"/>
  <p:sldLayoutIdLst>
    <p:sldLayoutId id="2147483663" r:id="rId1"/>
    <p:sldLayoutId id="2147483661" r:id="rId2"/>
    <p:sldLayoutId id="2147483649" r:id="rId3"/>
    <p:sldLayoutId id="2147483650" r:id="rId4"/>
    <p:sldLayoutId id="2147483662" r:id="rId5"/>
    <p:sldLayoutId id="214748366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witter.com/dr_gladso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jeb.biologists.org/content/217/14/2431.1"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3" Type="http://schemas.openxmlformats.org/officeDocument/2006/relationships/image" Target="../media/image4.pn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microsoft.com/office/2007/relationships/hdphoto" Target="../media/hdphoto1.wdp"/><Relationship Id="rId9"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79F0B43-0604-4BB5-99CF-DD7DC924C202}"/>
              </a:ext>
            </a:extLst>
          </p:cNvPr>
          <p:cNvGrpSpPr/>
          <p:nvPr/>
        </p:nvGrpSpPr>
        <p:grpSpPr>
          <a:xfrm>
            <a:off x="4380089" y="662833"/>
            <a:ext cx="7811911" cy="3373539"/>
            <a:chOff x="4380089" y="662833"/>
            <a:chExt cx="7811911" cy="3373539"/>
          </a:xfrm>
        </p:grpSpPr>
        <p:sp>
          <p:nvSpPr>
            <p:cNvPr id="2" name="Rectangle 1">
              <a:extLst>
                <a:ext uri="{FF2B5EF4-FFF2-40B4-BE49-F238E27FC236}">
                  <a16:creationId xmlns:a16="http://schemas.microsoft.com/office/drawing/2014/main" id="{AB6B63D2-D6E6-4FEB-916C-7FDC3CAEF8EF}"/>
                </a:ext>
              </a:extLst>
            </p:cNvPr>
            <p:cNvSpPr/>
            <p:nvPr/>
          </p:nvSpPr>
          <p:spPr>
            <a:xfrm>
              <a:off x="9013367" y="3697818"/>
              <a:ext cx="2226892" cy="338554"/>
            </a:xfrm>
            <a:prstGeom prst="rect">
              <a:avLst/>
            </a:prstGeom>
          </p:spPr>
          <p:txBody>
            <a:bodyPr wrap="none">
              <a:spAutoFit/>
            </a:bodyPr>
            <a:lstStyle/>
            <a:p>
              <a:r>
                <a:rPr lang="en-US" sz="1600" dirty="0" err="1">
                  <a:solidFill>
                    <a:schemeClr val="bg1">
                      <a:lumMod val="50000"/>
                    </a:schemeClr>
                  </a:solidFill>
                  <a:latin typeface="Montserrat Light" panose="00000400000000000000" pitchFamily="50" charset="0"/>
                  <a:hlinkClick r:id="rId3">
                    <a:extLst>
                      <a:ext uri="{A12FA001-AC4F-418D-AE19-62706E023703}">
                        <ahyp:hlinkClr xmlns:ahyp="http://schemas.microsoft.com/office/drawing/2018/hyperlinkcolor" val="tx"/>
                      </a:ext>
                    </a:extLst>
                  </a:hlinkClick>
                </a:rPr>
                <a:t>Dr.Gladson</a:t>
              </a:r>
              <a:r>
                <a:rPr lang="en-US" sz="1600" dirty="0">
                  <a:solidFill>
                    <a:schemeClr val="bg1">
                      <a:lumMod val="50000"/>
                    </a:schemeClr>
                  </a:solidFill>
                  <a:latin typeface="Montserrat Light" panose="00000400000000000000" pitchFamily="50" charset="0"/>
                  <a:hlinkClick r:id="rId3">
                    <a:extLst>
                      <a:ext uri="{A12FA001-AC4F-418D-AE19-62706E023703}">
                        <ahyp:hlinkClr xmlns:ahyp="http://schemas.microsoft.com/office/drawing/2018/hyperlinkcolor" val="tx"/>
                      </a:ext>
                    </a:extLst>
                  </a:hlinkClick>
                </a:rPr>
                <a:t> Johnson</a:t>
              </a:r>
              <a:endParaRPr lang="en-US" sz="1600" dirty="0">
                <a:solidFill>
                  <a:schemeClr val="bg1">
                    <a:lumMod val="50000"/>
                  </a:schemeClr>
                </a:solidFill>
                <a:latin typeface="Montserrat Light" panose="00000400000000000000" pitchFamily="50" charset="0"/>
              </a:endParaRPr>
            </a:p>
          </p:txBody>
        </p:sp>
        <p:pic>
          <p:nvPicPr>
            <p:cNvPr id="5" name="Picture 4" descr="Image result for gladson johnson">
              <a:extLst>
                <a:ext uri="{FF2B5EF4-FFF2-40B4-BE49-F238E27FC236}">
                  <a16:creationId xmlns:a16="http://schemas.microsoft.com/office/drawing/2014/main" id="{65B6559A-7E2B-4AF9-9FD0-148FD36EA1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8924" y="1406125"/>
              <a:ext cx="2259227" cy="225922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6367B6F8-9CBE-4E76-AFDC-792F0A187DF7}"/>
                </a:ext>
              </a:extLst>
            </p:cNvPr>
            <p:cNvGrpSpPr/>
            <p:nvPr/>
          </p:nvGrpSpPr>
          <p:grpSpPr>
            <a:xfrm>
              <a:off x="4380089" y="662833"/>
              <a:ext cx="7811911" cy="2217987"/>
              <a:chOff x="831910" y="1379525"/>
              <a:chExt cx="7811911" cy="2217987"/>
            </a:xfrm>
          </p:grpSpPr>
          <p:sp>
            <p:nvSpPr>
              <p:cNvPr id="4" name="Rectangle 3">
                <a:extLst>
                  <a:ext uri="{FF2B5EF4-FFF2-40B4-BE49-F238E27FC236}">
                    <a16:creationId xmlns:a16="http://schemas.microsoft.com/office/drawing/2014/main" id="{3B67F2ED-2BF9-43FC-BBBF-F71DBCA10CD6}"/>
                  </a:ext>
                </a:extLst>
              </p:cNvPr>
              <p:cNvSpPr/>
              <p:nvPr/>
            </p:nvSpPr>
            <p:spPr>
              <a:xfrm>
                <a:off x="831910" y="1379525"/>
                <a:ext cx="7811911" cy="1880964"/>
              </a:xfrm>
              <a:prstGeom prst="rect">
                <a:avLst/>
              </a:prstGeom>
            </p:spPr>
            <p:txBody>
              <a:bodyPr wrap="square">
                <a:spAutoFit/>
              </a:bodyPr>
              <a:lstStyle/>
              <a:p>
                <a:pPr>
                  <a:lnSpc>
                    <a:spcPct val="150000"/>
                  </a:lnSpc>
                </a:pPr>
                <a:r>
                  <a:rPr lang="en-GB" sz="8800" b="1" dirty="0">
                    <a:solidFill>
                      <a:srgbClr val="FF6600"/>
                    </a:solidFill>
                    <a:latin typeface="Montserrat SemiBold" panose="00000700000000000000" pitchFamily="50" charset="0"/>
                  </a:rPr>
                  <a:t>INJURY</a:t>
                </a:r>
                <a:r>
                  <a:rPr lang="en-GB" sz="1600" dirty="0">
                    <a:solidFill>
                      <a:schemeClr val="bg1">
                        <a:lumMod val="50000"/>
                      </a:schemeClr>
                    </a:solidFill>
                    <a:latin typeface="Montserrat Light" panose="00000400000000000000" pitchFamily="50" charset="0"/>
                  </a:rPr>
                  <a:t> </a:t>
                </a:r>
              </a:p>
            </p:txBody>
          </p:sp>
          <p:sp>
            <p:nvSpPr>
              <p:cNvPr id="9" name="Rectangle 8">
                <a:extLst>
                  <a:ext uri="{FF2B5EF4-FFF2-40B4-BE49-F238E27FC236}">
                    <a16:creationId xmlns:a16="http://schemas.microsoft.com/office/drawing/2014/main" id="{57E6C2B7-7CC4-474B-887E-7CC123AB6B71}"/>
                  </a:ext>
                </a:extLst>
              </p:cNvPr>
              <p:cNvSpPr/>
              <p:nvPr/>
            </p:nvSpPr>
            <p:spPr>
              <a:xfrm>
                <a:off x="1555261" y="2732788"/>
                <a:ext cx="3475631" cy="864724"/>
              </a:xfrm>
              <a:prstGeom prst="rect">
                <a:avLst/>
              </a:prstGeom>
            </p:spPr>
            <p:txBody>
              <a:bodyPr wrap="none">
                <a:spAutoFit/>
              </a:bodyPr>
              <a:lstStyle/>
              <a:p>
                <a:pPr>
                  <a:lnSpc>
                    <a:spcPct val="150000"/>
                  </a:lnSpc>
                </a:pPr>
                <a:r>
                  <a:rPr lang="en-GB" sz="3800" dirty="0">
                    <a:solidFill>
                      <a:schemeClr val="bg1">
                        <a:lumMod val="50000"/>
                      </a:schemeClr>
                    </a:solidFill>
                    <a:latin typeface="Montserrat ExtraLight" panose="00000300000000000000" pitchFamily="50" charset="0"/>
                  </a:rPr>
                  <a:t>PREVENTION</a:t>
                </a:r>
              </a:p>
            </p:txBody>
          </p:sp>
        </p:grpSp>
      </p:grpSp>
    </p:spTree>
    <p:extLst>
      <p:ext uri="{BB962C8B-B14F-4D97-AF65-F5344CB8AC3E}">
        <p14:creationId xmlns:p14="http://schemas.microsoft.com/office/powerpoint/2010/main" val="66479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ACAF3AE-52F6-4159-AE28-B35CCDABF991}"/>
              </a:ext>
            </a:extLst>
          </p:cNvPr>
          <p:cNvGrpSpPr/>
          <p:nvPr/>
        </p:nvGrpSpPr>
        <p:grpSpPr>
          <a:xfrm>
            <a:off x="6678446" y="3871107"/>
            <a:ext cx="4590916" cy="2019210"/>
            <a:chOff x="2847852" y="1548036"/>
            <a:chExt cx="4590916" cy="2019210"/>
          </a:xfrm>
        </p:grpSpPr>
        <p:sp>
          <p:nvSpPr>
            <p:cNvPr id="6" name="Rectangle 5">
              <a:extLst>
                <a:ext uri="{FF2B5EF4-FFF2-40B4-BE49-F238E27FC236}">
                  <a16:creationId xmlns:a16="http://schemas.microsoft.com/office/drawing/2014/main" id="{7632E551-5EFC-46C3-BD40-15A39E32B330}"/>
                </a:ext>
              </a:extLst>
            </p:cNvPr>
            <p:cNvSpPr/>
            <p:nvPr/>
          </p:nvSpPr>
          <p:spPr>
            <a:xfrm>
              <a:off x="2847852" y="1548036"/>
              <a:ext cx="4590916" cy="1880964"/>
            </a:xfrm>
            <a:prstGeom prst="rect">
              <a:avLst/>
            </a:prstGeom>
          </p:spPr>
          <p:txBody>
            <a:bodyPr wrap="square">
              <a:spAutoFit/>
            </a:bodyPr>
            <a:lstStyle/>
            <a:p>
              <a:pPr>
                <a:lnSpc>
                  <a:spcPct val="150000"/>
                </a:lnSpc>
              </a:pPr>
              <a:r>
                <a:rPr lang="en-GB" sz="8800" b="1" dirty="0">
                  <a:solidFill>
                    <a:srgbClr val="FF6600"/>
                  </a:solidFill>
                  <a:latin typeface="Montserrat SemiBold" panose="00000700000000000000" pitchFamily="50" charset="0"/>
                </a:rPr>
                <a:t>A</a:t>
              </a:r>
              <a:r>
                <a:rPr lang="en-GB" sz="8800" b="1" dirty="0">
                  <a:solidFill>
                    <a:schemeClr val="bg1">
                      <a:lumMod val="50000"/>
                    </a:schemeClr>
                  </a:solidFill>
                  <a:latin typeface="Montserrat SemiBold" panose="00000700000000000000" pitchFamily="50" charset="0"/>
                </a:rPr>
                <a:t>B</a:t>
              </a:r>
              <a:r>
                <a:rPr lang="en-GB" sz="8800" b="1" dirty="0">
                  <a:solidFill>
                    <a:srgbClr val="FF6600"/>
                  </a:solidFill>
                  <a:latin typeface="Montserrat SemiBold" panose="00000700000000000000" pitchFamily="50" charset="0"/>
                </a:rPr>
                <a:t>C</a:t>
              </a:r>
              <a:r>
                <a:rPr lang="en-GB" sz="8800" b="1" dirty="0">
                  <a:solidFill>
                    <a:schemeClr val="bg1">
                      <a:lumMod val="50000"/>
                    </a:schemeClr>
                  </a:solidFill>
                  <a:latin typeface="Montserrat SemiBold" panose="00000700000000000000" pitchFamily="50" charset="0"/>
                </a:rPr>
                <a:t>D</a:t>
              </a:r>
              <a:r>
                <a:rPr lang="en-GB" sz="8800" b="1" dirty="0">
                  <a:solidFill>
                    <a:srgbClr val="FF6600"/>
                  </a:solidFill>
                  <a:latin typeface="Montserrat SemiBold" panose="00000700000000000000" pitchFamily="50" charset="0"/>
                </a:rPr>
                <a:t>E</a:t>
              </a:r>
              <a:endParaRPr lang="en-GB" sz="1600" dirty="0">
                <a:solidFill>
                  <a:schemeClr val="bg1">
                    <a:lumMod val="50000"/>
                  </a:schemeClr>
                </a:solidFill>
                <a:latin typeface="Montserrat Light" panose="00000400000000000000" pitchFamily="50" charset="0"/>
              </a:endParaRPr>
            </a:p>
          </p:txBody>
        </p:sp>
        <p:sp>
          <p:nvSpPr>
            <p:cNvPr id="7" name="Rectangle 6">
              <a:extLst>
                <a:ext uri="{FF2B5EF4-FFF2-40B4-BE49-F238E27FC236}">
                  <a16:creationId xmlns:a16="http://schemas.microsoft.com/office/drawing/2014/main" id="{B27BFA35-8600-4D38-BED2-631D4EAFC4D0}"/>
                </a:ext>
              </a:extLst>
            </p:cNvPr>
            <p:cNvSpPr/>
            <p:nvPr/>
          </p:nvSpPr>
          <p:spPr>
            <a:xfrm>
              <a:off x="5143310" y="2905783"/>
              <a:ext cx="2042547" cy="661463"/>
            </a:xfrm>
            <a:prstGeom prst="rect">
              <a:avLst/>
            </a:prstGeom>
          </p:spPr>
          <p:txBody>
            <a:bodyPr wrap="none">
              <a:spAutoFit/>
            </a:bodyPr>
            <a:lstStyle/>
            <a:p>
              <a:pPr>
                <a:lnSpc>
                  <a:spcPct val="150000"/>
                </a:lnSpc>
              </a:pPr>
              <a:r>
                <a:rPr lang="en-GB" sz="2800" dirty="0">
                  <a:solidFill>
                    <a:schemeClr val="bg1">
                      <a:lumMod val="50000"/>
                    </a:schemeClr>
                  </a:solidFill>
                  <a:latin typeface="Montserrat ExtraLight" panose="00000300000000000000" pitchFamily="50" charset="0"/>
                </a:rPr>
                <a:t>in running</a:t>
              </a:r>
            </a:p>
          </p:txBody>
        </p:sp>
      </p:grpSp>
    </p:spTree>
    <p:extLst>
      <p:ext uri="{BB962C8B-B14F-4D97-AF65-F5344CB8AC3E}">
        <p14:creationId xmlns:p14="http://schemas.microsoft.com/office/powerpoint/2010/main" val="4249655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14" name="Rectangle 13">
            <a:extLst>
              <a:ext uri="{FF2B5EF4-FFF2-40B4-BE49-F238E27FC236}">
                <a16:creationId xmlns:a16="http://schemas.microsoft.com/office/drawing/2014/main" id="{20712818-D2BA-4E38-92D7-3779266E326D}"/>
              </a:ext>
            </a:extLst>
          </p:cNvPr>
          <p:cNvSpPr/>
          <p:nvPr/>
        </p:nvSpPr>
        <p:spPr>
          <a:xfrm>
            <a:off x="846057" y="398858"/>
            <a:ext cx="6283792" cy="2897268"/>
          </a:xfrm>
          <a:prstGeom prst="rect">
            <a:avLst/>
          </a:prstGeom>
        </p:spPr>
        <p:txBody>
          <a:bodyPr wrap="square">
            <a:spAutoFit/>
          </a:bodyPr>
          <a:lstStyle/>
          <a:p>
            <a:pPr>
              <a:lnSpc>
                <a:spcPct val="150000"/>
              </a:lnSpc>
            </a:pPr>
            <a:r>
              <a:rPr lang="en-GB" sz="13800" b="1" dirty="0">
                <a:solidFill>
                  <a:srgbClr val="FF6600"/>
                </a:solidFill>
                <a:latin typeface="Montserrat SemiBold" panose="00000700000000000000" pitchFamily="50" charset="0"/>
              </a:rPr>
              <a:t>A</a:t>
            </a:r>
            <a:r>
              <a:rPr lang="en-GB" sz="8800" b="1" dirty="0">
                <a:solidFill>
                  <a:schemeClr val="bg1">
                    <a:lumMod val="85000"/>
                  </a:schemeClr>
                </a:solidFill>
                <a:latin typeface="Montserrat SemiBold" panose="00000700000000000000" pitchFamily="50" charset="0"/>
              </a:rPr>
              <a:t>BCDE</a:t>
            </a:r>
            <a:endParaRPr lang="en-GB" sz="1600" dirty="0">
              <a:solidFill>
                <a:schemeClr val="bg1">
                  <a:lumMod val="85000"/>
                </a:schemeClr>
              </a:solidFill>
              <a:latin typeface="Montserrat Light" panose="00000400000000000000" pitchFamily="50" charset="0"/>
            </a:endParaRPr>
          </a:p>
        </p:txBody>
      </p:sp>
      <p:sp>
        <p:nvSpPr>
          <p:cNvPr id="6" name="Rectangle 5">
            <a:extLst>
              <a:ext uri="{FF2B5EF4-FFF2-40B4-BE49-F238E27FC236}">
                <a16:creationId xmlns:a16="http://schemas.microsoft.com/office/drawing/2014/main" id="{22776BDC-3DAD-42DE-80BD-DC866463DA62}"/>
              </a:ext>
            </a:extLst>
          </p:cNvPr>
          <p:cNvSpPr/>
          <p:nvPr/>
        </p:nvSpPr>
        <p:spPr>
          <a:xfrm>
            <a:off x="846057" y="2806354"/>
            <a:ext cx="1672253" cy="369332"/>
          </a:xfrm>
          <a:prstGeom prst="rect">
            <a:avLst/>
          </a:prstGeom>
        </p:spPr>
        <p:txBody>
          <a:bodyPr wrap="none">
            <a:spAutoFit/>
          </a:bodyPr>
          <a:lstStyle/>
          <a:p>
            <a:pPr fontAlgn="base"/>
            <a:r>
              <a:rPr lang="en-US" b="1" cap="all" dirty="0">
                <a:solidFill>
                  <a:schemeClr val="bg1">
                    <a:lumMod val="50000"/>
                  </a:schemeClr>
                </a:solidFill>
                <a:latin typeface="Montserrat-Bold" panose="00000800000000000000" pitchFamily="50" charset="0"/>
              </a:rPr>
              <a:t>ARM SWING</a:t>
            </a:r>
            <a:endParaRPr lang="en-US" b="1" i="0" cap="all" dirty="0">
              <a:solidFill>
                <a:schemeClr val="bg1">
                  <a:lumMod val="50000"/>
                </a:schemeClr>
              </a:solidFill>
              <a:effectLst/>
              <a:latin typeface="Montserrat-Bold" panose="00000800000000000000" pitchFamily="50" charset="0"/>
            </a:endParaRPr>
          </a:p>
        </p:txBody>
      </p:sp>
      <p:pic>
        <p:nvPicPr>
          <p:cNvPr id="2052" name="Picture 4" descr="http://assets.runnersworld.co.uk/i/15897/integrative-wall-push-off.jpg">
            <a:extLst>
              <a:ext uri="{FF2B5EF4-FFF2-40B4-BE49-F238E27FC236}">
                <a16:creationId xmlns:a16="http://schemas.microsoft.com/office/drawing/2014/main" id="{F10411F6-8EEA-4F44-9247-E567ECB9F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67869"/>
            <a:ext cx="4238227" cy="3246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515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B6F1A480-9E2E-4D18-B01C-D954A14CF702}"/>
              </a:ext>
            </a:extLst>
          </p:cNvPr>
          <p:cNvSpPr/>
          <p:nvPr/>
        </p:nvSpPr>
        <p:spPr>
          <a:xfrm>
            <a:off x="489932" y="946712"/>
            <a:ext cx="11232168" cy="4838889"/>
          </a:xfrm>
          <a:prstGeom prst="rect">
            <a:avLst/>
          </a:prstGeom>
        </p:spPr>
        <p:txBody>
          <a:bodyPr wrap="square">
            <a:spAutoFit/>
          </a:bodyPr>
          <a:lstStyle/>
          <a:p>
            <a:r>
              <a:rPr lang="en-IN" dirty="0">
                <a:solidFill>
                  <a:srgbClr val="FF6600"/>
                </a:solidFill>
                <a:latin typeface="Montserrat ExtraLight" panose="00000300000000000000" pitchFamily="50" charset="0"/>
              </a:rPr>
              <a:t>From the session</a:t>
            </a:r>
          </a:p>
          <a:p>
            <a:pPr marL="342900" indent="-342900">
              <a:lnSpc>
                <a:spcPts val="2600"/>
              </a:lnSpc>
              <a:buFont typeface="+mj-lt"/>
              <a:buAutoNum type="arabicPeriod"/>
            </a:pPr>
            <a:r>
              <a:rPr lang="en-IN" dirty="0">
                <a:solidFill>
                  <a:schemeClr val="bg1">
                    <a:lumMod val="50000"/>
                  </a:schemeClr>
                </a:solidFill>
                <a:latin typeface="Montserrat ExtraLight" panose="00000300000000000000" pitchFamily="50" charset="0"/>
              </a:rPr>
              <a:t>Running is based on push &amp; pull</a:t>
            </a:r>
          </a:p>
          <a:p>
            <a:pPr marL="342900" indent="-342900">
              <a:lnSpc>
                <a:spcPts val="2600"/>
              </a:lnSpc>
              <a:buFont typeface="+mj-lt"/>
              <a:buAutoNum type="arabicPeriod"/>
            </a:pPr>
            <a:r>
              <a:rPr lang="en-GB" dirty="0">
                <a:solidFill>
                  <a:schemeClr val="bg1">
                    <a:lumMod val="50000"/>
                  </a:schemeClr>
                </a:solidFill>
                <a:latin typeface="Montserrat ExtraLight" panose="00000300000000000000" pitchFamily="50" charset="0"/>
              </a:rPr>
              <a:t>Legs must push with less muscles</a:t>
            </a:r>
          </a:p>
          <a:p>
            <a:pPr marL="342900" indent="-342900">
              <a:lnSpc>
                <a:spcPts val="2600"/>
              </a:lnSpc>
              <a:buFont typeface="+mj-lt"/>
              <a:buAutoNum type="arabicPeriod"/>
            </a:pPr>
            <a:r>
              <a:rPr lang="en-GB" dirty="0">
                <a:solidFill>
                  <a:schemeClr val="bg1">
                    <a:lumMod val="50000"/>
                  </a:schemeClr>
                </a:solidFill>
                <a:latin typeface="Montserrat ExtraLight" panose="00000300000000000000" pitchFamily="50" charset="0"/>
              </a:rPr>
              <a:t>Hands pull with more muscles</a:t>
            </a:r>
            <a:endParaRPr lang="en-US" dirty="0">
              <a:solidFill>
                <a:schemeClr val="bg1">
                  <a:lumMod val="50000"/>
                </a:schemeClr>
              </a:solidFill>
              <a:latin typeface="Montserrat ExtraLight" panose="00000300000000000000" pitchFamily="50" charset="0"/>
            </a:endParaRPr>
          </a:p>
          <a:p>
            <a:endParaRPr lang="en-GB" dirty="0">
              <a:solidFill>
                <a:schemeClr val="bg1">
                  <a:lumMod val="50000"/>
                </a:schemeClr>
              </a:solidFill>
              <a:latin typeface="Montserrat ExtraLight" panose="00000300000000000000" pitchFamily="50" charset="0"/>
            </a:endParaRPr>
          </a:p>
          <a:p>
            <a:endParaRPr lang="en-GB" dirty="0"/>
          </a:p>
          <a:p>
            <a:r>
              <a:rPr lang="en-GB" dirty="0">
                <a:solidFill>
                  <a:srgbClr val="FF6600"/>
                </a:solidFill>
                <a:latin typeface="Montserrat ExtraLight" panose="00000300000000000000" pitchFamily="50" charset="0"/>
              </a:rPr>
              <a:t>From the internet</a:t>
            </a:r>
          </a:p>
          <a:p>
            <a:pPr marL="342900" indent="-342900">
              <a:lnSpc>
                <a:spcPts val="2600"/>
              </a:lnSpc>
              <a:buFont typeface="+mj-lt"/>
              <a:buAutoNum type="arabicPeriod"/>
            </a:pPr>
            <a:r>
              <a:rPr lang="en-GB" dirty="0">
                <a:solidFill>
                  <a:schemeClr val="bg1">
                    <a:lumMod val="50000"/>
                  </a:schemeClr>
                </a:solidFill>
                <a:latin typeface="Montserrat ExtraLight" panose="00000300000000000000" pitchFamily="50" charset="0"/>
              </a:rPr>
              <a:t>Swinging arms counterbalance the momentum of a person’s legs, providing stability to the runner</a:t>
            </a:r>
          </a:p>
          <a:p>
            <a:pPr marL="342900" indent="-342900">
              <a:lnSpc>
                <a:spcPts val="2600"/>
              </a:lnSpc>
              <a:buFont typeface="+mj-lt"/>
              <a:buAutoNum type="arabicPeriod"/>
            </a:pPr>
            <a:r>
              <a:rPr lang="en-GB" dirty="0">
                <a:solidFill>
                  <a:schemeClr val="bg1">
                    <a:lumMod val="50000"/>
                  </a:schemeClr>
                </a:solidFill>
                <a:latin typeface="Montserrat ExtraLight" panose="00000300000000000000" pitchFamily="50" charset="0"/>
                <a:hlinkClick r:id="rId3">
                  <a:extLst>
                    <a:ext uri="{A12FA001-AC4F-418D-AE19-62706E023703}">
                      <ahyp:hlinkClr xmlns:ahyp="http://schemas.microsoft.com/office/drawing/2018/hyperlinkcolor" val="tx"/>
                    </a:ext>
                  </a:extLst>
                </a:hlinkClick>
              </a:rPr>
              <a:t>Swinging your arms uses 3% less energy</a:t>
            </a:r>
            <a:r>
              <a:rPr lang="en-GB" dirty="0">
                <a:solidFill>
                  <a:schemeClr val="bg1">
                    <a:lumMod val="50000"/>
                  </a:schemeClr>
                </a:solidFill>
                <a:latin typeface="Montserrat ExtraLight" panose="00000300000000000000" pitchFamily="50" charset="0"/>
              </a:rPr>
              <a:t> than keeping your hands behind your back, 9% less energy than folding your arms over your chest</a:t>
            </a:r>
          </a:p>
          <a:p>
            <a:pPr marL="342900" indent="-342900">
              <a:lnSpc>
                <a:spcPts val="2600"/>
              </a:lnSpc>
              <a:buFont typeface="+mj-lt"/>
              <a:buAutoNum type="arabicPeriod"/>
            </a:pPr>
            <a:r>
              <a:rPr lang="en-GB" dirty="0">
                <a:solidFill>
                  <a:schemeClr val="bg1">
                    <a:lumMod val="50000"/>
                  </a:schemeClr>
                </a:solidFill>
                <a:latin typeface="Montserrat ExtraLight" panose="00000300000000000000" pitchFamily="50" charset="0"/>
              </a:rPr>
              <a:t>By balancing the body as it moves, arm swing helps reduce overall energy expenditure, propel you forward and improve overall running rhythm by helping to lift the body off the ground with each stride. This helps relieve stress from the lower body and improve pelvic rotation, making things easier on your legs, too.</a:t>
            </a:r>
          </a:p>
        </p:txBody>
      </p:sp>
    </p:spTree>
    <p:extLst>
      <p:ext uri="{BB962C8B-B14F-4D97-AF65-F5344CB8AC3E}">
        <p14:creationId xmlns:p14="http://schemas.microsoft.com/office/powerpoint/2010/main" val="3136954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pic>
        <p:nvPicPr>
          <p:cNvPr id="2050" name="Picture 2" descr="https://lh3.googleusercontent.com/nIyo53zFpt9TpK08276aJd_pNzX65fcCi7UHtLVwrsDar1S7sxFX2HmC4evdV5GFqYODkZbGmE3jBHX4WfaccclFwAPwT4sUVhN-KOe48Ay7qy2N0d25Nev-78d5PZY9ESpoUVO4Foe53iXA7E86CKR-m0SPE6aVTV9J8p6cTuWRDGirFR07-fM5rOQS7MSxL8JeDwY_25Fcs5nkhv4pCdMLhQcKA82lvKB-n8FINPvHTz2gM6nXbYV88WFqf0jL3odhV5na3468OG91HA3831o7-HyogsBwYYDGrCXAuS-SKQ3Q3_hmtHSjD7DmyFDHwBOXjDPkF6XaXxnqb8OdFx0qEeipNQgl0LZGJB8iTzfu-ANY5nbXoBfFvsHVvcIDRd5nFV7MO9rY5W_DS6lGqViS1lOSqh8ajbf6MxuQvU1-UjRVWuLnwaXt9iQmtS4afY5kZPwMJf9-ybkVWNr1S9sVcR5HOhvboidcsyI8wJf1n_7Vcb59hwK7aOTfmip_rk_ZjbyLvevm3siUcoAuZeOJzfONEVnz47uNjVdLLruMxzFy_Xehl8LIidZD1vcHoVDrJD9pdNiyHd3yyzoNg_c3iNzzzOF4rIWMMHPnYTzY4s4i3h8KBqmNZVUu67T1lnIzkSxGp0fgqvwvwiQkZ4_ApAQrT6EN-OsG8PBT1XK2J6QvQ9rYGJPbmVVXutmJZJ5dMsSLiSskFWaNyUg=w1407-h938-no">
            <a:extLst>
              <a:ext uri="{FF2B5EF4-FFF2-40B4-BE49-F238E27FC236}">
                <a16:creationId xmlns:a16="http://schemas.microsoft.com/office/drawing/2014/main" id="{7BC3FD61-BFAD-4BE2-A781-9D527F1054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01" r="37310"/>
          <a:stretch/>
        </p:blipFill>
        <p:spPr bwMode="auto">
          <a:xfrm>
            <a:off x="0" y="0"/>
            <a:ext cx="609904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2E86B63-A5E1-4B38-90A1-A0807E34BA5D}"/>
              </a:ext>
            </a:extLst>
          </p:cNvPr>
          <p:cNvSpPr/>
          <p:nvPr/>
        </p:nvSpPr>
        <p:spPr>
          <a:xfrm>
            <a:off x="7020641" y="3090446"/>
            <a:ext cx="2866490" cy="707886"/>
          </a:xfrm>
          <a:prstGeom prst="rect">
            <a:avLst/>
          </a:prstGeom>
        </p:spPr>
        <p:txBody>
          <a:bodyPr wrap="none">
            <a:spAutoFit/>
          </a:bodyPr>
          <a:lstStyle/>
          <a:p>
            <a:r>
              <a:rPr lang="en-US" sz="4000" dirty="0">
                <a:solidFill>
                  <a:srgbClr val="222222"/>
                </a:solidFill>
                <a:latin typeface="arial" panose="020B0604020202020204" pitchFamily="34" charset="0"/>
              </a:rPr>
              <a:t>through line</a:t>
            </a:r>
            <a:endParaRPr lang="en-US" sz="4000" dirty="0"/>
          </a:p>
        </p:txBody>
      </p:sp>
    </p:spTree>
    <p:extLst>
      <p:ext uri="{BB962C8B-B14F-4D97-AF65-F5344CB8AC3E}">
        <p14:creationId xmlns:p14="http://schemas.microsoft.com/office/powerpoint/2010/main" val="390433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F13AF-64E9-4B70-90AA-956E4724D696}"/>
              </a:ext>
            </a:extLst>
          </p:cNvPr>
          <p:cNvSpPr>
            <a:spLocks noGrp="1"/>
          </p:cNvSpPr>
          <p:nvPr>
            <p:ph type="title"/>
          </p:nvPr>
        </p:nvSpPr>
        <p:spPr/>
        <p:txBody>
          <a:bodyPr/>
          <a:lstStyle/>
          <a:p>
            <a:r>
              <a:rPr lang="en-IN" dirty="0"/>
              <a:t>Arm swing</a:t>
            </a:r>
            <a:endParaRPr lang="en-US" dirty="0"/>
          </a:p>
        </p:txBody>
      </p:sp>
      <p:sp>
        <p:nvSpPr>
          <p:cNvPr id="3" name="Content Placeholder 2">
            <a:extLst>
              <a:ext uri="{FF2B5EF4-FFF2-40B4-BE49-F238E27FC236}">
                <a16:creationId xmlns:a16="http://schemas.microsoft.com/office/drawing/2014/main" id="{2C1BAA5C-5EEF-43EC-B088-BFEE464D63AE}"/>
              </a:ext>
            </a:extLst>
          </p:cNvPr>
          <p:cNvSpPr>
            <a:spLocks noGrp="1"/>
          </p:cNvSpPr>
          <p:nvPr>
            <p:ph idx="1"/>
          </p:nvPr>
        </p:nvSpPr>
        <p:spPr>
          <a:xfrm>
            <a:off x="319883" y="1090611"/>
            <a:ext cx="11510166" cy="5449887"/>
          </a:xfrm>
        </p:spPr>
        <p:txBody>
          <a:bodyPr>
            <a:normAutofit/>
          </a:bodyPr>
          <a:lstStyle/>
          <a:p>
            <a:r>
              <a:rPr lang="en-GB" sz="2100" dirty="0">
                <a:solidFill>
                  <a:schemeClr val="bg1">
                    <a:lumMod val="50000"/>
                  </a:schemeClr>
                </a:solidFill>
                <a:latin typeface="Montserrat ExtraLight" panose="00000300000000000000" pitchFamily="50" charset="0"/>
                <a:ea typeface="+mn-ea"/>
              </a:rPr>
              <a:t>Bend your elbows: To improve efficiency, keep your elbow bend in the 80–100 degree range. Keep your elbows tucked and close to your sides in the same plane of motion, never allowing them to swing across the body.</a:t>
            </a:r>
          </a:p>
          <a:p>
            <a:r>
              <a:rPr lang="en-GB" sz="2100" dirty="0">
                <a:solidFill>
                  <a:schemeClr val="bg1">
                    <a:lumMod val="50000"/>
                  </a:schemeClr>
                </a:solidFill>
                <a:latin typeface="Montserrat ExtraLight" panose="00000300000000000000" pitchFamily="50" charset="0"/>
                <a:ea typeface="+mn-ea"/>
              </a:rPr>
              <a:t>Swing from the shoulders: When you move your arms, swing them from the shoulders and not from the elbow. Try not to lift your shoulders up or down during the swing, which helps remove tension and stay relaxed. Your shoulders should also not move forward and backward. Aim instead to keep the shoulder in a fixed position.</a:t>
            </a:r>
          </a:p>
          <a:p>
            <a:endParaRPr lang="en-US" dirty="0"/>
          </a:p>
        </p:txBody>
      </p:sp>
    </p:spTree>
    <p:extLst>
      <p:ext uri="{BB962C8B-B14F-4D97-AF65-F5344CB8AC3E}">
        <p14:creationId xmlns:p14="http://schemas.microsoft.com/office/powerpoint/2010/main" val="266784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F13AF-64E9-4B70-90AA-956E4724D696}"/>
              </a:ext>
            </a:extLst>
          </p:cNvPr>
          <p:cNvSpPr>
            <a:spLocks noGrp="1"/>
          </p:cNvSpPr>
          <p:nvPr>
            <p:ph type="title"/>
          </p:nvPr>
        </p:nvSpPr>
        <p:spPr/>
        <p:txBody>
          <a:bodyPr/>
          <a:lstStyle/>
          <a:p>
            <a:r>
              <a:rPr lang="en-IN" dirty="0"/>
              <a:t>Arm swing</a:t>
            </a:r>
            <a:endParaRPr lang="en-US" dirty="0"/>
          </a:p>
        </p:txBody>
      </p:sp>
      <p:sp>
        <p:nvSpPr>
          <p:cNvPr id="3" name="Content Placeholder 2">
            <a:extLst>
              <a:ext uri="{FF2B5EF4-FFF2-40B4-BE49-F238E27FC236}">
                <a16:creationId xmlns:a16="http://schemas.microsoft.com/office/drawing/2014/main" id="{2C1BAA5C-5EEF-43EC-B088-BFEE464D63AE}"/>
              </a:ext>
            </a:extLst>
          </p:cNvPr>
          <p:cNvSpPr>
            <a:spLocks noGrp="1"/>
          </p:cNvSpPr>
          <p:nvPr>
            <p:ph idx="1"/>
          </p:nvPr>
        </p:nvSpPr>
        <p:spPr>
          <a:xfrm>
            <a:off x="319883" y="1090611"/>
            <a:ext cx="11510166" cy="5449887"/>
          </a:xfrm>
        </p:spPr>
        <p:txBody>
          <a:bodyPr>
            <a:normAutofit/>
          </a:bodyPr>
          <a:lstStyle/>
          <a:p>
            <a:r>
              <a:rPr lang="en-GB" sz="2100" dirty="0">
                <a:solidFill>
                  <a:schemeClr val="bg1">
                    <a:lumMod val="50000"/>
                  </a:schemeClr>
                </a:solidFill>
                <a:latin typeface="Montserrat ExtraLight" panose="00000300000000000000" pitchFamily="50" charset="0"/>
                <a:ea typeface="+mn-ea"/>
              </a:rPr>
              <a:t>Relax your hands: If you clench your hands into a fist, your upper body will be tight and it will be harder to keep your shoulders relaxed. If you relax your hands, the arms and shoulders will follow suit.</a:t>
            </a:r>
          </a:p>
          <a:p>
            <a:r>
              <a:rPr lang="en-GB" sz="2100" dirty="0">
                <a:solidFill>
                  <a:schemeClr val="bg1">
                    <a:lumMod val="50000"/>
                  </a:schemeClr>
                </a:solidFill>
                <a:latin typeface="Montserrat ExtraLight" panose="00000300000000000000" pitchFamily="50" charset="0"/>
                <a:ea typeface="+mn-ea"/>
              </a:rPr>
              <a:t>Concentrate on arm drive: The forward swing of the arm comes most naturally; where most runners can improve their arm movement is behind the body. By concentrating on pushing your elbow back, the forward motion happens on its own. While it takes some getting used to, and may feel initially like you’re working harder, increasing the drive of your arms takes strain off your legs and makes it easier to lift your feet.</a:t>
            </a:r>
          </a:p>
          <a:p>
            <a:endParaRPr lang="en-US" dirty="0"/>
          </a:p>
        </p:txBody>
      </p:sp>
    </p:spTree>
    <p:extLst>
      <p:ext uri="{BB962C8B-B14F-4D97-AF65-F5344CB8AC3E}">
        <p14:creationId xmlns:p14="http://schemas.microsoft.com/office/powerpoint/2010/main" val="3003557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pic>
        <p:nvPicPr>
          <p:cNvPr id="6146" name="Picture 2" descr="Rob Walker (left) and Josh Glenn">
            <a:extLst>
              <a:ext uri="{FF2B5EF4-FFF2-40B4-BE49-F238E27FC236}">
                <a16:creationId xmlns:a16="http://schemas.microsoft.com/office/drawing/2014/main" id="{F64EFC48-85A9-4C50-851A-DE5BF087A85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19501" y="675835"/>
            <a:ext cx="2542626" cy="3874477"/>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FEF4059-844C-4C6A-9EF1-ADC2D7A10F48}"/>
              </a:ext>
            </a:extLst>
          </p:cNvPr>
          <p:cNvSpPr/>
          <p:nvPr/>
        </p:nvSpPr>
        <p:spPr>
          <a:xfrm>
            <a:off x="628902" y="4550312"/>
            <a:ext cx="2723823" cy="276999"/>
          </a:xfrm>
          <a:prstGeom prst="rect">
            <a:avLst/>
          </a:prstGeom>
        </p:spPr>
        <p:txBody>
          <a:bodyPr wrap="none">
            <a:spAutoFit/>
          </a:bodyPr>
          <a:lstStyle/>
          <a:p>
            <a:r>
              <a:rPr lang="en-GB" sz="1200" dirty="0">
                <a:solidFill>
                  <a:schemeClr val="bg1">
                    <a:lumMod val="50000"/>
                  </a:schemeClr>
                </a:solidFill>
                <a:latin typeface="Montserrat Light" panose="00000400000000000000" pitchFamily="50" charset="0"/>
              </a:rPr>
              <a:t>Rob Walker (L) and Joshua Glenn</a:t>
            </a:r>
            <a:endParaRPr lang="en-US" sz="1200" dirty="0">
              <a:solidFill>
                <a:schemeClr val="bg1">
                  <a:lumMod val="50000"/>
                </a:schemeClr>
              </a:solidFill>
              <a:latin typeface="Montserrat Light" panose="00000400000000000000" pitchFamily="50" charset="0"/>
            </a:endParaRPr>
          </a:p>
        </p:txBody>
      </p:sp>
      <p:sp>
        <p:nvSpPr>
          <p:cNvPr id="21" name="Rectangle 20">
            <a:extLst>
              <a:ext uri="{FF2B5EF4-FFF2-40B4-BE49-F238E27FC236}">
                <a16:creationId xmlns:a16="http://schemas.microsoft.com/office/drawing/2014/main" id="{A929E2DB-F68C-46F6-8560-F6F1BEE0A706}"/>
              </a:ext>
            </a:extLst>
          </p:cNvPr>
          <p:cNvSpPr/>
          <p:nvPr/>
        </p:nvSpPr>
        <p:spPr>
          <a:xfrm>
            <a:off x="3506132" y="1619467"/>
            <a:ext cx="7811911" cy="1664045"/>
          </a:xfrm>
          <a:prstGeom prst="rect">
            <a:avLst/>
          </a:prstGeom>
        </p:spPr>
        <p:txBody>
          <a:bodyPr wrap="square">
            <a:spAutoFit/>
          </a:bodyPr>
          <a:lstStyle/>
          <a:p>
            <a:pPr>
              <a:lnSpc>
                <a:spcPct val="150000"/>
              </a:lnSpc>
            </a:pPr>
            <a:r>
              <a:rPr lang="en-GB" sz="2000" dirty="0">
                <a:solidFill>
                  <a:schemeClr val="bg1">
                    <a:lumMod val="50000"/>
                  </a:schemeClr>
                </a:solidFill>
                <a:latin typeface="Montserrat" panose="00000500000000000000" pitchFamily="50" charset="0"/>
              </a:rPr>
              <a:t>eBay Project </a:t>
            </a:r>
            <a:endParaRPr lang="en-US" sz="2000" dirty="0">
              <a:solidFill>
                <a:schemeClr val="bg1">
                  <a:lumMod val="50000"/>
                </a:schemeClr>
              </a:solidFill>
              <a:latin typeface="Montserrat" panose="00000500000000000000" pitchFamily="50" charset="0"/>
            </a:endParaRPr>
          </a:p>
          <a:p>
            <a:pPr algn="just">
              <a:lnSpc>
                <a:spcPct val="150000"/>
              </a:lnSpc>
            </a:pPr>
            <a:r>
              <a:rPr lang="en-GB" i="1" dirty="0">
                <a:solidFill>
                  <a:schemeClr val="bg1">
                    <a:lumMod val="50000"/>
                  </a:schemeClr>
                </a:solidFill>
                <a:latin typeface="Montserrat Light" panose="00000400000000000000" pitchFamily="50" charset="0"/>
              </a:rPr>
              <a:t>Significant Objects</a:t>
            </a:r>
            <a:r>
              <a:rPr lang="en-GB" sz="1600" dirty="0">
                <a:solidFill>
                  <a:schemeClr val="bg1">
                    <a:lumMod val="50000"/>
                  </a:schemeClr>
                </a:solidFill>
                <a:latin typeface="Montserrat Light" panose="00000400000000000000" pitchFamily="50" charset="0"/>
              </a:rPr>
              <a:t>, a literary and anthropological experiment devised by Rob Walker and Joshua Glenn, demonstrated that the effect of narrative on any given object’s subjective value can be measured objectively </a:t>
            </a:r>
          </a:p>
        </p:txBody>
      </p:sp>
      <p:sp>
        <p:nvSpPr>
          <p:cNvPr id="8" name="Rectangle 7">
            <a:extLst>
              <a:ext uri="{FF2B5EF4-FFF2-40B4-BE49-F238E27FC236}">
                <a16:creationId xmlns:a16="http://schemas.microsoft.com/office/drawing/2014/main" id="{712FE762-7FEB-48D6-843E-1C141C2F378A}"/>
              </a:ext>
            </a:extLst>
          </p:cNvPr>
          <p:cNvSpPr/>
          <p:nvPr/>
        </p:nvSpPr>
        <p:spPr>
          <a:xfrm>
            <a:off x="628902" y="6435006"/>
            <a:ext cx="3081356" cy="369332"/>
          </a:xfrm>
          <a:prstGeom prst="rect">
            <a:avLst/>
          </a:prstGeom>
        </p:spPr>
        <p:txBody>
          <a:bodyPr wrap="none">
            <a:spAutoFit/>
          </a:bodyPr>
          <a:lstStyle/>
          <a:p>
            <a:r>
              <a:rPr lang="en-US" dirty="0">
                <a:solidFill>
                  <a:schemeClr val="bg1">
                    <a:lumMod val="75000"/>
                  </a:schemeClr>
                </a:solidFill>
              </a:rPr>
              <a:t>https://significantobjects.com/</a:t>
            </a:r>
          </a:p>
        </p:txBody>
      </p:sp>
      <p:grpSp>
        <p:nvGrpSpPr>
          <p:cNvPr id="11" name="Group 10">
            <a:extLst>
              <a:ext uri="{FF2B5EF4-FFF2-40B4-BE49-F238E27FC236}">
                <a16:creationId xmlns:a16="http://schemas.microsoft.com/office/drawing/2014/main" id="{6B20BD12-BF65-450F-893D-9332E18BC8B4}"/>
              </a:ext>
            </a:extLst>
          </p:cNvPr>
          <p:cNvGrpSpPr/>
          <p:nvPr/>
        </p:nvGrpSpPr>
        <p:grpSpPr>
          <a:xfrm>
            <a:off x="1468199" y="5192246"/>
            <a:ext cx="9255601" cy="877824"/>
            <a:chOff x="1990813" y="5206972"/>
            <a:chExt cx="9255601" cy="877824"/>
          </a:xfrm>
        </p:grpSpPr>
        <p:pic>
          <p:nvPicPr>
            <p:cNvPr id="6148" name="Picture 4" descr="Image result for Josh Glenn ebay experiment">
              <a:extLst>
                <a:ext uri="{FF2B5EF4-FFF2-40B4-BE49-F238E27FC236}">
                  <a16:creationId xmlns:a16="http://schemas.microsoft.com/office/drawing/2014/main" id="{33B62089-DDFB-4F51-A714-BDB497A6C3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0813" y="5208906"/>
              <a:ext cx="873957" cy="873957"/>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0" name="Picture 6" descr="Related image">
              <a:extLst>
                <a:ext uri="{FF2B5EF4-FFF2-40B4-BE49-F238E27FC236}">
                  <a16:creationId xmlns:a16="http://schemas.microsoft.com/office/drawing/2014/main" id="{AE2E93DD-1BBD-48E5-AB65-D42B10897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7768"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2" name="Picture 8" descr="Santa Nutcracker by Kurt Andersen">
              <a:extLst>
                <a:ext uri="{FF2B5EF4-FFF2-40B4-BE49-F238E27FC236}">
                  <a16:creationId xmlns:a16="http://schemas.microsoft.com/office/drawing/2014/main" id="{07D3097D-D2B2-451E-94C2-BDAC6EE324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2175"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4" name="Picture 10" descr="Penguin Creamer by Sari Wilson">
              <a:extLst>
                <a:ext uri="{FF2B5EF4-FFF2-40B4-BE49-F238E27FC236}">
                  <a16:creationId xmlns:a16="http://schemas.microsoft.com/office/drawing/2014/main" id="{09BA3E7A-3E5A-441D-9E0B-5E3ED712DA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7404"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6" name="Picture 12" descr="Utah Snow Globe by Blake Butler">
              <a:extLst>
                <a:ext uri="{FF2B5EF4-FFF2-40B4-BE49-F238E27FC236}">
                  <a16:creationId xmlns:a16="http://schemas.microsoft.com/office/drawing/2014/main" id="{CD22A8C9-0CAE-4887-9BB9-629868623D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7586"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8" name="Picture 14" descr="Miniature Turkey Dinner by Jenny Offill">
              <a:extLst>
                <a:ext uri="{FF2B5EF4-FFF2-40B4-BE49-F238E27FC236}">
                  <a16:creationId xmlns:a16="http://schemas.microsoft.com/office/drawing/2014/main" id="{65FBB448-9B0B-4EAA-9E50-AE929DD626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23361"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0" name="Picture 16" descr="Mermaid Figurine by Tom McCarthy">
              <a:extLst>
                <a:ext uri="{FF2B5EF4-FFF2-40B4-BE49-F238E27FC236}">
                  <a16:creationId xmlns:a16="http://schemas.microsoft.com/office/drawing/2014/main" id="{C7AF914F-0B89-4163-8A73-869C0F7180D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8132"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2" name="Picture 18" descr="4-Angel by Katie Williams">
              <a:extLst>
                <a:ext uri="{FF2B5EF4-FFF2-40B4-BE49-F238E27FC236}">
                  <a16:creationId xmlns:a16="http://schemas.microsoft.com/office/drawing/2014/main" id="{21309095-3AEA-4894-B883-943E3D2EE38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27950"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4" name="Picture 20" descr="Idol by Andrew Ervin">
              <a:extLst>
                <a:ext uri="{FF2B5EF4-FFF2-40B4-BE49-F238E27FC236}">
                  <a16:creationId xmlns:a16="http://schemas.microsoft.com/office/drawing/2014/main" id="{4A327BD1-E3F4-4800-93CF-D0E83F43F1E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68590"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52539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7" name="Group 6">
            <a:extLst>
              <a:ext uri="{FF2B5EF4-FFF2-40B4-BE49-F238E27FC236}">
                <a16:creationId xmlns:a16="http://schemas.microsoft.com/office/drawing/2014/main" id="{EE70F141-810A-4D48-A909-A3753404742D}"/>
              </a:ext>
            </a:extLst>
          </p:cNvPr>
          <p:cNvGrpSpPr/>
          <p:nvPr/>
        </p:nvGrpSpPr>
        <p:grpSpPr>
          <a:xfrm>
            <a:off x="4140975" y="1967554"/>
            <a:ext cx="4221027" cy="2569442"/>
            <a:chOff x="4140975" y="3051975"/>
            <a:chExt cx="4221027" cy="2569442"/>
          </a:xfrm>
        </p:grpSpPr>
        <p:sp>
          <p:nvSpPr>
            <p:cNvPr id="12" name="Rectangle 11">
              <a:extLst>
                <a:ext uri="{FF2B5EF4-FFF2-40B4-BE49-F238E27FC236}">
                  <a16:creationId xmlns:a16="http://schemas.microsoft.com/office/drawing/2014/main" id="{94E5BCAD-5B16-40EF-A43E-3FBF6A6EBC17}"/>
                </a:ext>
              </a:extLst>
            </p:cNvPr>
            <p:cNvSpPr/>
            <p:nvPr/>
          </p:nvSpPr>
          <p:spPr>
            <a:xfrm>
              <a:off x="4140975" y="4174867"/>
              <a:ext cx="4221027" cy="1446550"/>
            </a:xfrm>
            <a:prstGeom prst="rect">
              <a:avLst/>
            </a:prstGeom>
          </p:spPr>
          <p:txBody>
            <a:bodyPr wrap="none">
              <a:spAutoFit/>
            </a:bodyPr>
            <a:lstStyle/>
            <a:p>
              <a:r>
                <a:rPr lang="en-US" sz="8800" b="1" dirty="0">
                  <a:solidFill>
                    <a:srgbClr val="FF6600"/>
                  </a:solidFill>
                  <a:latin typeface="Montserrat SemiBold" panose="00000700000000000000" pitchFamily="50" charset="0"/>
                </a:rPr>
                <a:t>$ 8000</a:t>
              </a:r>
              <a:endParaRPr lang="en-US" sz="8800" b="1" dirty="0">
                <a:solidFill>
                  <a:srgbClr val="505050"/>
                </a:solidFill>
                <a:latin typeface="Montserrat SemiBold" panose="00000700000000000000" pitchFamily="50" charset="0"/>
              </a:endParaRPr>
            </a:p>
          </p:txBody>
        </p:sp>
        <p:sp>
          <p:nvSpPr>
            <p:cNvPr id="2" name="Rectangle 1">
              <a:extLst>
                <a:ext uri="{FF2B5EF4-FFF2-40B4-BE49-F238E27FC236}">
                  <a16:creationId xmlns:a16="http://schemas.microsoft.com/office/drawing/2014/main" id="{9CE2981C-E43F-4D1C-B97E-D7AA4471C076}"/>
                </a:ext>
              </a:extLst>
            </p:cNvPr>
            <p:cNvSpPr/>
            <p:nvPr/>
          </p:nvSpPr>
          <p:spPr>
            <a:xfrm>
              <a:off x="5617340" y="3051975"/>
              <a:ext cx="1051891" cy="523220"/>
            </a:xfrm>
            <a:prstGeom prst="rect">
              <a:avLst/>
            </a:prstGeom>
          </p:spPr>
          <p:txBody>
            <a:bodyPr wrap="none">
              <a:spAutoFit/>
            </a:bodyPr>
            <a:lstStyle/>
            <a:p>
              <a:r>
                <a:rPr lang="en-US" sz="2800" dirty="0">
                  <a:solidFill>
                    <a:schemeClr val="bg1">
                      <a:lumMod val="75000"/>
                    </a:schemeClr>
                  </a:solidFill>
                  <a:latin typeface="Montserrat" panose="00000500000000000000" pitchFamily="50" charset="0"/>
                </a:rPr>
                <a:t>$ 129</a:t>
              </a:r>
            </a:p>
          </p:txBody>
        </p:sp>
      </p:grpSp>
    </p:spTree>
    <p:extLst>
      <p:ext uri="{BB962C8B-B14F-4D97-AF65-F5344CB8AC3E}">
        <p14:creationId xmlns:p14="http://schemas.microsoft.com/office/powerpoint/2010/main" val="1528434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871540" cy="4313684"/>
            <a:chOff x="825147" y="1300878"/>
            <a:chExt cx="7871540" cy="4313684"/>
          </a:xfrm>
        </p:grpSpPr>
        <p:sp>
          <p:nvSpPr>
            <p:cNvPr id="10" name="Rectangle 9">
              <a:extLst>
                <a:ext uri="{FF2B5EF4-FFF2-40B4-BE49-F238E27FC236}">
                  <a16:creationId xmlns:a16="http://schemas.microsoft.com/office/drawing/2014/main" id="{FDC48643-4FBE-4281-866D-A0E040A53BDB}"/>
                </a:ext>
              </a:extLst>
            </p:cNvPr>
            <p:cNvSpPr/>
            <p:nvPr/>
          </p:nvSpPr>
          <p:spPr>
            <a:xfrm>
              <a:off x="1938106" y="2013576"/>
              <a:ext cx="6758581" cy="3600986"/>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What doesn’t work</a:t>
              </a:r>
            </a:p>
            <a:p>
              <a:pPr marL="742950" indent="-742950">
                <a:buAutoNum type="arabicPeriod"/>
              </a:pPr>
              <a:r>
                <a:rPr lang="en-US" sz="3800" dirty="0">
                  <a:solidFill>
                    <a:schemeClr val="bg1">
                      <a:lumMod val="50000"/>
                    </a:schemeClr>
                  </a:solidFill>
                  <a:latin typeface="Montserrat ExtraLight" panose="00000300000000000000" pitchFamily="50" charset="0"/>
                </a:rPr>
                <a:t>The sales pitch</a:t>
              </a:r>
            </a:p>
            <a:p>
              <a:pPr marL="742950" indent="-742950">
                <a:buAutoNum type="arabicPeriod"/>
              </a:pPr>
              <a:r>
                <a:rPr lang="en-IN" sz="3800" dirty="0">
                  <a:solidFill>
                    <a:schemeClr val="bg1">
                      <a:lumMod val="50000"/>
                    </a:schemeClr>
                  </a:solidFill>
                  <a:latin typeface="Montserrat ExtraLight" panose="00000300000000000000" pitchFamily="50" charset="0"/>
                </a:rPr>
                <a:t>T</a:t>
              </a:r>
              <a:r>
                <a:rPr lang="en-US" sz="3800" dirty="0">
                  <a:solidFill>
                    <a:schemeClr val="bg1">
                      <a:lumMod val="50000"/>
                    </a:schemeClr>
                  </a:solidFill>
                  <a:latin typeface="Montserrat ExtraLight" panose="00000300000000000000" pitchFamily="50" charset="0"/>
                </a:rPr>
                <a:t>he ramble</a:t>
              </a:r>
            </a:p>
            <a:p>
              <a:pPr marL="742950" indent="-742950">
                <a:buAutoNum type="arabicPeriod"/>
              </a:pPr>
              <a:r>
                <a:rPr lang="en-IN" sz="3800" dirty="0">
                  <a:solidFill>
                    <a:schemeClr val="bg1">
                      <a:lumMod val="50000"/>
                    </a:schemeClr>
                  </a:solidFill>
                  <a:latin typeface="Montserrat ExtraLight" panose="00000300000000000000" pitchFamily="50" charset="0"/>
                </a:rPr>
                <a:t>O</a:t>
              </a:r>
              <a:r>
                <a:rPr lang="en-US" sz="3800" dirty="0">
                  <a:solidFill>
                    <a:schemeClr val="bg1">
                      <a:lumMod val="50000"/>
                    </a:schemeClr>
                  </a:solidFill>
                  <a:latin typeface="Montserrat ExtraLight" panose="00000300000000000000" pitchFamily="50" charset="0"/>
                </a:rPr>
                <a:t>RG BORE</a:t>
              </a:r>
            </a:p>
            <a:p>
              <a:pPr marL="742950" indent="-742950">
                <a:buAutoNum type="arabicPeriod"/>
              </a:pPr>
              <a:r>
                <a:rPr lang="en-IN" sz="3800" dirty="0">
                  <a:solidFill>
                    <a:schemeClr val="bg1">
                      <a:lumMod val="50000"/>
                    </a:schemeClr>
                  </a:solidFill>
                  <a:latin typeface="Montserrat ExtraLight" panose="00000300000000000000" pitchFamily="50" charset="0"/>
                </a:rPr>
                <a:t>Inspiration performance</a:t>
              </a:r>
              <a:endParaRPr lang="en-US" sz="3800" dirty="0">
                <a:solidFill>
                  <a:schemeClr val="bg1">
                    <a:lumMod val="50000"/>
                  </a:schemeClr>
                </a:solidFill>
                <a:latin typeface="Montserrat ExtraLight" panose="00000300000000000000" pitchFamily="50" charset="0"/>
              </a:endParaRPr>
            </a:p>
            <a:p>
              <a:pPr marL="742950" indent="-742950">
                <a:buAutoNum type="arabicPeriod"/>
              </a:pPr>
              <a:endParaRPr lang="en-US" sz="3800" dirty="0">
                <a:solidFill>
                  <a:schemeClr val="bg1">
                    <a:lumMod val="50000"/>
                  </a:schemeClr>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98845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C822CD-2A52-4294-B82D-B1D9F6A3DD2F}"/>
              </a:ext>
            </a:extLst>
          </p:cNvPr>
          <p:cNvGrpSpPr/>
          <p:nvPr/>
        </p:nvGrpSpPr>
        <p:grpSpPr>
          <a:xfrm>
            <a:off x="538509" y="1296695"/>
            <a:ext cx="7884364" cy="4344461"/>
            <a:chOff x="825147" y="1300878"/>
            <a:chExt cx="7884364" cy="4344461"/>
          </a:xfrm>
        </p:grpSpPr>
        <p:sp>
          <p:nvSpPr>
            <p:cNvPr id="5" name="Rectangle 4">
              <a:extLst>
                <a:ext uri="{FF2B5EF4-FFF2-40B4-BE49-F238E27FC236}">
                  <a16:creationId xmlns:a16="http://schemas.microsoft.com/office/drawing/2014/main" id="{C4BF1616-D943-4330-95DA-339E574F0A2F}"/>
                </a:ext>
              </a:extLst>
            </p:cNvPr>
            <p:cNvSpPr/>
            <p:nvPr/>
          </p:nvSpPr>
          <p:spPr>
            <a:xfrm>
              <a:off x="1938106" y="2013576"/>
              <a:ext cx="6771405" cy="3631763"/>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How do you structure a talk</a:t>
              </a:r>
            </a:p>
            <a:p>
              <a:pPr marL="742950" indent="-742950">
                <a:buAutoNum type="arabicPeriod"/>
              </a:pPr>
              <a:r>
                <a:rPr lang="en-GB" sz="4000" dirty="0"/>
                <a:t>to be disciplined </a:t>
              </a:r>
            </a:p>
            <a:p>
              <a:pPr marL="742950" indent="-742950">
                <a:buAutoNum type="arabicPeriod"/>
              </a:pPr>
              <a:r>
                <a:rPr lang="en-IN" sz="3800" dirty="0">
                  <a:solidFill>
                    <a:schemeClr val="bg1">
                      <a:lumMod val="50000"/>
                    </a:schemeClr>
                  </a:solidFill>
                  <a:latin typeface="Montserrat ExtraLight" panose="00000300000000000000" pitchFamily="50" charset="0"/>
                </a:rPr>
                <a:t>T</a:t>
              </a:r>
              <a:r>
                <a:rPr lang="en-US" sz="3800" dirty="0">
                  <a:solidFill>
                    <a:schemeClr val="bg1">
                      <a:lumMod val="50000"/>
                    </a:schemeClr>
                  </a:solidFill>
                  <a:latin typeface="Montserrat ExtraLight" panose="00000300000000000000" pitchFamily="50" charset="0"/>
                </a:rPr>
                <a:t>he ramble</a:t>
              </a:r>
            </a:p>
            <a:p>
              <a:pPr marL="742950" indent="-742950">
                <a:buAutoNum type="arabicPeriod"/>
              </a:pPr>
              <a:r>
                <a:rPr lang="en-IN" sz="3800" dirty="0">
                  <a:solidFill>
                    <a:schemeClr val="bg1">
                      <a:lumMod val="50000"/>
                    </a:schemeClr>
                  </a:solidFill>
                  <a:latin typeface="Montserrat ExtraLight" panose="00000300000000000000" pitchFamily="50" charset="0"/>
                </a:rPr>
                <a:t>O</a:t>
              </a:r>
              <a:r>
                <a:rPr lang="en-US" sz="3800" dirty="0">
                  <a:solidFill>
                    <a:schemeClr val="bg1">
                      <a:lumMod val="50000"/>
                    </a:schemeClr>
                  </a:solidFill>
                  <a:latin typeface="Montserrat ExtraLight" panose="00000300000000000000" pitchFamily="50" charset="0"/>
                </a:rPr>
                <a:t>RG BORE</a:t>
              </a:r>
            </a:p>
            <a:p>
              <a:pPr marL="742950" indent="-742950">
                <a:buAutoNum type="arabicPeriod"/>
              </a:pPr>
              <a:r>
                <a:rPr lang="en-IN" sz="3800" dirty="0">
                  <a:solidFill>
                    <a:schemeClr val="bg1">
                      <a:lumMod val="50000"/>
                    </a:schemeClr>
                  </a:solidFill>
                  <a:latin typeface="Montserrat ExtraLight" panose="00000300000000000000" pitchFamily="50" charset="0"/>
                </a:rPr>
                <a:t>Inspiration performance</a:t>
              </a:r>
              <a:endParaRPr lang="en-US" sz="3800" dirty="0">
                <a:solidFill>
                  <a:schemeClr val="bg1">
                    <a:lumMod val="50000"/>
                  </a:schemeClr>
                </a:solidFill>
                <a:latin typeface="Montserrat ExtraLight" panose="00000300000000000000" pitchFamily="50" charset="0"/>
              </a:endParaRPr>
            </a:p>
            <a:p>
              <a:pPr marL="742950" indent="-742950">
                <a:buAutoNum type="arabicPeriod"/>
              </a:pPr>
              <a:endParaRPr lang="en-US" sz="3800" dirty="0">
                <a:solidFill>
                  <a:schemeClr val="bg1">
                    <a:lumMod val="50000"/>
                  </a:schemeClr>
                </a:solidFill>
                <a:latin typeface="Montserrat ExtraLight" panose="00000300000000000000" pitchFamily="50" charset="0"/>
              </a:endParaRPr>
            </a:p>
          </p:txBody>
        </p:sp>
        <p:pic>
          <p:nvPicPr>
            <p:cNvPr id="6" name="Picture 2" descr="Image result for best font for quote symbol">
              <a:extLst>
                <a:ext uri="{FF2B5EF4-FFF2-40B4-BE49-F238E27FC236}">
                  <a16:creationId xmlns:a16="http://schemas.microsoft.com/office/drawing/2014/main" id="{53F748A8-9151-4C4E-A8D6-1C04A0FF5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a:extLst>
              <a:ext uri="{FF2B5EF4-FFF2-40B4-BE49-F238E27FC236}">
                <a16:creationId xmlns:a16="http://schemas.microsoft.com/office/drawing/2014/main" id="{6CE47E66-29C6-4422-B5E2-ABB73283AD15}"/>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6BE8E8C9-30F1-4680-90FB-EBC8BEA133D8}"/>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5F4A1241-DCD3-496C-A07C-D3940557E3CC}"/>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957493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39367</TotalTime>
  <Words>1031</Words>
  <Application>Microsoft Office PowerPoint</Application>
  <PresentationFormat>Widescreen</PresentationFormat>
  <Paragraphs>137</Paragraphs>
  <Slides>11</Slides>
  <Notes>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vt:i4>
      </vt:variant>
    </vt:vector>
  </HeadingPairs>
  <TitlesOfParts>
    <vt:vector size="26" baseType="lpstr">
      <vt:lpstr>Arial</vt:lpstr>
      <vt:lpstr>Arial</vt:lpstr>
      <vt:lpstr>Calibri</vt:lpstr>
      <vt:lpstr>Calibri Light</vt:lpstr>
      <vt:lpstr>Capsuula</vt:lpstr>
      <vt:lpstr>Montserrat</vt:lpstr>
      <vt:lpstr>Montserrat ExtraLight</vt:lpstr>
      <vt:lpstr>Montserrat Light</vt:lpstr>
      <vt:lpstr>Montserrat SemiBold</vt:lpstr>
      <vt:lpstr>Montserrat-Bold</vt:lpstr>
      <vt:lpstr>Ostrich Sans Medium</vt:lpstr>
      <vt:lpstr>Proxima Nova Cn Rg</vt:lpstr>
      <vt:lpstr>Proxima Nova ExCn Rg</vt:lpstr>
      <vt:lpstr>Source Sans Pro Black</vt:lpstr>
      <vt:lpstr>Office Theme</vt:lpstr>
      <vt:lpstr>PowerPoint Presentation</vt:lpstr>
      <vt:lpstr>PowerPoint Presentation</vt:lpstr>
      <vt:lpstr>PowerPoint Presentation</vt:lpstr>
      <vt:lpstr>PowerPoint Presentation</vt:lpstr>
      <vt:lpstr>PowerPoint Presentation</vt:lpstr>
      <vt:lpstr>Arm swing</vt:lpstr>
      <vt:lpstr>Arm swing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Bharat Mane</dc:creator>
  <cp:lastModifiedBy>Bharat Mane</cp:lastModifiedBy>
  <cp:revision>1648</cp:revision>
  <dcterms:created xsi:type="dcterms:W3CDTF">2017-08-04T04:53:56Z</dcterms:created>
  <dcterms:modified xsi:type="dcterms:W3CDTF">2019-01-14T01:35:49Z</dcterms:modified>
</cp:coreProperties>
</file>