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1.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56" r:id="rId2"/>
    <p:sldId id="308" r:id="rId3"/>
    <p:sldId id="323" r:id="rId4"/>
    <p:sldId id="324" r:id="rId5"/>
    <p:sldId id="325" r:id="rId6"/>
    <p:sldId id="326" r:id="rId7"/>
    <p:sldId id="327" r:id="rId8"/>
    <p:sldId id="328" r:id="rId9"/>
    <p:sldId id="287" r:id="rId10"/>
    <p:sldId id="330" r:id="rId11"/>
    <p:sldId id="289" r:id="rId12"/>
    <p:sldId id="290" r:id="rId13"/>
    <p:sldId id="320" r:id="rId14"/>
    <p:sldId id="291" r:id="rId15"/>
    <p:sldId id="292" r:id="rId16"/>
    <p:sldId id="293" r:id="rId17"/>
    <p:sldId id="294" r:id="rId18"/>
    <p:sldId id="300" r:id="rId19"/>
    <p:sldId id="301" r:id="rId20"/>
    <p:sldId id="302" r:id="rId21"/>
    <p:sldId id="303" r:id="rId22"/>
    <p:sldId id="295" r:id="rId23"/>
    <p:sldId id="304" r:id="rId24"/>
    <p:sldId id="317" r:id="rId25"/>
    <p:sldId id="318" r:id="rId26"/>
    <p:sldId id="297" r:id="rId27"/>
    <p:sldId id="305" r:id="rId28"/>
    <p:sldId id="319" r:id="rId29"/>
    <p:sldId id="299" r:id="rId30"/>
    <p:sldId id="270" r:id="rId31"/>
    <p:sldId id="306" r:id="rId32"/>
    <p:sldId id="307" r:id="rId33"/>
    <p:sldId id="311" r:id="rId34"/>
    <p:sldId id="313" r:id="rId35"/>
    <p:sldId id="309" r:id="rId36"/>
    <p:sldId id="314" r:id="rId37"/>
    <p:sldId id="315" r:id="rId38"/>
    <p:sldId id="331" r:id="rId39"/>
    <p:sldId id="278" r:id="rId40"/>
    <p:sldId id="268" r:id="rId41"/>
    <p:sldId id="276" r:id="rId42"/>
    <p:sldId id="269" r:id="rId43"/>
    <p:sldId id="271" r:id="rId44"/>
    <p:sldId id="273" r:id="rId45"/>
    <p:sldId id="267" r:id="rId46"/>
    <p:sldId id="265" r:id="rId47"/>
    <p:sldId id="258" r:id="rId48"/>
    <p:sldId id="257" r:id="rId49"/>
    <p:sldId id="260" r:id="rId50"/>
    <p:sldId id="261" r:id="rId51"/>
    <p:sldId id="259" r:id="rId52"/>
    <p:sldId id="266" r:id="rId53"/>
    <p:sldId id="262" r:id="rId54"/>
    <p:sldId id="263" r:id="rId55"/>
    <p:sldId id="264" r:id="rId56"/>
    <p:sldId id="272" r:id="rId57"/>
    <p:sldId id="279" r:id="rId58"/>
    <p:sldId id="280" r:id="rId59"/>
    <p:sldId id="284" r:id="rId60"/>
    <p:sldId id="286" r:id="rId61"/>
    <p:sldId id="285" r:id="rId62"/>
    <p:sldId id="321" r:id="rId63"/>
    <p:sldId id="282" r:id="rId64"/>
    <p:sldId id="283" r:id="rId65"/>
    <p:sldId id="29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BB4129-60AB-480C-B1D4-D0A9B366C14A}">
          <p14:sldIdLst>
            <p14:sldId id="256"/>
            <p14:sldId id="308"/>
            <p14:sldId id="323"/>
            <p14:sldId id="324"/>
            <p14:sldId id="325"/>
            <p14:sldId id="326"/>
            <p14:sldId id="327"/>
            <p14:sldId id="328"/>
            <p14:sldId id="287"/>
            <p14:sldId id="330"/>
            <p14:sldId id="289"/>
            <p14:sldId id="290"/>
            <p14:sldId id="320"/>
            <p14:sldId id="291"/>
            <p14:sldId id="292"/>
            <p14:sldId id="293"/>
            <p14:sldId id="294"/>
            <p14:sldId id="300"/>
            <p14:sldId id="301"/>
            <p14:sldId id="302"/>
            <p14:sldId id="303"/>
            <p14:sldId id="295"/>
            <p14:sldId id="304"/>
            <p14:sldId id="317"/>
            <p14:sldId id="318"/>
            <p14:sldId id="297"/>
            <p14:sldId id="305"/>
            <p14:sldId id="319"/>
            <p14:sldId id="299"/>
            <p14:sldId id="270"/>
            <p14:sldId id="306"/>
            <p14:sldId id="307"/>
            <p14:sldId id="311"/>
            <p14:sldId id="313"/>
            <p14:sldId id="309"/>
            <p14:sldId id="314"/>
            <p14:sldId id="315"/>
            <p14:sldId id="331"/>
            <p14:sldId id="278"/>
            <p14:sldId id="268"/>
            <p14:sldId id="276"/>
            <p14:sldId id="269"/>
            <p14:sldId id="271"/>
            <p14:sldId id="273"/>
            <p14:sldId id="267"/>
            <p14:sldId id="265"/>
            <p14:sldId id="258"/>
            <p14:sldId id="257"/>
            <p14:sldId id="260"/>
            <p14:sldId id="261"/>
            <p14:sldId id="259"/>
            <p14:sldId id="266"/>
            <p14:sldId id="262"/>
            <p14:sldId id="263"/>
            <p14:sldId id="264"/>
            <p14:sldId id="272"/>
            <p14:sldId id="279"/>
            <p14:sldId id="280"/>
            <p14:sldId id="284"/>
            <p14:sldId id="286"/>
            <p14:sldId id="285"/>
            <p14:sldId id="321"/>
            <p14:sldId id="282"/>
            <p14:sldId id="283"/>
            <p14:sldId id="29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505050"/>
    <a:srgbClr val="2D2D2D"/>
    <a:srgbClr val="2E323E"/>
    <a:srgbClr val="F77F07"/>
    <a:srgbClr val="F99837"/>
    <a:srgbClr val="ECECEC"/>
    <a:srgbClr val="E4E4E4"/>
    <a:srgbClr val="E2E2E2"/>
    <a:srgbClr val="F8FA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7526" autoAdjust="0"/>
  </p:normalViewPr>
  <p:slideViewPr>
    <p:cSldViewPr snapToGrid="0">
      <p:cViewPr varScale="1">
        <p:scale>
          <a:sx n="85" d="100"/>
          <a:sy n="85" d="100"/>
        </p:scale>
        <p:origin x="684" y="8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46E21ED-16CE-4F24-80AE-EAA670226342}" type="datetimeFigureOut">
              <a:rPr lang="en-US" smtClean="0"/>
              <a:t>1/3/2019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75D9F6-7422-48F2-8A6C-3C4CB49F3925}"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49767B-8DD0-4A45-953D-8094941534E6}" type="datetimeFigureOut">
              <a:rPr lang="en-US" smtClean="0"/>
              <a:pPr/>
              <a:t>1/3/2019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F9E20-B887-4600-B1E3-3C3A8AFB3A82}" type="slidenum">
              <a:rPr lang="en-US" smtClean="0"/>
              <a:pPr/>
              <a:t>‹#›</a:t>
            </a:fld>
            <a:endParaRPr lang="en-US"/>
          </a:p>
        </p:txBody>
      </p:sp>
    </p:spTree>
    <p:extLst>
      <p:ext uri="{BB962C8B-B14F-4D97-AF65-F5344CB8AC3E}">
        <p14:creationId xmlns:p14="http://schemas.microsoft.com/office/powerpoint/2010/main" val="239193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8" Type="http://schemas.openxmlformats.org/officeDocument/2006/relationships/hyperlink" Target="https://www.britannica.com/topic/speech-language" TargetMode="External"/><Relationship Id="rId3" Type="http://schemas.openxmlformats.org/officeDocument/2006/relationships/hyperlink" Target="https://www.britannica.com/place/Poros" TargetMode="External"/><Relationship Id="rId7" Type="http://schemas.openxmlformats.org/officeDocument/2006/relationships/hyperlink" Target="https://www.britannica.com/biography/Alexander-the-Great"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s://www.britannica.com/biography/Philip-II-king-of-Macedonia" TargetMode="External"/><Relationship Id="rId5" Type="http://schemas.openxmlformats.org/officeDocument/2006/relationships/hyperlink" Target="https://www.britannica.com/place/Athens" TargetMode="External"/><Relationship Id="rId4" Type="http://schemas.openxmlformats.org/officeDocument/2006/relationships/hyperlink" Target="https://www.britannica.com/art/Ancient-Greek-literature"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upload.wikimedia.org/wikipedia/commons/b/b9/Steve_Jobs_Headshot_2010-CROP.jpg" TargetMode="External"/><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https://setandbma.files.wordpress.com/2011/08/macbook-air.png"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36F9E20-B887-4600-B1E3-3C3A8AFB3A82}" type="slidenum">
              <a:rPr lang="en-US" smtClean="0"/>
              <a:pPr/>
              <a:t>1</a:t>
            </a:fld>
            <a:endParaRPr lang="en-US"/>
          </a:p>
        </p:txBody>
      </p:sp>
    </p:spTree>
    <p:extLst>
      <p:ext uri="{BB962C8B-B14F-4D97-AF65-F5344CB8AC3E}">
        <p14:creationId xmlns:p14="http://schemas.microsoft.com/office/powerpoint/2010/main" val="2938417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a:t>
            </a:fld>
            <a:endParaRPr lang="en-US"/>
          </a:p>
        </p:txBody>
      </p:sp>
    </p:spTree>
    <p:extLst>
      <p:ext uri="{BB962C8B-B14F-4D97-AF65-F5344CB8AC3E}">
        <p14:creationId xmlns:p14="http://schemas.microsoft.com/office/powerpoint/2010/main" val="2245739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https://www.quora.com/How-many-presentations-are-given-each-day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https://www.tedtakahashi.com/2013/04/05/ten-interesting-facts-about-powerpoint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https://www.thinkoutsidetheslide.com/are-we-wasting-250-million-per-day-due-to-bad-powerpoint//</a:t>
            </a:r>
          </a:p>
        </p:txBody>
      </p:sp>
      <p:sp>
        <p:nvSpPr>
          <p:cNvPr id="4" name="Slide Number Placeholder 3"/>
          <p:cNvSpPr>
            <a:spLocks noGrp="1"/>
          </p:cNvSpPr>
          <p:nvPr>
            <p:ph type="sldNum" sz="quarter" idx="5"/>
          </p:nvPr>
        </p:nvSpPr>
        <p:spPr/>
        <p:txBody>
          <a:bodyPr/>
          <a:lstStyle/>
          <a:p>
            <a:fld id="{636F9E20-B887-4600-B1E3-3C3A8AFB3A82}" type="slidenum">
              <a:rPr lang="en-US" smtClean="0"/>
              <a:pPr/>
              <a:t>3</a:t>
            </a:fld>
            <a:endParaRPr lang="en-US"/>
          </a:p>
        </p:txBody>
      </p:sp>
    </p:spTree>
    <p:extLst>
      <p:ext uri="{BB962C8B-B14F-4D97-AF65-F5344CB8AC3E}">
        <p14:creationId xmlns:p14="http://schemas.microsoft.com/office/powerpoint/2010/main" val="3095853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Ian Parker in </a:t>
            </a:r>
            <a:r>
              <a:rPr lang="en-GB" sz="1200" b="0" i="1" kern="1200" dirty="0">
                <a:solidFill>
                  <a:schemeClr val="tx1"/>
                </a:solidFill>
                <a:effectLst/>
                <a:latin typeface="+mn-lt"/>
                <a:ea typeface="+mn-ea"/>
                <a:cs typeface="+mn-cs"/>
              </a:rPr>
              <a:t>The New </a:t>
            </a:r>
            <a:r>
              <a:rPr lang="en-GB" sz="1200" b="0" i="1" kern="1200" dirty="0" err="1">
                <a:solidFill>
                  <a:schemeClr val="tx1"/>
                </a:solidFill>
                <a:effectLst/>
                <a:latin typeface="+mn-lt"/>
                <a:ea typeface="+mn-ea"/>
                <a:cs typeface="+mn-cs"/>
              </a:rPr>
              <a:t>Yorker</a:t>
            </a:r>
            <a:r>
              <a:rPr lang="en-GB" sz="1200" b="0" i="0" kern="1200" dirty="0" err="1">
                <a:solidFill>
                  <a:schemeClr val="tx1"/>
                </a:solidFill>
                <a:effectLst/>
                <a:latin typeface="+mn-lt"/>
                <a:ea typeface="+mn-ea"/>
                <a:cs typeface="+mn-cs"/>
              </a:rPr>
              <a:t>magazine</a:t>
            </a:r>
            <a:r>
              <a:rPr lang="en-GB" sz="1200" b="0" i="0" kern="1200" dirty="0">
                <a:solidFill>
                  <a:schemeClr val="tx1"/>
                </a:solidFill>
                <a:effectLst/>
                <a:latin typeface="+mn-lt"/>
                <a:ea typeface="+mn-ea"/>
                <a:cs typeface="+mn-cs"/>
              </a:rPr>
              <a:t> states that according to Microsoft estimates, there are more than 30 million PowerPoint presentations made each day. </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4</a:t>
            </a:fld>
            <a:endParaRPr lang="en-US"/>
          </a:p>
        </p:txBody>
      </p:sp>
    </p:spTree>
    <p:extLst>
      <p:ext uri="{BB962C8B-B14F-4D97-AF65-F5344CB8AC3E}">
        <p14:creationId xmlns:p14="http://schemas.microsoft.com/office/powerpoint/2010/main" val="362584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https://www.quora.com/How-many-presentations-are-given-each-day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https://www.tedtakahashi.com/2013/04/05/ten-interesting-facts-about-powerpoint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https://www.thinkoutsidetheslide.com/are-we-wasting-250-million-per-day-due-to-bad-powerpoint//</a:t>
            </a:r>
          </a:p>
        </p:txBody>
      </p:sp>
      <p:sp>
        <p:nvSpPr>
          <p:cNvPr id="4" name="Slide Number Placeholder 3"/>
          <p:cNvSpPr>
            <a:spLocks noGrp="1"/>
          </p:cNvSpPr>
          <p:nvPr>
            <p:ph type="sldNum" sz="quarter" idx="5"/>
          </p:nvPr>
        </p:nvSpPr>
        <p:spPr/>
        <p:txBody>
          <a:bodyPr/>
          <a:lstStyle/>
          <a:p>
            <a:fld id="{636F9E20-B887-4600-B1E3-3C3A8AFB3A82}" type="slidenum">
              <a:rPr lang="en-US" smtClean="0"/>
              <a:pPr/>
              <a:t>5</a:t>
            </a:fld>
            <a:endParaRPr lang="en-US"/>
          </a:p>
        </p:txBody>
      </p:sp>
    </p:spTree>
    <p:extLst>
      <p:ext uri="{BB962C8B-B14F-4D97-AF65-F5344CB8AC3E}">
        <p14:creationId xmlns:p14="http://schemas.microsoft.com/office/powerpoint/2010/main" val="959647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cost of a poor PowerPoint presentation is staggering. Ian Parker in </a:t>
            </a:r>
            <a:r>
              <a:rPr lang="en-GB" sz="1200" b="0" i="1" kern="1200" dirty="0">
                <a:solidFill>
                  <a:schemeClr val="tx1"/>
                </a:solidFill>
                <a:effectLst/>
                <a:latin typeface="+mn-lt"/>
                <a:ea typeface="+mn-ea"/>
                <a:cs typeface="+mn-cs"/>
              </a:rPr>
              <a:t>The New </a:t>
            </a:r>
            <a:r>
              <a:rPr lang="en-GB" sz="1200" b="0" i="1" kern="1200" dirty="0" err="1">
                <a:solidFill>
                  <a:schemeClr val="tx1"/>
                </a:solidFill>
                <a:effectLst/>
                <a:latin typeface="+mn-lt"/>
                <a:ea typeface="+mn-ea"/>
                <a:cs typeface="+mn-cs"/>
              </a:rPr>
              <a:t>Yorker</a:t>
            </a:r>
            <a:r>
              <a:rPr lang="en-GB" sz="1200" b="0" i="0" kern="1200" dirty="0" err="1">
                <a:solidFill>
                  <a:schemeClr val="tx1"/>
                </a:solidFill>
                <a:effectLst/>
                <a:latin typeface="+mn-lt"/>
                <a:ea typeface="+mn-ea"/>
                <a:cs typeface="+mn-cs"/>
              </a:rPr>
              <a:t>magazine</a:t>
            </a:r>
            <a:r>
              <a:rPr lang="en-GB" sz="1200" b="0" i="0" kern="1200" dirty="0">
                <a:solidFill>
                  <a:schemeClr val="tx1"/>
                </a:solidFill>
                <a:effectLst/>
                <a:latin typeface="+mn-lt"/>
                <a:ea typeface="+mn-ea"/>
                <a:cs typeface="+mn-cs"/>
              </a:rPr>
              <a:t> states that according to Microsoft estimates, there are more than 30 million PowerPoint presentations made each day. If we assume some relatively conservative meeting parameters of four people per presentation, a half-hour presentation on average and the wasted time due to a poor presentation is one-quarter of the presentation time, we arrive at a waste of 15 million person hours per day. At an average salary of $35,000 per year for those attending the meeting, the cost of that wasted time is a staggering $252 million and change each </a:t>
            </a:r>
            <a:r>
              <a:rPr lang="en-GB" sz="1200" b="0" i="0" kern="1200" dirty="0" err="1">
                <a:solidFill>
                  <a:schemeClr val="tx1"/>
                </a:solidFill>
                <a:effectLst/>
                <a:latin typeface="+mn-lt"/>
                <a:ea typeface="+mn-ea"/>
                <a:cs typeface="+mn-cs"/>
              </a:rPr>
              <a:t>day.soft</a:t>
            </a:r>
            <a:r>
              <a:rPr lang="en-GB" sz="1200" b="0" i="0" kern="1200" dirty="0">
                <a:solidFill>
                  <a:schemeClr val="tx1"/>
                </a:solidFill>
                <a:effectLst/>
                <a:latin typeface="+mn-lt"/>
                <a:ea typeface="+mn-ea"/>
                <a:cs typeface="+mn-cs"/>
              </a:rPr>
              <a:t> estimates, there are more than 30 million PowerPoint presentations made each day. </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6</a:t>
            </a:fld>
            <a:endParaRPr lang="en-US"/>
          </a:p>
        </p:txBody>
      </p:sp>
    </p:spTree>
    <p:extLst>
      <p:ext uri="{BB962C8B-B14F-4D97-AF65-F5344CB8AC3E}">
        <p14:creationId xmlns:p14="http://schemas.microsoft.com/office/powerpoint/2010/main" val="666443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https://www.quora.com/How-many-presentations-are-given-each-day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https://www.tedtakahashi.com/2013/04/05/ten-interesting-facts-about-powerpoint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https://www.thinkoutsidetheslide.com/are-we-wasting-250-million-per-day-due-to-bad-powerpoint//</a:t>
            </a:r>
          </a:p>
        </p:txBody>
      </p:sp>
      <p:sp>
        <p:nvSpPr>
          <p:cNvPr id="4" name="Slide Number Placeholder 3"/>
          <p:cNvSpPr>
            <a:spLocks noGrp="1"/>
          </p:cNvSpPr>
          <p:nvPr>
            <p:ph type="sldNum" sz="quarter" idx="5"/>
          </p:nvPr>
        </p:nvSpPr>
        <p:spPr/>
        <p:txBody>
          <a:bodyPr/>
          <a:lstStyle/>
          <a:p>
            <a:fld id="{636F9E20-B887-4600-B1E3-3C3A8AFB3A82}" type="slidenum">
              <a:rPr lang="en-US" smtClean="0"/>
              <a:pPr/>
              <a:t>7</a:t>
            </a:fld>
            <a:endParaRPr lang="en-US"/>
          </a:p>
        </p:txBody>
      </p:sp>
    </p:spTree>
    <p:extLst>
      <p:ext uri="{BB962C8B-B14F-4D97-AF65-F5344CB8AC3E}">
        <p14:creationId xmlns:p14="http://schemas.microsoft.com/office/powerpoint/2010/main" val="3717317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Public speaking fear (</a:t>
            </a:r>
            <a:r>
              <a:rPr lang="en-US" sz="1200" b="1" i="0" kern="1200" dirty="0" err="1">
                <a:solidFill>
                  <a:schemeClr val="tx1"/>
                </a:solidFill>
                <a:effectLst/>
                <a:latin typeface="+mn-lt"/>
                <a:ea typeface="+mn-ea"/>
                <a:cs typeface="+mn-cs"/>
              </a:rPr>
              <a:t>Glossophobia</a:t>
            </a:r>
            <a:r>
              <a:rPr lang="en-US" sz="1200" b="0" i="0" kern="1200" dirty="0">
                <a:solidFill>
                  <a:schemeClr val="tx1"/>
                </a:solidFill>
                <a:effectLst/>
                <a:latin typeface="+mn-lt"/>
                <a:ea typeface="+mn-ea"/>
                <a:cs typeface="+mn-cs"/>
              </a:rPr>
              <a:t>) is a form of social anxiety disorder (SAD). There is a lot of misinformation out there about this fear and the number of people suffering from it.</a:t>
            </a:r>
          </a:p>
          <a:p>
            <a:r>
              <a:rPr lang="en-US" sz="1200" b="0" i="0" kern="1200" dirty="0">
                <a:solidFill>
                  <a:schemeClr val="tx1"/>
                </a:solidFill>
                <a:effectLst/>
                <a:latin typeface="+mn-lt"/>
                <a:ea typeface="+mn-ea"/>
                <a:cs typeface="+mn-cs"/>
              </a:rPr>
              <a:t>Don’t freak out!</a:t>
            </a:r>
          </a:p>
          <a:p>
            <a:endParaRPr lang="en-US" dirty="0"/>
          </a:p>
          <a:p>
            <a:r>
              <a:rPr lang="en-US" dirty="0"/>
              <a:t>https://magneticspeaking.com/7-unbelievable-fear-of-public-speaking-statistics/</a:t>
            </a:r>
          </a:p>
          <a:p>
            <a:endParaRPr lang="en-US" dirty="0"/>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8</a:t>
            </a:fld>
            <a:endParaRPr lang="en-US"/>
          </a:p>
        </p:txBody>
      </p:sp>
    </p:spTree>
    <p:extLst>
      <p:ext uri="{BB962C8B-B14F-4D97-AF65-F5344CB8AC3E}">
        <p14:creationId xmlns:p14="http://schemas.microsoft.com/office/powerpoint/2010/main" val="422863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Public speaking fear (</a:t>
            </a:r>
            <a:r>
              <a:rPr lang="en-US" sz="1200" b="1" i="0" kern="1200" dirty="0" err="1">
                <a:solidFill>
                  <a:schemeClr val="tx1"/>
                </a:solidFill>
                <a:effectLst/>
                <a:latin typeface="+mn-lt"/>
                <a:ea typeface="+mn-ea"/>
                <a:cs typeface="+mn-cs"/>
              </a:rPr>
              <a:t>Glossophobia</a:t>
            </a:r>
            <a:r>
              <a:rPr lang="en-US" sz="1200" b="0" i="0" kern="1200" dirty="0">
                <a:solidFill>
                  <a:schemeClr val="tx1"/>
                </a:solidFill>
                <a:effectLst/>
                <a:latin typeface="+mn-lt"/>
                <a:ea typeface="+mn-ea"/>
                <a:cs typeface="+mn-cs"/>
              </a:rPr>
              <a:t>) is a form of social anxiety disorder (SAD). There is a lot of misinformation out there about this fear and the number of people suffering from it.</a:t>
            </a:r>
          </a:p>
          <a:p>
            <a:r>
              <a:rPr lang="en-US" sz="1200" b="0" i="0" kern="1200" dirty="0">
                <a:solidFill>
                  <a:schemeClr val="tx1"/>
                </a:solidFill>
                <a:effectLst/>
                <a:latin typeface="+mn-lt"/>
                <a:ea typeface="+mn-ea"/>
                <a:cs typeface="+mn-cs"/>
              </a:rPr>
              <a:t>Don’t freak out!</a:t>
            </a:r>
          </a:p>
          <a:p>
            <a:endParaRPr lang="en-US" dirty="0"/>
          </a:p>
          <a:p>
            <a:r>
              <a:rPr lang="en-US" dirty="0"/>
              <a:t>https://magneticspeaking.com/7-unbelievable-fear-of-public-speaking-statistics/</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9</a:t>
            </a:fld>
            <a:endParaRPr lang="en-US"/>
          </a:p>
        </p:txBody>
      </p:sp>
    </p:spTree>
    <p:extLst>
      <p:ext uri="{BB962C8B-B14F-4D97-AF65-F5344CB8AC3E}">
        <p14:creationId xmlns:p14="http://schemas.microsoft.com/office/powerpoint/2010/main" val="4102236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Shakespeare said, “Sometimes, less is more”</a:t>
            </a:r>
          </a:p>
        </p:txBody>
      </p:sp>
      <p:sp>
        <p:nvSpPr>
          <p:cNvPr id="4" name="Slide Number Placeholder 3"/>
          <p:cNvSpPr>
            <a:spLocks noGrp="1"/>
          </p:cNvSpPr>
          <p:nvPr>
            <p:ph type="sldNum" sz="quarter" idx="5"/>
          </p:nvPr>
        </p:nvSpPr>
        <p:spPr/>
        <p:txBody>
          <a:bodyPr/>
          <a:lstStyle/>
          <a:p>
            <a:fld id="{636F9E20-B887-4600-B1E3-3C3A8AFB3A82}" type="slidenum">
              <a:rPr lang="en-US" smtClean="0"/>
              <a:pPr/>
              <a:t>14</a:t>
            </a:fld>
            <a:endParaRPr lang="en-US"/>
          </a:p>
        </p:txBody>
      </p:sp>
    </p:spTree>
    <p:extLst>
      <p:ext uri="{BB962C8B-B14F-4D97-AF65-F5344CB8AC3E}">
        <p14:creationId xmlns:p14="http://schemas.microsoft.com/office/powerpoint/2010/main" val="573086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Shakespeare said, “Sometimes, less is more”</a:t>
            </a:r>
          </a:p>
        </p:txBody>
      </p:sp>
      <p:sp>
        <p:nvSpPr>
          <p:cNvPr id="4" name="Slide Number Placeholder 3"/>
          <p:cNvSpPr>
            <a:spLocks noGrp="1"/>
          </p:cNvSpPr>
          <p:nvPr>
            <p:ph type="sldNum" sz="quarter" idx="5"/>
          </p:nvPr>
        </p:nvSpPr>
        <p:spPr/>
        <p:txBody>
          <a:bodyPr/>
          <a:lstStyle/>
          <a:p>
            <a:fld id="{636F9E20-B887-4600-B1E3-3C3A8AFB3A82}" type="slidenum">
              <a:rPr lang="en-US" smtClean="0"/>
              <a:pPr/>
              <a:t>16</a:t>
            </a:fld>
            <a:endParaRPr lang="en-US"/>
          </a:p>
        </p:txBody>
      </p:sp>
    </p:spTree>
    <p:extLst>
      <p:ext uri="{BB962C8B-B14F-4D97-AF65-F5344CB8AC3E}">
        <p14:creationId xmlns:p14="http://schemas.microsoft.com/office/powerpoint/2010/main" val="361789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Shakespeare said, “Sometimes, less is more”</a:t>
            </a:r>
          </a:p>
        </p:txBody>
      </p:sp>
      <p:sp>
        <p:nvSpPr>
          <p:cNvPr id="4" name="Slide Number Placeholder 3"/>
          <p:cNvSpPr>
            <a:spLocks noGrp="1"/>
          </p:cNvSpPr>
          <p:nvPr>
            <p:ph type="sldNum" sz="quarter" idx="5"/>
          </p:nvPr>
        </p:nvSpPr>
        <p:spPr/>
        <p:txBody>
          <a:bodyPr/>
          <a:lstStyle/>
          <a:p>
            <a:fld id="{636F9E20-B887-4600-B1E3-3C3A8AFB3A82}" type="slidenum">
              <a:rPr lang="en-US" smtClean="0"/>
              <a:pPr/>
              <a:t>18</a:t>
            </a:fld>
            <a:endParaRPr lang="en-US"/>
          </a:p>
        </p:txBody>
      </p:sp>
    </p:spTree>
    <p:extLst>
      <p:ext uri="{BB962C8B-B14F-4D97-AF65-F5344CB8AC3E}">
        <p14:creationId xmlns:p14="http://schemas.microsoft.com/office/powerpoint/2010/main" val="755650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Shakespeare said, “Sometimes, less is more”</a:t>
            </a:r>
          </a:p>
        </p:txBody>
      </p:sp>
      <p:sp>
        <p:nvSpPr>
          <p:cNvPr id="4" name="Slide Number Placeholder 3"/>
          <p:cNvSpPr>
            <a:spLocks noGrp="1"/>
          </p:cNvSpPr>
          <p:nvPr>
            <p:ph type="sldNum" sz="quarter" idx="5"/>
          </p:nvPr>
        </p:nvSpPr>
        <p:spPr/>
        <p:txBody>
          <a:bodyPr/>
          <a:lstStyle/>
          <a:p>
            <a:fld id="{636F9E20-B887-4600-B1E3-3C3A8AFB3A82}" type="slidenum">
              <a:rPr lang="en-US" smtClean="0"/>
              <a:pPr/>
              <a:t>20</a:t>
            </a:fld>
            <a:endParaRPr lang="en-US"/>
          </a:p>
        </p:txBody>
      </p:sp>
    </p:spTree>
    <p:extLst>
      <p:ext uri="{BB962C8B-B14F-4D97-AF65-F5344CB8AC3E}">
        <p14:creationId xmlns:p14="http://schemas.microsoft.com/office/powerpoint/2010/main" val="2078680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Shakespeare said, “Sometimes, less is more”</a:t>
            </a:r>
          </a:p>
        </p:txBody>
      </p:sp>
      <p:sp>
        <p:nvSpPr>
          <p:cNvPr id="4" name="Slide Number Placeholder 3"/>
          <p:cNvSpPr>
            <a:spLocks noGrp="1"/>
          </p:cNvSpPr>
          <p:nvPr>
            <p:ph type="sldNum" sz="quarter" idx="5"/>
          </p:nvPr>
        </p:nvSpPr>
        <p:spPr/>
        <p:txBody>
          <a:bodyPr/>
          <a:lstStyle/>
          <a:p>
            <a:fld id="{636F9E20-B887-4600-B1E3-3C3A8AFB3A82}" type="slidenum">
              <a:rPr lang="en-US" smtClean="0"/>
              <a:pPr/>
              <a:t>22</a:t>
            </a:fld>
            <a:endParaRPr lang="en-US"/>
          </a:p>
        </p:txBody>
      </p:sp>
    </p:spTree>
    <p:extLst>
      <p:ext uri="{BB962C8B-B14F-4D97-AF65-F5344CB8AC3E}">
        <p14:creationId xmlns:p14="http://schemas.microsoft.com/office/powerpoint/2010/main" val="3667219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Edith Head was an American costume designer who won a record eight Academy Awards for Best Costume Design,</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23</a:t>
            </a:fld>
            <a:endParaRPr lang="en-US"/>
          </a:p>
        </p:txBody>
      </p:sp>
    </p:spTree>
    <p:extLst>
      <p:ext uri="{BB962C8B-B14F-4D97-AF65-F5344CB8AC3E}">
        <p14:creationId xmlns:p14="http://schemas.microsoft.com/office/powerpoint/2010/main" val="280711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would be </a:t>
            </a:r>
            <a:r>
              <a:rPr lang="en-US" dirty="0" err="1"/>
              <a:t>adrline</a:t>
            </a:r>
            <a:r>
              <a:rPr lang="en-US" dirty="0"/>
              <a:t> rush</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bg1">
                    <a:lumMod val="50000"/>
                  </a:schemeClr>
                </a:solidFill>
                <a:latin typeface="Montserrat ExtraLight" panose="00000300000000000000" pitchFamily="50" charset="0"/>
              </a:rPr>
              <a:t>Stand </a:t>
            </a:r>
            <a:r>
              <a:rPr lang="en-GB" sz="1200" dirty="0">
                <a:solidFill>
                  <a:srgbClr val="FF6600"/>
                </a:solidFill>
                <a:latin typeface="Montserrat ExtraLight" panose="00000300000000000000" pitchFamily="50" charset="0"/>
              </a:rPr>
              <a:t>still</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24</a:t>
            </a:fld>
            <a:endParaRPr lang="en-US"/>
          </a:p>
        </p:txBody>
      </p:sp>
    </p:spTree>
    <p:extLst>
      <p:ext uri="{BB962C8B-B14F-4D97-AF65-F5344CB8AC3E}">
        <p14:creationId xmlns:p14="http://schemas.microsoft.com/office/powerpoint/2010/main" val="352658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Edith Head was an American costume designer who won a record eight Academy Awards for Best Costume Design,</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25</a:t>
            </a:fld>
            <a:endParaRPr lang="en-US"/>
          </a:p>
        </p:txBody>
      </p:sp>
    </p:spTree>
    <p:extLst>
      <p:ext uri="{BB962C8B-B14F-4D97-AF65-F5344CB8AC3E}">
        <p14:creationId xmlns:p14="http://schemas.microsoft.com/office/powerpoint/2010/main" val="2692110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would be </a:t>
            </a:r>
            <a:r>
              <a:rPr lang="en-US" dirty="0" err="1"/>
              <a:t>adrline</a:t>
            </a:r>
            <a:r>
              <a:rPr lang="en-US" dirty="0"/>
              <a:t> rush</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bg1">
                    <a:lumMod val="50000"/>
                  </a:schemeClr>
                </a:solidFill>
                <a:latin typeface="Montserrat ExtraLight" panose="00000300000000000000" pitchFamily="50" charset="0"/>
              </a:rPr>
              <a:t>Stand </a:t>
            </a:r>
            <a:r>
              <a:rPr lang="en-GB" sz="1200" dirty="0">
                <a:solidFill>
                  <a:srgbClr val="FF6600"/>
                </a:solidFill>
                <a:latin typeface="Montserrat ExtraLight" panose="00000300000000000000" pitchFamily="50" charset="0"/>
              </a:rPr>
              <a:t>still</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26</a:t>
            </a:fld>
            <a:endParaRPr lang="en-US"/>
          </a:p>
        </p:txBody>
      </p:sp>
    </p:spTree>
    <p:extLst>
      <p:ext uri="{BB962C8B-B14F-4D97-AF65-F5344CB8AC3E}">
        <p14:creationId xmlns:p14="http://schemas.microsoft.com/office/powerpoint/2010/main" val="3482711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Edith Head was an American costume designer who won a record eight Academy Awards for Best Costume Design,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Confidence is like a muscle: The more you use it, the stronger it gets</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27</a:t>
            </a:fld>
            <a:endParaRPr lang="en-US"/>
          </a:p>
        </p:txBody>
      </p:sp>
    </p:spTree>
    <p:extLst>
      <p:ext uri="{BB962C8B-B14F-4D97-AF65-F5344CB8AC3E}">
        <p14:creationId xmlns:p14="http://schemas.microsoft.com/office/powerpoint/2010/main" val="1052210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 the audience, stories would be remembered</a:t>
            </a:r>
          </a:p>
        </p:txBody>
      </p:sp>
      <p:sp>
        <p:nvSpPr>
          <p:cNvPr id="4" name="Slide Number Placeholder 3"/>
          <p:cNvSpPr>
            <a:spLocks noGrp="1"/>
          </p:cNvSpPr>
          <p:nvPr>
            <p:ph type="sldNum" sz="quarter" idx="5"/>
          </p:nvPr>
        </p:nvSpPr>
        <p:spPr/>
        <p:txBody>
          <a:bodyPr/>
          <a:lstStyle/>
          <a:p>
            <a:fld id="{636F9E20-B887-4600-B1E3-3C3A8AFB3A82}" type="slidenum">
              <a:rPr lang="en-US" smtClean="0"/>
              <a:pPr/>
              <a:t>28</a:t>
            </a:fld>
            <a:endParaRPr lang="en-US"/>
          </a:p>
        </p:txBody>
      </p:sp>
    </p:spTree>
    <p:extLst>
      <p:ext uri="{BB962C8B-B14F-4D97-AF65-F5344CB8AC3E}">
        <p14:creationId xmlns:p14="http://schemas.microsoft.com/office/powerpoint/2010/main" val="25435472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 the audience, stories would be remembered</a:t>
            </a:r>
          </a:p>
        </p:txBody>
      </p:sp>
      <p:sp>
        <p:nvSpPr>
          <p:cNvPr id="4" name="Slide Number Placeholder 3"/>
          <p:cNvSpPr>
            <a:spLocks noGrp="1"/>
          </p:cNvSpPr>
          <p:nvPr>
            <p:ph type="sldNum" sz="quarter" idx="5"/>
          </p:nvPr>
        </p:nvSpPr>
        <p:spPr/>
        <p:txBody>
          <a:bodyPr/>
          <a:lstStyle/>
          <a:p>
            <a:fld id="{636F9E20-B887-4600-B1E3-3C3A8AFB3A82}" type="slidenum">
              <a:rPr lang="en-US" smtClean="0"/>
              <a:pPr/>
              <a:t>29</a:t>
            </a:fld>
            <a:endParaRPr lang="en-US"/>
          </a:p>
        </p:txBody>
      </p:sp>
    </p:spTree>
    <p:extLst>
      <p:ext uri="{BB962C8B-B14F-4D97-AF65-F5344CB8AC3E}">
        <p14:creationId xmlns:p14="http://schemas.microsoft.com/office/powerpoint/2010/main" val="2367237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would be </a:t>
            </a:r>
            <a:r>
              <a:rPr lang="en-US" dirty="0" err="1"/>
              <a:t>adrline</a:t>
            </a:r>
            <a:r>
              <a:rPr lang="en-US" dirty="0"/>
              <a:t> rush</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bg1">
                    <a:lumMod val="50000"/>
                  </a:schemeClr>
                </a:solidFill>
                <a:latin typeface="Montserrat ExtraLight" panose="00000300000000000000" pitchFamily="50" charset="0"/>
              </a:rPr>
              <a:t>Stand </a:t>
            </a:r>
            <a:r>
              <a:rPr lang="en-GB" sz="1200" dirty="0">
                <a:solidFill>
                  <a:srgbClr val="FF6600"/>
                </a:solidFill>
                <a:latin typeface="Montserrat ExtraLight" panose="00000300000000000000" pitchFamily="50" charset="0"/>
              </a:rPr>
              <a:t>still</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31</a:t>
            </a:fld>
            <a:endParaRPr lang="en-US"/>
          </a:p>
        </p:txBody>
      </p:sp>
    </p:spTree>
    <p:extLst>
      <p:ext uri="{BB962C8B-B14F-4D97-AF65-F5344CB8AC3E}">
        <p14:creationId xmlns:p14="http://schemas.microsoft.com/office/powerpoint/2010/main" val="4878429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Edith Head was an American costume designer who won a record eight Academy Awards for Best Costume Design,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Confidence is like a muscle: The more you use it, the stronger it gets</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32</a:t>
            </a:fld>
            <a:endParaRPr lang="en-US"/>
          </a:p>
        </p:txBody>
      </p:sp>
    </p:spTree>
    <p:extLst>
      <p:ext uri="{BB962C8B-B14F-4D97-AF65-F5344CB8AC3E}">
        <p14:creationId xmlns:p14="http://schemas.microsoft.com/office/powerpoint/2010/main" val="3624218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would be </a:t>
            </a:r>
            <a:r>
              <a:rPr lang="en-US" dirty="0" err="1"/>
              <a:t>adrline</a:t>
            </a:r>
            <a:r>
              <a:rPr lang="en-US" dirty="0"/>
              <a:t> rush</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bg1">
                    <a:lumMod val="50000"/>
                  </a:schemeClr>
                </a:solidFill>
                <a:latin typeface="Montserrat ExtraLight" panose="00000300000000000000" pitchFamily="50" charset="0"/>
              </a:rPr>
              <a:t>Stand </a:t>
            </a:r>
            <a:r>
              <a:rPr lang="en-GB" sz="1200" dirty="0">
                <a:solidFill>
                  <a:srgbClr val="FF6600"/>
                </a:solidFill>
                <a:latin typeface="Montserrat ExtraLight" panose="00000300000000000000" pitchFamily="50" charset="0"/>
              </a:rPr>
              <a:t>still</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33</a:t>
            </a:fld>
            <a:endParaRPr lang="en-US"/>
          </a:p>
        </p:txBody>
      </p:sp>
    </p:spTree>
    <p:extLst>
      <p:ext uri="{BB962C8B-B14F-4D97-AF65-F5344CB8AC3E}">
        <p14:creationId xmlns:p14="http://schemas.microsoft.com/office/powerpoint/2010/main" val="2679015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Edith Head was an American costume designer who won a record eight Academy Awards for Best Costume Design,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Confidence is like a muscle: The more you use it, the stronger it gets</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34</a:t>
            </a:fld>
            <a:endParaRPr lang="en-US"/>
          </a:p>
        </p:txBody>
      </p:sp>
    </p:spTree>
    <p:extLst>
      <p:ext uri="{BB962C8B-B14F-4D97-AF65-F5344CB8AC3E}">
        <p14:creationId xmlns:p14="http://schemas.microsoft.com/office/powerpoint/2010/main" val="1485594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90045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Demosthenes</a:t>
            </a:r>
            <a:r>
              <a:rPr lang="en-GB" sz="1200" b="0" i="0" kern="1200" dirty="0">
                <a:solidFill>
                  <a:schemeClr val="tx1"/>
                </a:solidFill>
                <a:effectLst/>
                <a:latin typeface="+mn-lt"/>
                <a:ea typeface="+mn-ea"/>
                <a:cs typeface="+mn-cs"/>
              </a:rPr>
              <a:t>, (born 384 </a:t>
            </a:r>
            <a:r>
              <a:rPr lang="en-GB" sz="1200" b="0" i="0" kern="1200" cap="all" dirty="0">
                <a:solidFill>
                  <a:schemeClr val="tx1"/>
                </a:solidFill>
                <a:effectLst/>
                <a:latin typeface="+mn-lt"/>
                <a:ea typeface="+mn-ea"/>
                <a:cs typeface="+mn-cs"/>
              </a:rPr>
              <a:t>BCE</a:t>
            </a:r>
            <a:r>
              <a:rPr lang="en-GB" sz="1200" b="0" i="0" kern="1200" dirty="0">
                <a:solidFill>
                  <a:schemeClr val="tx1"/>
                </a:solidFill>
                <a:effectLst/>
                <a:latin typeface="+mn-lt"/>
                <a:ea typeface="+mn-ea"/>
                <a:cs typeface="+mn-cs"/>
              </a:rPr>
              <a:t>, Athens [Greece]—died Oct. 12, 322, </a:t>
            </a:r>
            <a:r>
              <a:rPr lang="en-GB" sz="1200" b="0" i="0" u="sng" kern="1200" dirty="0" err="1">
                <a:solidFill>
                  <a:schemeClr val="tx1"/>
                </a:solidFill>
                <a:effectLst/>
                <a:latin typeface="+mn-lt"/>
                <a:ea typeface="+mn-ea"/>
                <a:cs typeface="+mn-cs"/>
                <a:hlinkClick r:id="rId3"/>
              </a:rPr>
              <a:t>Calauria</a:t>
            </a:r>
            <a:r>
              <a:rPr lang="en-GB" sz="1200" b="0" i="0" kern="1200" dirty="0">
                <a:solidFill>
                  <a:schemeClr val="tx1"/>
                </a:solidFill>
                <a:effectLst/>
                <a:latin typeface="+mn-lt"/>
                <a:ea typeface="+mn-ea"/>
                <a:cs typeface="+mn-cs"/>
              </a:rPr>
              <a:t>, Argolis), Athenian statesman, recognized as the greatest of </a:t>
            </a:r>
            <a:r>
              <a:rPr lang="en-GB" sz="1200" b="0" i="0" u="sng" kern="1200" dirty="0">
                <a:solidFill>
                  <a:schemeClr val="tx1"/>
                </a:solidFill>
                <a:effectLst/>
                <a:latin typeface="+mn-lt"/>
                <a:ea typeface="+mn-ea"/>
                <a:cs typeface="+mn-cs"/>
                <a:hlinkClick r:id="rId4"/>
              </a:rPr>
              <a:t>ancient Greek</a:t>
            </a:r>
            <a:r>
              <a:rPr lang="en-GB" sz="1200" b="0" i="0" kern="1200" dirty="0">
                <a:solidFill>
                  <a:schemeClr val="tx1"/>
                </a:solidFill>
                <a:effectLst/>
                <a:latin typeface="+mn-lt"/>
                <a:ea typeface="+mn-ea"/>
                <a:cs typeface="+mn-cs"/>
              </a:rPr>
              <a:t> orators, who roused </a:t>
            </a:r>
            <a:r>
              <a:rPr lang="en-GB" sz="1200" b="0" i="0" u="sng" kern="1200" dirty="0">
                <a:solidFill>
                  <a:schemeClr val="tx1"/>
                </a:solidFill>
                <a:effectLst/>
                <a:latin typeface="+mn-lt"/>
                <a:ea typeface="+mn-ea"/>
                <a:cs typeface="+mn-cs"/>
                <a:hlinkClick r:id="rId5"/>
              </a:rPr>
              <a:t>Athens</a:t>
            </a:r>
            <a:r>
              <a:rPr lang="en-GB" sz="1200" b="0" i="0" kern="1200" dirty="0">
                <a:solidFill>
                  <a:schemeClr val="tx1"/>
                </a:solidFill>
                <a:effectLst/>
                <a:latin typeface="+mn-lt"/>
                <a:ea typeface="+mn-ea"/>
                <a:cs typeface="+mn-cs"/>
              </a:rPr>
              <a:t> to oppose </a:t>
            </a:r>
            <a:r>
              <a:rPr lang="en-GB" sz="1200" b="0" i="0" u="sng" kern="1200" dirty="0">
                <a:solidFill>
                  <a:schemeClr val="tx1"/>
                </a:solidFill>
                <a:effectLst/>
                <a:latin typeface="+mn-lt"/>
                <a:ea typeface="+mn-ea"/>
                <a:cs typeface="+mn-cs"/>
                <a:hlinkClick r:id="rId6"/>
              </a:rPr>
              <a:t>Philip of Macedon</a:t>
            </a:r>
            <a:r>
              <a:rPr lang="en-GB" sz="1200" b="0" i="0" kern="1200" dirty="0">
                <a:solidFill>
                  <a:schemeClr val="tx1"/>
                </a:solidFill>
                <a:effectLst/>
                <a:latin typeface="+mn-lt"/>
                <a:ea typeface="+mn-ea"/>
                <a:cs typeface="+mn-cs"/>
              </a:rPr>
              <a:t> and, later, his son </a:t>
            </a:r>
            <a:r>
              <a:rPr lang="en-GB" sz="1200" b="0" i="0" u="sng" kern="1200" dirty="0">
                <a:solidFill>
                  <a:schemeClr val="tx1"/>
                </a:solidFill>
                <a:effectLst/>
                <a:latin typeface="+mn-lt"/>
                <a:ea typeface="+mn-ea"/>
                <a:cs typeface="+mn-cs"/>
                <a:hlinkClick r:id="rId7"/>
              </a:rPr>
              <a:t>Alexander the Great</a:t>
            </a:r>
            <a:r>
              <a:rPr lang="en-GB" sz="1200" b="0" i="0" kern="1200" dirty="0">
                <a:solidFill>
                  <a:schemeClr val="tx1"/>
                </a:solidFill>
                <a:effectLst/>
                <a:latin typeface="+mn-lt"/>
                <a:ea typeface="+mn-ea"/>
                <a:cs typeface="+mn-cs"/>
              </a:rPr>
              <a:t>. His speeches provide valuable information on the political, social, and economic life of 4th-century Athens.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Demosthenes built an underground study where he exercised his voice, shaving one half of his head so that he could not go out in public. </a:t>
            </a:r>
          </a:p>
          <a:p>
            <a:r>
              <a:rPr lang="en-GB" sz="1200" b="0" i="0" kern="1200" dirty="0">
                <a:solidFill>
                  <a:schemeClr val="tx1"/>
                </a:solidFill>
                <a:effectLst/>
                <a:latin typeface="+mn-lt"/>
                <a:ea typeface="+mn-ea"/>
                <a:cs typeface="+mn-cs"/>
              </a:rPr>
              <a:t>Plutarch adds that Demosthenes had a </a:t>
            </a:r>
            <a:r>
              <a:rPr lang="en-GB" sz="1200" b="0" i="0" u="sng" kern="1200" dirty="0">
                <a:solidFill>
                  <a:schemeClr val="tx1"/>
                </a:solidFill>
                <a:effectLst/>
                <a:latin typeface="+mn-lt"/>
                <a:ea typeface="+mn-ea"/>
                <a:cs typeface="+mn-cs"/>
                <a:hlinkClick r:id="rId8"/>
              </a:rPr>
              <a:t>speech</a:t>
            </a:r>
            <a:r>
              <a:rPr lang="en-GB" sz="1200" b="0" i="0" kern="1200" dirty="0">
                <a:solidFill>
                  <a:schemeClr val="tx1"/>
                </a:solidFill>
                <a:effectLst/>
                <a:latin typeface="+mn-lt"/>
                <a:ea typeface="+mn-ea"/>
                <a:cs typeface="+mn-cs"/>
              </a:rPr>
              <a:t> defect, “an inarticulate and stammering pronunciation” that he overcame by speaking with pebbles in his mouth and by reciting verses when running or out of breath. He also practiced speaking before a large mirror.</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36</a:t>
            </a:fld>
            <a:endParaRPr lang="en-US"/>
          </a:p>
        </p:txBody>
      </p:sp>
    </p:spTree>
    <p:extLst>
      <p:ext uri="{BB962C8B-B14F-4D97-AF65-F5344CB8AC3E}">
        <p14:creationId xmlns:p14="http://schemas.microsoft.com/office/powerpoint/2010/main" val="3881387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https://youtu.be/eIho2S0ZahI</a:t>
            </a:r>
          </a:p>
        </p:txBody>
      </p:sp>
      <p:sp>
        <p:nvSpPr>
          <p:cNvPr id="4" name="Slide Number Placeholder 3"/>
          <p:cNvSpPr>
            <a:spLocks noGrp="1"/>
          </p:cNvSpPr>
          <p:nvPr>
            <p:ph type="sldNum" sz="quarter" idx="5"/>
          </p:nvPr>
        </p:nvSpPr>
        <p:spPr/>
        <p:txBody>
          <a:bodyPr/>
          <a:lstStyle/>
          <a:p>
            <a:fld id="{636F9E20-B887-4600-B1E3-3C3A8AFB3A82}" type="slidenum">
              <a:rPr lang="en-US" smtClean="0"/>
              <a:pPr/>
              <a:t>37</a:t>
            </a:fld>
            <a:endParaRPr lang="en-US"/>
          </a:p>
        </p:txBody>
      </p:sp>
    </p:spTree>
    <p:extLst>
      <p:ext uri="{BB962C8B-B14F-4D97-AF65-F5344CB8AC3E}">
        <p14:creationId xmlns:p14="http://schemas.microsoft.com/office/powerpoint/2010/main" val="923767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http://eslide.com/visuals-are-key-to-presentation-success/</a:t>
            </a:r>
          </a:p>
          <a:p>
            <a:r>
              <a:rPr lang="en-US" dirty="0"/>
              <a:t>https://www.forbes.com/sites/markfidelman/2014/08/15/20-world-class-presentation-experts-share-their-top-tips/#71ab6ecc5c40</a:t>
            </a:r>
          </a:p>
          <a:p>
            <a:endParaRPr lang="en-US" dirty="0"/>
          </a:p>
        </p:txBody>
      </p:sp>
      <p:sp>
        <p:nvSpPr>
          <p:cNvPr id="4" name="Slide Number Placeholder 3"/>
          <p:cNvSpPr>
            <a:spLocks noGrp="1"/>
          </p:cNvSpPr>
          <p:nvPr>
            <p:ph type="sldNum" sz="quarter" idx="10"/>
          </p:nvPr>
        </p:nvSpPr>
        <p:spPr/>
        <p:txBody>
          <a:bodyPr/>
          <a:lstStyle/>
          <a:p>
            <a:fld id="{636F9E20-B887-4600-B1E3-3C3A8AFB3A82}" type="slidenum">
              <a:rPr lang="en-US" smtClean="0"/>
              <a:pPr/>
              <a:t>39</a:t>
            </a:fld>
            <a:endParaRPr lang="en-US"/>
          </a:p>
        </p:txBody>
      </p:sp>
    </p:spTree>
    <p:extLst>
      <p:ext uri="{BB962C8B-B14F-4D97-AF65-F5344CB8AC3E}">
        <p14:creationId xmlns:p14="http://schemas.microsoft.com/office/powerpoint/2010/main" val="18880542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https://www.yodiz.com/blog/effective-communication-5-surprising-facts-you-should-know/</a:t>
            </a:r>
          </a:p>
        </p:txBody>
      </p:sp>
      <p:sp>
        <p:nvSpPr>
          <p:cNvPr id="4" name="Slide Number Placeholder 3"/>
          <p:cNvSpPr>
            <a:spLocks noGrp="1"/>
          </p:cNvSpPr>
          <p:nvPr>
            <p:ph type="sldNum" sz="quarter" idx="10"/>
          </p:nvPr>
        </p:nvSpPr>
        <p:spPr/>
        <p:txBody>
          <a:bodyPr/>
          <a:lstStyle/>
          <a:p>
            <a:fld id="{636F9E20-B887-4600-B1E3-3C3A8AFB3A82}" type="slidenum">
              <a:rPr lang="en-US" smtClean="0"/>
              <a:pPr/>
              <a:t>47</a:t>
            </a:fld>
            <a:endParaRPr lang="en-US"/>
          </a:p>
        </p:txBody>
      </p:sp>
    </p:spTree>
    <p:extLst>
      <p:ext uri="{BB962C8B-B14F-4D97-AF65-F5344CB8AC3E}">
        <p14:creationId xmlns:p14="http://schemas.microsoft.com/office/powerpoint/2010/main" val="40669582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 Facial expressions matter way more</a:t>
            </a:r>
          </a:p>
          <a:p>
            <a:r>
              <a:rPr lang="en-US" sz="1200" b="0" i="0" kern="1200" dirty="0">
                <a:solidFill>
                  <a:schemeClr val="tx1"/>
                </a:solidFill>
                <a:effectLst/>
                <a:latin typeface="+mn-lt"/>
                <a:ea typeface="+mn-ea"/>
                <a:cs typeface="+mn-cs"/>
              </a:rPr>
              <a:t>We care very less about our expressions; our focus is words. What if I tell you that more than half of what you said just doesn’t matter because your expressions weren’t aligning with your words.</a:t>
            </a:r>
          </a:p>
          <a:p>
            <a:r>
              <a:rPr lang="en-US" sz="1200" b="0" i="0" kern="1200" dirty="0">
                <a:solidFill>
                  <a:schemeClr val="tx1"/>
                </a:solidFill>
                <a:effectLst/>
                <a:latin typeface="+mn-lt"/>
                <a:ea typeface="+mn-ea"/>
                <a:cs typeface="+mn-cs"/>
              </a:rPr>
              <a:t>2. Our thinking and listening doesn’t align</a:t>
            </a:r>
          </a:p>
          <a:p>
            <a:r>
              <a:rPr lang="en-US" sz="1200" b="0" i="0" kern="1200" dirty="0">
                <a:solidFill>
                  <a:schemeClr val="tx1"/>
                </a:solidFill>
                <a:effectLst/>
                <a:latin typeface="+mn-lt"/>
                <a:ea typeface="+mn-ea"/>
                <a:cs typeface="+mn-cs"/>
              </a:rPr>
              <a:t>Not just that they don’t get along well but they seriously have some issues. Apparently our hearing is much slower than our brain’s ability to think. We listen only 100-125 words per minute while our brain can utilize up to 3000 words per minute during thinking.</a:t>
            </a:r>
          </a:p>
          <a:p>
            <a:r>
              <a:rPr lang="en-US" sz="1200" b="0" i="0" kern="1200" dirty="0">
                <a:solidFill>
                  <a:schemeClr val="tx1"/>
                </a:solidFill>
                <a:effectLst/>
                <a:latin typeface="+mn-lt"/>
                <a:ea typeface="+mn-ea"/>
                <a:cs typeface="+mn-cs"/>
              </a:rPr>
              <a:t>3. Listening and vision also have conflicts</a:t>
            </a:r>
          </a:p>
          <a:p>
            <a:r>
              <a:rPr lang="en-US" sz="1200" b="0" i="0" kern="1200" dirty="0">
                <a:solidFill>
                  <a:schemeClr val="tx1"/>
                </a:solidFill>
                <a:effectLst/>
                <a:latin typeface="+mn-lt"/>
                <a:ea typeface="+mn-ea"/>
                <a:cs typeface="+mn-cs"/>
              </a:rPr>
              <a:t>We process images faster than words. We can only listen and store 7 bits of information at a single time. While our vision stores the images seen forever in our long term memory. We are more likely to remember images for a longer time.</a:t>
            </a:r>
          </a:p>
          <a:p>
            <a:r>
              <a:rPr lang="en-US" sz="1200" b="0" i="0" kern="1200" dirty="0">
                <a:solidFill>
                  <a:schemeClr val="tx1"/>
                </a:solidFill>
                <a:effectLst/>
                <a:latin typeface="+mn-lt"/>
                <a:ea typeface="+mn-ea"/>
                <a:cs typeface="+mn-cs"/>
              </a:rPr>
              <a:t>4. Your employer loves effective communication</a:t>
            </a:r>
          </a:p>
          <a:p>
            <a:r>
              <a:rPr lang="en-US" sz="1200" b="0" i="0" kern="1200" dirty="0">
                <a:solidFill>
                  <a:schemeClr val="tx1"/>
                </a:solidFill>
                <a:effectLst/>
                <a:latin typeface="+mn-lt"/>
                <a:ea typeface="+mn-ea"/>
                <a:cs typeface="+mn-cs"/>
              </a:rPr>
              <a:t>The best employers want someone with exceptional communication skills. Someone who knows about verbal communication and has fair knowledge on how to improve communications skills for benefit of the company. Even your promotions are based on your ability to overcome communication barriers.</a:t>
            </a:r>
          </a:p>
          <a:p>
            <a:r>
              <a:rPr lang="en-US" sz="1200" b="0" i="0" kern="1200" dirty="0">
                <a:solidFill>
                  <a:schemeClr val="tx1"/>
                </a:solidFill>
                <a:effectLst/>
                <a:latin typeface="+mn-lt"/>
                <a:ea typeface="+mn-ea"/>
                <a:cs typeface="+mn-cs"/>
              </a:rPr>
              <a:t>5. Words definitely speak louder</a:t>
            </a:r>
          </a:p>
          <a:p>
            <a:r>
              <a:rPr lang="en-US" sz="1200" b="0" i="0" kern="1200" dirty="0">
                <a:solidFill>
                  <a:schemeClr val="tx1"/>
                </a:solidFill>
                <a:effectLst/>
                <a:latin typeface="+mn-lt"/>
                <a:ea typeface="+mn-ea"/>
                <a:cs typeface="+mn-cs"/>
              </a:rPr>
              <a:t>Our words have the ability to impact others. The impact sometime is vast enough to spread over decades. Our words can influence people positively and negatively. It might hurt someone more than we can imagine. According to a study emotional distress is felt more deeply. Most of this distress is caused by what we say to each other.</a:t>
            </a:r>
          </a:p>
          <a:p>
            <a:endParaRPr lang="en-US" dirty="0"/>
          </a:p>
        </p:txBody>
      </p:sp>
      <p:sp>
        <p:nvSpPr>
          <p:cNvPr id="4" name="Slide Number Placeholder 3"/>
          <p:cNvSpPr>
            <a:spLocks noGrp="1"/>
          </p:cNvSpPr>
          <p:nvPr>
            <p:ph type="sldNum" sz="quarter" idx="10"/>
          </p:nvPr>
        </p:nvSpPr>
        <p:spPr/>
        <p:txBody>
          <a:bodyPr/>
          <a:lstStyle/>
          <a:p>
            <a:fld id="{636F9E20-B887-4600-B1E3-3C3A8AFB3A82}" type="slidenum">
              <a:rPr lang="en-US" smtClean="0"/>
              <a:pPr/>
              <a:t>51</a:t>
            </a:fld>
            <a:endParaRPr lang="en-US"/>
          </a:p>
        </p:txBody>
      </p:sp>
    </p:spTree>
    <p:extLst>
      <p:ext uri="{BB962C8B-B14F-4D97-AF65-F5344CB8AC3E}">
        <p14:creationId xmlns:p14="http://schemas.microsoft.com/office/powerpoint/2010/main" val="28395073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https://www.yodiz.com/blog/learning-presentation-skills-from-steve-jobs-speech-and-keynotes/</a:t>
            </a:r>
          </a:p>
          <a:p>
            <a:endParaRPr lang="en-US" dirty="0"/>
          </a:p>
          <a:p>
            <a:r>
              <a:rPr lang="en-US" sz="1200" b="0" i="0" kern="1200" dirty="0">
                <a:solidFill>
                  <a:schemeClr val="tx1"/>
                </a:solidFill>
                <a:effectLst/>
                <a:latin typeface="+mn-lt"/>
                <a:ea typeface="+mn-ea"/>
                <a:cs typeface="+mn-cs"/>
              </a:rPr>
              <a:t>1. Concise Headings and Theme</a:t>
            </a:r>
          </a:p>
          <a:p>
            <a:r>
              <a:rPr lang="en-US" sz="1200" b="0" i="0" kern="1200" dirty="0">
                <a:solidFill>
                  <a:schemeClr val="tx1"/>
                </a:solidFill>
                <a:effectLst/>
                <a:latin typeface="+mn-lt"/>
                <a:ea typeface="+mn-ea"/>
                <a:cs typeface="+mn-cs"/>
              </a:rPr>
              <a:t>Theme meant a lot to </a:t>
            </a:r>
            <a:r>
              <a:rPr lang="en-US" sz="1200" b="0" i="0" kern="1200" dirty="0" err="1">
                <a:solidFill>
                  <a:schemeClr val="tx1"/>
                </a:solidFill>
                <a:effectLst/>
                <a:latin typeface="+mn-lt"/>
                <a:ea typeface="+mn-ea"/>
                <a:cs typeface="+mn-cs"/>
              </a:rPr>
              <a:t>Jobs.He</a:t>
            </a:r>
            <a:r>
              <a:rPr lang="en-US" sz="1200" b="0" i="0" kern="1200" dirty="0">
                <a:solidFill>
                  <a:schemeClr val="tx1"/>
                </a:solidFill>
                <a:effectLst/>
                <a:latin typeface="+mn-lt"/>
                <a:ea typeface="+mn-ea"/>
                <a:cs typeface="+mn-cs"/>
              </a:rPr>
              <a:t> always started with a headline which can be easily remembered and is short and comprehensive. The headings were short enough to be posted on twitter. In iPhone 2007 launch, one heading was “Your life in your pocket”. This meant that iPhone has so many features that it almost covers all aspects of your social requirements. But instead of putting up never ending slides. He just put up “Your life in your pocket”.</a:t>
            </a:r>
          </a:p>
          <a:p>
            <a:r>
              <a:rPr lang="en-US" sz="1200" b="0" i="0" kern="1200" dirty="0">
                <a:solidFill>
                  <a:schemeClr val="tx1"/>
                </a:solidFill>
                <a:effectLst/>
                <a:latin typeface="+mn-lt"/>
                <a:ea typeface="+mn-ea"/>
                <a:cs typeface="+mn-cs"/>
              </a:rPr>
              <a:t>2. Interesting stories</a:t>
            </a:r>
          </a:p>
          <a:p>
            <a:r>
              <a:rPr lang="en-US" sz="1200" b="0" i="0" kern="1200" dirty="0">
                <a:solidFill>
                  <a:schemeClr val="tx1"/>
                </a:solidFill>
                <a:effectLst/>
                <a:latin typeface="+mn-lt"/>
                <a:ea typeface="+mn-ea"/>
                <a:cs typeface="+mn-cs"/>
              </a:rPr>
              <a:t>Jobs always did that. He knew how to interact with audience. He presented himself from audience point of view. He told stories that are commonly experienced by users regarding Apple’s products. Once he said in a presentation “I was sitting in this cafe using iPad and noticed this girl totally checking me out”. His slide consisted of just these few words. While he explained the story himself about Apple’s products getting you girls and absolutely had everyone laughing.</a:t>
            </a:r>
          </a:p>
          <a:p>
            <a:r>
              <a:rPr lang="en-US" sz="1200" b="0" i="0" kern="1200" dirty="0">
                <a:solidFill>
                  <a:schemeClr val="tx1"/>
                </a:solidFill>
                <a:effectLst/>
                <a:latin typeface="+mn-lt"/>
                <a:ea typeface="+mn-ea"/>
                <a:cs typeface="+mn-cs"/>
              </a:rPr>
              <a:t>3. His style Was Fewer Words</a:t>
            </a:r>
          </a:p>
          <a:p>
            <a:r>
              <a:rPr lang="en-US" sz="1200" b="0" i="0" kern="1200" dirty="0">
                <a:solidFill>
                  <a:schemeClr val="tx1"/>
                </a:solidFill>
                <a:effectLst/>
                <a:latin typeface="+mn-lt"/>
                <a:ea typeface="+mn-ea"/>
                <a:cs typeface="+mn-cs"/>
              </a:rPr>
              <a:t>No matter how long the topic was. Jobs always managed to cover in fewer words.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“Music, calls and internet.” – introducing iPhone</a:t>
            </a:r>
            <a:br>
              <a:rPr lang="en-US" sz="1200" b="1"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“Thousand songs in your pocket.” – introducing iPod.</a:t>
            </a:r>
            <a:br>
              <a:rPr lang="en-US" sz="1200" b="1"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“Touch your music.” – introducing iPod touch.</a:t>
            </a:r>
            <a:br>
              <a:rPr lang="en-US" sz="1200" b="1"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world’s thinnest notebook.” – introducing MacBook Air.</a:t>
            </a:r>
            <a:br>
              <a:rPr lang="en-US" sz="1200" b="1"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 summed up the product in few minimal words and had the audience completely persuaded.</a:t>
            </a:r>
          </a:p>
          <a:p>
            <a:r>
              <a:rPr lang="en-US" sz="1200" b="0" i="0" kern="1200" dirty="0">
                <a:solidFill>
                  <a:schemeClr val="tx1"/>
                </a:solidFill>
                <a:effectLst/>
                <a:latin typeface="+mn-lt"/>
                <a:ea typeface="+mn-ea"/>
                <a:cs typeface="+mn-cs"/>
              </a:rPr>
              <a:t>“Music, calls and internet.” – </a:t>
            </a:r>
            <a:r>
              <a:rPr lang="en-US" sz="1200" b="1" i="0" kern="1200" dirty="0">
                <a:solidFill>
                  <a:schemeClr val="tx1"/>
                </a:solidFill>
                <a:effectLst/>
                <a:latin typeface="+mn-lt"/>
                <a:ea typeface="+mn-ea"/>
                <a:cs typeface="+mn-cs"/>
              </a:rPr>
              <a:t>Jobs introducing iPhone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4. Give The Remember-able Statistics</a:t>
            </a:r>
          </a:p>
          <a:p>
            <a:r>
              <a:rPr lang="en-US" sz="1200" b="0" i="0" kern="1200" dirty="0">
                <a:solidFill>
                  <a:schemeClr val="tx1"/>
                </a:solidFill>
                <a:effectLst/>
                <a:latin typeface="+mn-lt"/>
                <a:ea typeface="+mn-ea"/>
                <a:cs typeface="+mn-cs"/>
              </a:rPr>
              <a:t>He always had the numbers simplified. In his presentation when he wanted to tell the progress of iTunes, instead of saying that 25 billion songs have been downloaded from iTunes. He said that 15,000 songs are downloaded from iTunes every minute and that’s pretty huge and memorable.</a:t>
            </a:r>
          </a:p>
          <a:p>
            <a:r>
              <a:rPr lang="en-US" sz="1200" b="0" i="0" kern="1200" dirty="0">
                <a:solidFill>
                  <a:schemeClr val="tx1"/>
                </a:solidFill>
                <a:effectLst/>
                <a:latin typeface="+mn-lt"/>
                <a:ea typeface="+mn-ea"/>
                <a:cs typeface="+mn-cs"/>
              </a:rPr>
              <a:t>5. Images</a:t>
            </a:r>
          </a:p>
          <a:p>
            <a:r>
              <a:rPr lang="en-US" sz="1200" b="0" i="0" kern="1200" dirty="0">
                <a:solidFill>
                  <a:schemeClr val="tx1"/>
                </a:solidFill>
                <a:effectLst/>
                <a:latin typeface="+mn-lt"/>
                <a:ea typeface="+mn-ea"/>
                <a:cs typeface="+mn-cs"/>
              </a:rPr>
              <a:t>He had incredible images in his presentation. There wasn’t too much media. It was just focused on one or two images which were enough and represented the whole point.</a:t>
            </a:r>
          </a:p>
          <a:p>
            <a:r>
              <a:rPr lang="en-US" sz="1200" b="0" i="0" kern="1200" dirty="0">
                <a:solidFill>
                  <a:schemeClr val="tx1"/>
                </a:solidFill>
                <a:effectLst/>
                <a:latin typeface="+mn-lt"/>
                <a:ea typeface="+mn-ea"/>
                <a:cs typeface="+mn-cs"/>
              </a:rPr>
              <a:t>6. Fewer Text</a:t>
            </a:r>
          </a:p>
          <a:p>
            <a:r>
              <a:rPr lang="en-US" sz="1200" b="0" i="0" kern="1200" dirty="0">
                <a:solidFill>
                  <a:schemeClr val="tx1"/>
                </a:solidFill>
                <a:effectLst/>
                <a:latin typeface="+mn-lt"/>
                <a:ea typeface="+mn-ea"/>
                <a:cs typeface="+mn-cs"/>
              </a:rPr>
              <a:t>The Steve Jobs presentation didn’t had too much text. Every point contained minimum 1 and maximum 4 words.</a:t>
            </a:r>
          </a:p>
          <a:p>
            <a:r>
              <a:rPr lang="en-US" sz="1200" b="0" i="0" kern="1200" dirty="0">
                <a:solidFill>
                  <a:schemeClr val="tx1"/>
                </a:solidFill>
                <a:effectLst/>
                <a:latin typeface="+mn-lt"/>
                <a:ea typeface="+mn-ea"/>
                <a:cs typeface="+mn-cs"/>
              </a:rPr>
              <a:t>7. Smiles</a:t>
            </a:r>
          </a:p>
          <a:p>
            <a:r>
              <a:rPr lang="en-US" sz="1200" b="0" i="0" kern="1200" dirty="0">
                <a:solidFill>
                  <a:schemeClr val="tx1"/>
                </a:solidFill>
                <a:effectLst/>
                <a:latin typeface="+mn-lt"/>
                <a:ea typeface="+mn-ea"/>
                <a:cs typeface="+mn-cs"/>
              </a:rPr>
              <a:t>His whole presentation was kind of joy because he always continued smiling the whole time. </a:t>
            </a:r>
            <a:r>
              <a:rPr lang="en-US" sz="1200" b="0" i="0" u="none" strike="noStrike" kern="1200" dirty="0">
                <a:solidFill>
                  <a:schemeClr val="tx1"/>
                </a:solidFill>
                <a:effectLst/>
                <a:latin typeface="+mn-lt"/>
                <a:ea typeface="+mn-ea"/>
                <a:cs typeface="+mn-cs"/>
                <a:hlinkClick r:id="rId3"/>
              </a:rPr>
              <a:t>Just have a look at the headshot photo of Steve Jobs.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8. Put on a show</a:t>
            </a:r>
          </a:p>
          <a:p>
            <a:r>
              <a:rPr lang="en-US" sz="1200" b="0" i="0" kern="1200" dirty="0">
                <a:solidFill>
                  <a:schemeClr val="tx1"/>
                </a:solidFill>
                <a:effectLst/>
                <a:latin typeface="+mn-lt"/>
                <a:ea typeface="+mn-ea"/>
                <a:cs typeface="+mn-cs"/>
              </a:rPr>
              <a:t>Steve got an envelope from his team during presentation. </a:t>
            </a:r>
            <a:r>
              <a:rPr lang="en-US" sz="1200" b="0" i="0" u="none" strike="noStrike" kern="1200" dirty="0">
                <a:solidFill>
                  <a:schemeClr val="tx1"/>
                </a:solidFill>
                <a:effectLst/>
                <a:latin typeface="+mn-lt"/>
                <a:ea typeface="+mn-ea"/>
                <a:cs typeface="+mn-cs"/>
                <a:hlinkClick r:id="rId4"/>
              </a:rPr>
              <a:t>He showed it to audience and pulled out a sleek Macintosh</a:t>
            </a:r>
            <a:r>
              <a:rPr lang="en-US" sz="1200" b="0" i="0" kern="1200" dirty="0">
                <a:solidFill>
                  <a:schemeClr val="tx1"/>
                </a:solidFill>
                <a:effectLst/>
                <a:latin typeface="+mn-lt"/>
                <a:ea typeface="+mn-ea"/>
                <a:cs typeface="+mn-cs"/>
              </a:rPr>
              <a:t>. The audience were engaged, interested and entertained.</a:t>
            </a:r>
          </a:p>
          <a:p>
            <a:endParaRPr lang="en-US" dirty="0"/>
          </a:p>
        </p:txBody>
      </p:sp>
      <p:sp>
        <p:nvSpPr>
          <p:cNvPr id="4" name="Slide Number Placeholder 3"/>
          <p:cNvSpPr>
            <a:spLocks noGrp="1"/>
          </p:cNvSpPr>
          <p:nvPr>
            <p:ph type="sldNum" sz="quarter" idx="10"/>
          </p:nvPr>
        </p:nvSpPr>
        <p:spPr/>
        <p:txBody>
          <a:bodyPr/>
          <a:lstStyle/>
          <a:p>
            <a:fld id="{636F9E20-B887-4600-B1E3-3C3A8AFB3A82}" type="slidenum">
              <a:rPr lang="en-US" smtClean="0"/>
              <a:pPr/>
              <a:t>52</a:t>
            </a:fld>
            <a:endParaRPr lang="en-US"/>
          </a:p>
        </p:txBody>
      </p:sp>
    </p:spTree>
    <p:extLst>
      <p:ext uri="{BB962C8B-B14F-4D97-AF65-F5344CB8AC3E}">
        <p14:creationId xmlns:p14="http://schemas.microsoft.com/office/powerpoint/2010/main" val="9115698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36F9E20-B887-4600-B1E3-3C3A8AFB3A82}" type="slidenum">
              <a:rPr lang="en-US" smtClean="0"/>
              <a:pPr/>
              <a:t>58</a:t>
            </a:fld>
            <a:endParaRPr lang="en-US"/>
          </a:p>
        </p:txBody>
      </p:sp>
    </p:spTree>
    <p:extLst>
      <p:ext uri="{BB962C8B-B14F-4D97-AF65-F5344CB8AC3E}">
        <p14:creationId xmlns:p14="http://schemas.microsoft.com/office/powerpoint/2010/main" val="1305813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157364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8311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58B92-C2C2-4D92-AC41-E2D2D85B460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E92856-56B1-4D91-BB72-909EB7E510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2E3F4B-FE6D-40ED-A9F5-BC0F46321DF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58AA0BA8-F0B1-4DDF-A0FD-BC203FA393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3AD9A5-2112-4533-A1CB-0CA6A0A442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16654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42240" y="121075"/>
            <a:ext cx="11893973"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42239" y="894185"/>
            <a:ext cx="11893973"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532861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82880" y="148175"/>
            <a:ext cx="11785600"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82880" y="928052"/>
            <a:ext cx="11785600"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1901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FE7D62-D573-4E1E-A2D5-9E747E2F0855}"/>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4" name="Footer Placeholder 3">
            <a:extLst>
              <a:ext uri="{FF2B5EF4-FFF2-40B4-BE49-F238E27FC236}">
                <a16:creationId xmlns:a16="http://schemas.microsoft.com/office/drawing/2014/main" id="{B2061520-24E5-43CB-BDF9-DA30DFBFAB0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EF7F479-6CE2-40D3-8B2E-F5EC0885E2B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grpSp>
        <p:nvGrpSpPr>
          <p:cNvPr id="6" name="Group 5">
            <a:extLst>
              <a:ext uri="{FF2B5EF4-FFF2-40B4-BE49-F238E27FC236}">
                <a16:creationId xmlns:a16="http://schemas.microsoft.com/office/drawing/2014/main" id="{2539DD7F-95B3-4BD0-9564-3384459F9E17}"/>
              </a:ext>
            </a:extLst>
          </p:cNvPr>
          <p:cNvGrpSpPr/>
          <p:nvPr userDrawn="1"/>
        </p:nvGrpSpPr>
        <p:grpSpPr>
          <a:xfrm>
            <a:off x="156315" y="1831474"/>
            <a:ext cx="5998137" cy="3195051"/>
            <a:chOff x="142867" y="1364410"/>
            <a:chExt cx="5998137" cy="3195051"/>
          </a:xfrm>
        </p:grpSpPr>
        <p:sp>
          <p:nvSpPr>
            <p:cNvPr id="7" name="TextBox 6">
              <a:extLst>
                <a:ext uri="{FF2B5EF4-FFF2-40B4-BE49-F238E27FC236}">
                  <a16:creationId xmlns:a16="http://schemas.microsoft.com/office/drawing/2014/main" id="{2851D5C5-C65B-41F9-9FDC-9781C2CCE211}"/>
                </a:ext>
              </a:extLst>
            </p:cNvPr>
            <p:cNvSpPr txBox="1"/>
            <p:nvPr/>
          </p:nvSpPr>
          <p:spPr>
            <a:xfrm>
              <a:off x="244467" y="1864343"/>
              <a:ext cx="4863832" cy="1200329"/>
            </a:xfrm>
            <a:prstGeom prst="rect">
              <a:avLst/>
            </a:prstGeom>
            <a:noFill/>
          </p:spPr>
          <p:txBody>
            <a:bodyPr wrap="none" rtlCol="0">
              <a:spAutoFit/>
            </a:bodyPr>
            <a:lstStyle/>
            <a:p>
              <a:r>
                <a:rPr lang="en-IN" sz="7000" dirty="0">
                  <a:latin typeface="Ostrich Sans Medium" panose="00000500000000000000" pitchFamily="50" charset="0"/>
                </a:rPr>
                <a:t>WHY WE NEED TO</a:t>
              </a:r>
              <a:endParaRPr lang="en-US" sz="7000" dirty="0">
                <a:latin typeface="Ostrich Sans Medium" panose="00000500000000000000" pitchFamily="50" charset="0"/>
              </a:endParaRPr>
            </a:p>
          </p:txBody>
        </p:sp>
        <p:sp>
          <p:nvSpPr>
            <p:cNvPr id="8" name="TextBox 7">
              <a:extLst>
                <a:ext uri="{FF2B5EF4-FFF2-40B4-BE49-F238E27FC236}">
                  <a16:creationId xmlns:a16="http://schemas.microsoft.com/office/drawing/2014/main" id="{22F4D905-4D9E-4F4B-8DAF-1FE4C1366FA3}"/>
                </a:ext>
              </a:extLst>
            </p:cNvPr>
            <p:cNvSpPr txBox="1"/>
            <p:nvPr/>
          </p:nvSpPr>
          <p:spPr>
            <a:xfrm>
              <a:off x="142867" y="2464508"/>
              <a:ext cx="4939173" cy="1631216"/>
            </a:xfrm>
            <a:prstGeom prst="rect">
              <a:avLst/>
            </a:prstGeom>
            <a:noFill/>
          </p:spPr>
          <p:txBody>
            <a:bodyPr wrap="none" rtlCol="0">
              <a:spAutoFit/>
            </a:bodyPr>
            <a:lstStyle/>
            <a:p>
              <a:r>
                <a:rPr lang="en-IN" sz="10000" dirty="0">
                  <a:latin typeface="Source Sans Pro Black" panose="020B0803030403020204" pitchFamily="34" charset="0"/>
                  <a:ea typeface="Source Sans Pro Black" panose="020B0803030403020204" pitchFamily="34" charset="0"/>
                </a:rPr>
                <a:t>BOTHER</a:t>
              </a:r>
            </a:p>
          </p:txBody>
        </p:sp>
        <p:sp>
          <p:nvSpPr>
            <p:cNvPr id="9" name="Rectangle 8">
              <a:extLst>
                <a:ext uri="{FF2B5EF4-FFF2-40B4-BE49-F238E27FC236}">
                  <a16:creationId xmlns:a16="http://schemas.microsoft.com/office/drawing/2014/main" id="{10501C60-05CA-4F22-B1A3-C7D231CE805B}"/>
                </a:ext>
              </a:extLst>
            </p:cNvPr>
            <p:cNvSpPr/>
            <p:nvPr/>
          </p:nvSpPr>
          <p:spPr>
            <a:xfrm>
              <a:off x="4736452" y="1364410"/>
              <a:ext cx="1404552" cy="3154710"/>
            </a:xfrm>
            <a:prstGeom prst="rect">
              <a:avLst/>
            </a:prstGeom>
          </p:spPr>
          <p:txBody>
            <a:bodyPr wrap="none">
              <a:spAutoFit/>
            </a:bodyPr>
            <a:lstStyle/>
            <a:p>
              <a:r>
                <a:rPr lang="en-IN" sz="19900" dirty="0">
                  <a:latin typeface="Source Sans Pro Black" panose="020B0803030403020204" pitchFamily="34" charset="0"/>
                  <a:ea typeface="Source Sans Pro Black" panose="020B0803030403020204" pitchFamily="34" charset="0"/>
                </a:rPr>
                <a:t>?</a:t>
              </a:r>
              <a:endParaRPr lang="en-US" dirty="0"/>
            </a:p>
          </p:txBody>
        </p:sp>
        <p:sp>
          <p:nvSpPr>
            <p:cNvPr id="10" name="TextBox 9">
              <a:extLst>
                <a:ext uri="{FF2B5EF4-FFF2-40B4-BE49-F238E27FC236}">
                  <a16:creationId xmlns:a16="http://schemas.microsoft.com/office/drawing/2014/main" id="{F6CA5798-DE99-4136-903E-FC0C0E5F5167}"/>
                </a:ext>
              </a:extLst>
            </p:cNvPr>
            <p:cNvSpPr txBox="1"/>
            <p:nvPr/>
          </p:nvSpPr>
          <p:spPr>
            <a:xfrm>
              <a:off x="244467" y="3913130"/>
              <a:ext cx="4600940" cy="646331"/>
            </a:xfrm>
            <a:prstGeom prst="rect">
              <a:avLst/>
            </a:prstGeom>
            <a:noFill/>
          </p:spPr>
          <p:txBody>
            <a:bodyPr wrap="none" rtlCol="0">
              <a:spAutoFit/>
            </a:bodyPr>
            <a:lstStyle/>
            <a:p>
              <a:r>
                <a:rPr lang="en-IN" sz="3600" dirty="0">
                  <a:latin typeface="Capsuula" panose="02000506000000020004" pitchFamily="2" charset="0"/>
                </a:rPr>
                <a:t>Top 10 reasons from the web</a:t>
              </a:r>
              <a:endParaRPr lang="en-US" sz="3600" dirty="0">
                <a:latin typeface="Capsuula" panose="02000506000000020004" pitchFamily="2" charset="0"/>
              </a:endParaRPr>
            </a:p>
          </p:txBody>
        </p:sp>
        <p:cxnSp>
          <p:nvCxnSpPr>
            <p:cNvPr id="11" name="Straight Connector 10">
              <a:extLst>
                <a:ext uri="{FF2B5EF4-FFF2-40B4-BE49-F238E27FC236}">
                  <a16:creationId xmlns:a16="http://schemas.microsoft.com/office/drawing/2014/main" id="{68AFC7EE-3361-4194-9A52-BF311C6607D7}"/>
                </a:ext>
              </a:extLst>
            </p:cNvPr>
            <p:cNvCxnSpPr/>
            <p:nvPr/>
          </p:nvCxnSpPr>
          <p:spPr>
            <a:xfrm>
              <a:off x="325149" y="3941393"/>
              <a:ext cx="5175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345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80F1-C7D7-4BD4-8BE0-6A71EA1FD25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3F26-A7EA-49CE-B7C1-5556D02B6DF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7C3A8A0-AC40-438A-964A-59EBE34E2DD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7F5F8400-9705-45F8-953B-D3C64BCADDE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4FBE03-B21D-4059-B93A-62B73A8B5B5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20868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F9F8-C11A-4854-88EE-B56FE1D5B4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CBB155D-15D0-4EE2-B74D-955A038E07D7}"/>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5D64D9-C064-4C5B-922E-2D991BA825F5}"/>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CC8CE5-56EA-43DB-A1D2-A9DDACB0F50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6" name="Footer Placeholder 5">
            <a:extLst>
              <a:ext uri="{FF2B5EF4-FFF2-40B4-BE49-F238E27FC236}">
                <a16:creationId xmlns:a16="http://schemas.microsoft.com/office/drawing/2014/main" id="{7645141D-078E-4AA6-9223-AA4B1D812D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2EEEEA-4D36-4AA4-8AA7-4B7ADC0E7AEF}"/>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246797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8EB0-165C-40FC-91FC-EC402630B61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12CB1E2-FB0C-4335-AF39-D772F435252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265867D-3CE7-4D64-8E54-CB3857CF08C9}"/>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A43759-70CC-4183-B255-57870371721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69DC26A-D654-4173-8129-6CBCF16DFDA1}"/>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7CC76-99E6-4A67-96DE-FF9AE36FF5B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8" name="Footer Placeholder 7">
            <a:extLst>
              <a:ext uri="{FF2B5EF4-FFF2-40B4-BE49-F238E27FC236}">
                <a16:creationId xmlns:a16="http://schemas.microsoft.com/office/drawing/2014/main" id="{0C959D32-0B77-4DCE-86E0-E94E4A9A7FA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6BCFB17D-5E58-42FD-90EF-BF8483396A9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213554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F8EDA-48DF-41EC-A691-2A2522FBC47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18BD1E1-FDC0-4C47-8D14-A3BEABA8FF09}"/>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4" name="Footer Placeholder 3">
            <a:extLst>
              <a:ext uri="{FF2B5EF4-FFF2-40B4-BE49-F238E27FC236}">
                <a16:creationId xmlns:a16="http://schemas.microsoft.com/office/drawing/2014/main" id="{FFE567E1-2A3F-45F5-A95E-372EDBEF3C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A05F6B5-A812-4E28-9F45-2A47E1DCDF74}"/>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2523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08AD8E-59DB-4538-8FD2-6624ED97AB2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3" name="Footer Placeholder 2">
            <a:extLst>
              <a:ext uri="{FF2B5EF4-FFF2-40B4-BE49-F238E27FC236}">
                <a16:creationId xmlns:a16="http://schemas.microsoft.com/office/drawing/2014/main" id="{1F8BA089-E5C7-4198-968B-E504D593C1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63B7638-321B-4F17-A2B5-C8C715341F89}"/>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02352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D32-1C90-4C12-8785-7D11E2904A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5ABC17-EFA9-4515-9012-CD63CDC91B3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5CF7F5-4CC3-44A4-8D0A-60CB9F40317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F65F274-A1CE-459F-B2A6-3274158D343C}"/>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6" name="Footer Placeholder 5">
            <a:extLst>
              <a:ext uri="{FF2B5EF4-FFF2-40B4-BE49-F238E27FC236}">
                <a16:creationId xmlns:a16="http://schemas.microsoft.com/office/drawing/2014/main" id="{65D4CEDF-08CB-40CA-84B1-67CC4E7CB3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3CE5518-982C-43BF-A289-47F0CB41EA75}"/>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949893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B04B-6D32-4DBE-B277-267D3891EF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952F1A-B117-4C7D-8826-8DCC7E8ED1A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15D7B2-3AD2-40A1-84C4-E0A4F8273D2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B613DD-2DD5-4C39-A6D3-E453388D51F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6" name="Footer Placeholder 5">
            <a:extLst>
              <a:ext uri="{FF2B5EF4-FFF2-40B4-BE49-F238E27FC236}">
                <a16:creationId xmlns:a16="http://schemas.microsoft.com/office/drawing/2014/main" id="{7233F84B-7435-418E-B452-EFAB7DDD9CE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2C683CB-F4E6-4584-A8C7-3BFDA787BED1}"/>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602434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880F-F04E-46CD-A489-B8EC4D6691D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317693-1E01-46A2-9E83-FFB850EE21E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E4F00-087D-4736-BB08-F02FC7833996}"/>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5A47B423-6542-4CF2-9E93-36B93C755E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2E5BF2E-1650-4CB3-8967-02242F045B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828479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93433E-C45E-4479-AD52-4A33C50973B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C5E31B-A62F-4063-92C0-B0AF37E8D5C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16A27-B87A-43E9-B20A-E5F8A0DEF9FB}"/>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1/3/2019</a:t>
            </a:fld>
            <a:endParaRPr lang="en-US"/>
          </a:p>
        </p:txBody>
      </p:sp>
      <p:sp>
        <p:nvSpPr>
          <p:cNvPr id="5" name="Footer Placeholder 4">
            <a:extLst>
              <a:ext uri="{FF2B5EF4-FFF2-40B4-BE49-F238E27FC236}">
                <a16:creationId xmlns:a16="http://schemas.microsoft.com/office/drawing/2014/main" id="{82D59FCE-320C-4473-BD8F-8B61A1B8B4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AD247AC-EE0D-4F09-AA8A-7444CFBA580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48008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BCD92-0A79-4A5E-B0BD-80978161E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D8C6DE-5191-4FA7-95FA-167F6C3955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57246"/>
      </p:ext>
    </p:extLst>
  </p:cSld>
  <p:clrMap bg1="lt1" tx1="dk1" bg2="lt2" tx2="dk2" accent1="accent1" accent2="accent2" accent3="accent3" accent4="accent4" accent5="accent5" accent6="accent6" hlink="hlink" folHlink="folHlink"/>
  <p:sldLayoutIdLst>
    <p:sldLayoutId id="2147483663" r:id="rId1"/>
    <p:sldLayoutId id="2147483661" r:id="rId2"/>
    <p:sldLayoutId id="2147483649" r:id="rId3"/>
    <p:sldLayoutId id="2147483650" r:id="rId4"/>
    <p:sldLayoutId id="2147483662" r:id="rId5"/>
    <p:sldLayoutId id="214748366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youtu.be/eIho2S0ZahI"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youtube.com/watch?v=a2MR5XbJtXU" TargetMode="External"/><Relationship Id="rId2" Type="http://schemas.openxmlformats.org/officeDocument/2006/relationships/hyperlink" Target="https://www.youtube.com/watch?v=Q5WT2vweFRY" TargetMode="External"/><Relationship Id="rId1" Type="http://schemas.openxmlformats.org/officeDocument/2006/relationships/slideLayout" Target="../slideLayouts/slideLayout2.xml"/><Relationship Id="rId6" Type="http://schemas.openxmlformats.org/officeDocument/2006/relationships/hyperlink" Target="https://www.youtube.com/watch?v=srn5jgr9TZo" TargetMode="External"/><Relationship Id="rId5" Type="http://schemas.openxmlformats.org/officeDocument/2006/relationships/hyperlink" Target="https://www.youtube.com/watch?v=UOceysteIjo" TargetMode="External"/><Relationship Id="rId4" Type="http://schemas.openxmlformats.org/officeDocument/2006/relationships/hyperlink" Target="https://youtu.be/Yl_FJAOcFg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D2D9BFCB-C489-4BFD-80E4-BA5880078CD3}"/>
              </a:ext>
            </a:extLst>
          </p:cNvPr>
          <p:cNvCxnSpPr/>
          <p:nvPr/>
        </p:nvCxnSpPr>
        <p:spPr>
          <a:xfrm>
            <a:off x="0" y="2286000"/>
            <a:ext cx="12192000" cy="0"/>
          </a:xfrm>
          <a:prstGeom prst="line">
            <a:avLst/>
          </a:prstGeom>
          <a:ln>
            <a:solidFill>
              <a:srgbClr val="ECECEC"/>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734DAF0-4F2F-4C3A-B42A-281685185CEA}"/>
              </a:ext>
            </a:extLst>
          </p:cNvPr>
          <p:cNvCxnSpPr>
            <a:cxnSpLocks/>
          </p:cNvCxnSpPr>
          <p:nvPr/>
        </p:nvCxnSpPr>
        <p:spPr>
          <a:xfrm>
            <a:off x="4037359" y="0"/>
            <a:ext cx="0" cy="6858000"/>
          </a:xfrm>
          <a:prstGeom prst="line">
            <a:avLst/>
          </a:prstGeom>
          <a:ln>
            <a:solidFill>
              <a:srgbClr val="ECECEC"/>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B8A70BC5-B852-4527-A54A-D522564BE025}"/>
              </a:ext>
            </a:extLst>
          </p:cNvPr>
          <p:cNvCxnSpPr>
            <a:cxnSpLocks/>
          </p:cNvCxnSpPr>
          <p:nvPr/>
        </p:nvCxnSpPr>
        <p:spPr>
          <a:xfrm>
            <a:off x="8097295" y="-19320"/>
            <a:ext cx="0" cy="6877320"/>
          </a:xfrm>
          <a:prstGeom prst="line">
            <a:avLst/>
          </a:prstGeom>
          <a:ln>
            <a:solidFill>
              <a:srgbClr val="ECECEC"/>
            </a:solidFill>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21F621B4-0BFD-48BE-8C2C-164FFD3FC226}"/>
              </a:ext>
            </a:extLst>
          </p:cNvPr>
          <p:cNvCxnSpPr/>
          <p:nvPr/>
        </p:nvCxnSpPr>
        <p:spPr>
          <a:xfrm>
            <a:off x="0" y="4562340"/>
            <a:ext cx="12192000" cy="0"/>
          </a:xfrm>
          <a:prstGeom prst="line">
            <a:avLst/>
          </a:prstGeom>
          <a:ln>
            <a:solidFill>
              <a:srgbClr val="ECECEC"/>
            </a:solidFill>
          </a:ln>
        </p:spPr>
        <p:style>
          <a:lnRef idx="1">
            <a:schemeClr val="dk1"/>
          </a:lnRef>
          <a:fillRef idx="0">
            <a:schemeClr val="dk1"/>
          </a:fillRef>
          <a:effectRef idx="0">
            <a:schemeClr val="dk1"/>
          </a:effectRef>
          <a:fontRef idx="minor">
            <a:schemeClr val="tx1"/>
          </a:fontRef>
        </p:style>
      </p:cxnSp>
      <p:grpSp>
        <p:nvGrpSpPr>
          <p:cNvPr id="5" name="Group 4">
            <a:extLst>
              <a:ext uri="{FF2B5EF4-FFF2-40B4-BE49-F238E27FC236}">
                <a16:creationId xmlns:a16="http://schemas.microsoft.com/office/drawing/2014/main" id="{DB7B1675-ADCB-4048-8663-BB34FB6C9044}"/>
              </a:ext>
            </a:extLst>
          </p:cNvPr>
          <p:cNvGrpSpPr/>
          <p:nvPr/>
        </p:nvGrpSpPr>
        <p:grpSpPr>
          <a:xfrm>
            <a:off x="11318043" y="6321117"/>
            <a:ext cx="873957" cy="536883"/>
            <a:chOff x="2223911" y="5454148"/>
            <a:chExt cx="873957" cy="536883"/>
          </a:xfrm>
        </p:grpSpPr>
        <p:sp>
          <p:nvSpPr>
            <p:cNvPr id="4" name="TextBox 3">
              <a:extLst>
                <a:ext uri="{FF2B5EF4-FFF2-40B4-BE49-F238E27FC236}">
                  <a16:creationId xmlns:a16="http://schemas.microsoft.com/office/drawing/2014/main" id="{A196F3AE-AC0A-49BE-A20F-232C0914B336}"/>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3" name="TextBox 12">
              <a:extLst>
                <a:ext uri="{FF2B5EF4-FFF2-40B4-BE49-F238E27FC236}">
                  <a16:creationId xmlns:a16="http://schemas.microsoft.com/office/drawing/2014/main" id="{BEEE9BC1-8D8E-4257-88E9-E5ECFCFD54E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grpSp>
        <p:nvGrpSpPr>
          <p:cNvPr id="27" name="Group 26">
            <a:extLst>
              <a:ext uri="{FF2B5EF4-FFF2-40B4-BE49-F238E27FC236}">
                <a16:creationId xmlns:a16="http://schemas.microsoft.com/office/drawing/2014/main" id="{9F4532AD-435A-4734-9A9D-C2D9E8FE182A}"/>
              </a:ext>
            </a:extLst>
          </p:cNvPr>
          <p:cNvGrpSpPr/>
          <p:nvPr/>
        </p:nvGrpSpPr>
        <p:grpSpPr>
          <a:xfrm>
            <a:off x="5306172" y="3510667"/>
            <a:ext cx="5537093" cy="1890257"/>
            <a:chOff x="5306172" y="3510667"/>
            <a:chExt cx="5537093" cy="1890257"/>
          </a:xfrm>
        </p:grpSpPr>
        <p:sp>
          <p:nvSpPr>
            <p:cNvPr id="10" name="TextBox 9">
              <a:extLst>
                <a:ext uri="{FF2B5EF4-FFF2-40B4-BE49-F238E27FC236}">
                  <a16:creationId xmlns:a16="http://schemas.microsoft.com/office/drawing/2014/main" id="{73648109-7F6D-4695-8FD0-42CF698F6094}"/>
                </a:ext>
              </a:extLst>
            </p:cNvPr>
            <p:cNvSpPr txBox="1"/>
            <p:nvPr/>
          </p:nvSpPr>
          <p:spPr>
            <a:xfrm>
              <a:off x="5306172" y="3929203"/>
              <a:ext cx="5537093" cy="1061829"/>
            </a:xfrm>
            <a:prstGeom prst="rect">
              <a:avLst/>
            </a:prstGeom>
            <a:noFill/>
          </p:spPr>
          <p:txBody>
            <a:bodyPr wrap="none" rtlCol="0">
              <a:spAutoFit/>
            </a:bodyPr>
            <a:lstStyle/>
            <a:p>
              <a:pPr algn="r"/>
              <a:r>
                <a:rPr lang="en-IN" sz="6200" b="1" dirty="0">
                  <a:solidFill>
                    <a:srgbClr val="505050"/>
                  </a:solidFill>
                  <a:latin typeface="Montserrat SemiBold" panose="00000700000000000000" pitchFamily="50" charset="0"/>
                </a:rPr>
                <a:t>presentation</a:t>
              </a:r>
            </a:p>
          </p:txBody>
        </p:sp>
        <p:sp>
          <p:nvSpPr>
            <p:cNvPr id="12" name="TextBox 11">
              <a:extLst>
                <a:ext uri="{FF2B5EF4-FFF2-40B4-BE49-F238E27FC236}">
                  <a16:creationId xmlns:a16="http://schemas.microsoft.com/office/drawing/2014/main" id="{280D4464-6F39-419E-848F-3241451CBFF8}"/>
                </a:ext>
              </a:extLst>
            </p:cNvPr>
            <p:cNvSpPr txBox="1"/>
            <p:nvPr/>
          </p:nvSpPr>
          <p:spPr>
            <a:xfrm>
              <a:off x="9213055" y="3530600"/>
              <a:ext cx="1576691" cy="677108"/>
            </a:xfrm>
            <a:prstGeom prst="rect">
              <a:avLst/>
            </a:prstGeom>
            <a:noFill/>
          </p:spPr>
          <p:txBody>
            <a:bodyPr wrap="square" rtlCol="0">
              <a:spAutoFit/>
            </a:bodyPr>
            <a:lstStyle/>
            <a:p>
              <a:pPr algn="r"/>
              <a:r>
                <a:rPr lang="en-IN" sz="3800" dirty="0">
                  <a:solidFill>
                    <a:srgbClr val="FF6600"/>
                  </a:solidFill>
                  <a:latin typeface="Montserrat ExtraLight" panose="00000300000000000000" pitchFamily="50" charset="0"/>
                </a:rPr>
                <a:t>art</a:t>
              </a:r>
              <a:r>
                <a:rPr lang="en-IN" sz="3800" dirty="0">
                  <a:solidFill>
                    <a:schemeClr val="bg1">
                      <a:lumMod val="50000"/>
                    </a:schemeClr>
                  </a:solidFill>
                  <a:latin typeface="Montserrat ExtraLight" panose="00000300000000000000" pitchFamily="50" charset="0"/>
                </a:rPr>
                <a:t> of</a:t>
              </a:r>
            </a:p>
          </p:txBody>
        </p:sp>
        <p:sp>
          <p:nvSpPr>
            <p:cNvPr id="9" name="Rectangle 8">
              <a:extLst>
                <a:ext uri="{FF2B5EF4-FFF2-40B4-BE49-F238E27FC236}">
                  <a16:creationId xmlns:a16="http://schemas.microsoft.com/office/drawing/2014/main" id="{47DA5027-9574-4B3A-B8CC-34196550E608}"/>
                </a:ext>
              </a:extLst>
            </p:cNvPr>
            <p:cNvSpPr/>
            <p:nvPr/>
          </p:nvSpPr>
          <p:spPr>
            <a:xfrm>
              <a:off x="9217889" y="3690036"/>
              <a:ext cx="100584" cy="548640"/>
            </a:xfrm>
            <a:prstGeom prst="rect">
              <a:avLst/>
            </a:prstGeom>
            <a:solidFill>
              <a:srgbClr val="50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2C2AA72-439E-4C9F-8DFA-A998E9D41793}"/>
                </a:ext>
              </a:extLst>
            </p:cNvPr>
            <p:cNvSpPr/>
            <p:nvPr/>
          </p:nvSpPr>
          <p:spPr>
            <a:xfrm>
              <a:off x="5598389" y="4728484"/>
              <a:ext cx="100584" cy="548640"/>
            </a:xfrm>
            <a:prstGeom prst="rect">
              <a:avLst/>
            </a:prstGeom>
            <a:solidFill>
              <a:srgbClr val="50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37DDF2C-78FC-497B-BA0C-EAA162F3AD21}"/>
                </a:ext>
              </a:extLst>
            </p:cNvPr>
            <p:cNvSpPr txBox="1"/>
            <p:nvPr/>
          </p:nvSpPr>
          <p:spPr>
            <a:xfrm>
              <a:off x="5728001" y="4754593"/>
              <a:ext cx="481222" cy="646331"/>
            </a:xfrm>
            <a:prstGeom prst="rect">
              <a:avLst/>
            </a:prstGeom>
            <a:noFill/>
          </p:spPr>
          <p:txBody>
            <a:bodyPr wrap="none" rtlCol="0">
              <a:spAutoFit/>
            </a:bodyPr>
            <a:lstStyle/>
            <a:p>
              <a:r>
                <a:rPr lang="en-US" sz="3600" dirty="0">
                  <a:solidFill>
                    <a:srgbClr val="505050"/>
                  </a:solidFill>
                  <a:latin typeface="FontAwesome" pitchFamily="50" charset="0"/>
                </a:rPr>
                <a:t></a:t>
              </a:r>
              <a:endParaRPr lang="en-US" sz="3600" dirty="0">
                <a:solidFill>
                  <a:srgbClr val="505050"/>
                </a:solidFill>
              </a:endParaRPr>
            </a:p>
          </p:txBody>
        </p:sp>
        <p:sp>
          <p:nvSpPr>
            <p:cNvPr id="25" name="TextBox 24">
              <a:extLst>
                <a:ext uri="{FF2B5EF4-FFF2-40B4-BE49-F238E27FC236}">
                  <a16:creationId xmlns:a16="http://schemas.microsoft.com/office/drawing/2014/main" id="{AF14264E-0712-4580-8E2E-889D14652E11}"/>
                </a:ext>
              </a:extLst>
            </p:cNvPr>
            <p:cNvSpPr txBox="1"/>
            <p:nvPr/>
          </p:nvSpPr>
          <p:spPr>
            <a:xfrm>
              <a:off x="7570669" y="3510667"/>
              <a:ext cx="1576691" cy="677108"/>
            </a:xfrm>
            <a:prstGeom prst="rect">
              <a:avLst/>
            </a:prstGeom>
            <a:noFill/>
          </p:spPr>
          <p:txBody>
            <a:bodyPr wrap="square" rtlCol="0">
              <a:spAutoFit/>
            </a:bodyPr>
            <a:lstStyle/>
            <a:p>
              <a:pPr algn="r"/>
              <a:r>
                <a:rPr lang="en-IN" sz="3800" dirty="0">
                  <a:solidFill>
                    <a:schemeClr val="bg1">
                      <a:lumMod val="50000"/>
                    </a:schemeClr>
                  </a:solidFill>
                  <a:latin typeface="Montserrat ExtraLight" panose="00000300000000000000" pitchFamily="50" charset="0"/>
                </a:rPr>
                <a:t>The</a:t>
              </a:r>
            </a:p>
          </p:txBody>
        </p:sp>
      </p:grpSp>
    </p:spTree>
    <p:extLst>
      <p:ext uri="{BB962C8B-B14F-4D97-AF65-F5344CB8AC3E}">
        <p14:creationId xmlns:p14="http://schemas.microsoft.com/office/powerpoint/2010/main" val="3962287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662F-380E-47D9-AD2F-4A399E9483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A50581-D1BC-41B5-9C43-6FE1A7FEE8B1}"/>
              </a:ext>
            </a:extLst>
          </p:cNvPr>
          <p:cNvSpPr>
            <a:spLocks noGrp="1"/>
          </p:cNvSpPr>
          <p:nvPr>
            <p:ph idx="1"/>
          </p:nvPr>
        </p:nvSpPr>
        <p:spPr/>
        <p:txBody>
          <a:bodyPr/>
          <a:lstStyle/>
          <a:p>
            <a:r>
              <a:rPr lang="en-IN" dirty="0"/>
              <a:t>Tell a story of my first public speaking</a:t>
            </a:r>
          </a:p>
          <a:p>
            <a:r>
              <a:rPr lang="en-IN" dirty="0"/>
              <a:t>And that humiliation I decided Never again</a:t>
            </a:r>
          </a:p>
          <a:p>
            <a:endParaRPr lang="en-US" dirty="0"/>
          </a:p>
        </p:txBody>
      </p:sp>
    </p:spTree>
    <p:extLst>
      <p:ext uri="{BB962C8B-B14F-4D97-AF65-F5344CB8AC3E}">
        <p14:creationId xmlns:p14="http://schemas.microsoft.com/office/powerpoint/2010/main" val="1813711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grpSp>
        <p:nvGrpSpPr>
          <p:cNvPr id="3" name="Group 2">
            <a:extLst>
              <a:ext uri="{FF2B5EF4-FFF2-40B4-BE49-F238E27FC236}">
                <a16:creationId xmlns:a16="http://schemas.microsoft.com/office/drawing/2014/main" id="{C7DC5517-4DED-4C25-8E5F-6BB1FDFF2EB2}"/>
              </a:ext>
            </a:extLst>
          </p:cNvPr>
          <p:cNvGrpSpPr/>
          <p:nvPr/>
        </p:nvGrpSpPr>
        <p:grpSpPr>
          <a:xfrm>
            <a:off x="2564179" y="735955"/>
            <a:ext cx="7833550" cy="5386090"/>
            <a:chOff x="3106045" y="1272808"/>
            <a:chExt cx="7833550" cy="5386090"/>
          </a:xfrm>
        </p:grpSpPr>
        <p:sp>
          <p:nvSpPr>
            <p:cNvPr id="10" name="Rectangle 9">
              <a:extLst>
                <a:ext uri="{FF2B5EF4-FFF2-40B4-BE49-F238E27FC236}">
                  <a16:creationId xmlns:a16="http://schemas.microsoft.com/office/drawing/2014/main" id="{FDC48643-4FBE-4281-866D-A0E040A53BDB}"/>
                </a:ext>
              </a:extLst>
            </p:cNvPr>
            <p:cNvSpPr/>
            <p:nvPr/>
          </p:nvSpPr>
          <p:spPr>
            <a:xfrm>
              <a:off x="3106045" y="3458021"/>
              <a:ext cx="2383986" cy="1015663"/>
            </a:xfrm>
            <a:prstGeom prst="rect">
              <a:avLst/>
            </a:prstGeom>
          </p:spPr>
          <p:txBody>
            <a:bodyPr wrap="none">
              <a:spAutoFit/>
            </a:bodyPr>
            <a:lstStyle/>
            <a:p>
              <a:r>
                <a:rPr lang="en-US" sz="6000" b="1" dirty="0">
                  <a:solidFill>
                    <a:schemeClr val="bg1">
                      <a:lumMod val="85000"/>
                    </a:schemeClr>
                  </a:solidFill>
                  <a:latin typeface="Montserrat Alternates Light" panose="00000400000000000000" pitchFamily="50" charset="0"/>
                </a:rPr>
                <a:t>what</a:t>
              </a:r>
              <a:endParaRPr lang="en-US" sz="3800" dirty="0">
                <a:solidFill>
                  <a:schemeClr val="bg1">
                    <a:lumMod val="50000"/>
                  </a:schemeClr>
                </a:solidFill>
                <a:latin typeface="Montserrat ExtraLight" panose="00000300000000000000" pitchFamily="50" charset="0"/>
              </a:endParaRPr>
            </a:p>
          </p:txBody>
        </p:sp>
        <p:sp>
          <p:nvSpPr>
            <p:cNvPr id="2" name="Rectangle 1">
              <a:extLst>
                <a:ext uri="{FF2B5EF4-FFF2-40B4-BE49-F238E27FC236}">
                  <a16:creationId xmlns:a16="http://schemas.microsoft.com/office/drawing/2014/main" id="{19F8A92B-7998-4A03-ADDB-CE2D27E9CBE0}"/>
                </a:ext>
              </a:extLst>
            </p:cNvPr>
            <p:cNvSpPr/>
            <p:nvPr/>
          </p:nvSpPr>
          <p:spPr>
            <a:xfrm>
              <a:off x="4964882" y="1272808"/>
              <a:ext cx="5974713" cy="5386090"/>
            </a:xfrm>
            <a:prstGeom prst="rect">
              <a:avLst/>
            </a:prstGeom>
          </p:spPr>
          <p:txBody>
            <a:bodyPr wrap="none">
              <a:spAutoFit/>
            </a:bodyPr>
            <a:lstStyle/>
            <a:p>
              <a:r>
                <a:rPr lang="en-US" sz="34400" b="1" dirty="0">
                  <a:solidFill>
                    <a:srgbClr val="FF6600"/>
                  </a:solidFill>
                  <a:latin typeface="Montserrat ExtraLight" panose="00000300000000000000" pitchFamily="50" charset="0"/>
                </a:rPr>
                <a:t>If</a:t>
              </a:r>
              <a:r>
                <a:rPr lang="en-US" sz="34400" b="1" dirty="0">
                  <a:solidFill>
                    <a:schemeClr val="bg1">
                      <a:lumMod val="85000"/>
                    </a:schemeClr>
                  </a:solidFill>
                  <a:latin typeface="Montserrat ExtraLight" panose="00000300000000000000" pitchFamily="50" charset="0"/>
                </a:rPr>
                <a:t>…</a:t>
              </a:r>
              <a:endParaRPr lang="en-US" sz="34400" b="1" dirty="0">
                <a:solidFill>
                  <a:schemeClr val="bg1">
                    <a:lumMod val="50000"/>
                  </a:schemeClr>
                </a:solidFill>
                <a:latin typeface="Montserrat ExtraLight" panose="00000300000000000000" pitchFamily="50" charset="0"/>
              </a:endParaRPr>
            </a:p>
          </p:txBody>
        </p:sp>
      </p:grpSp>
    </p:spTree>
    <p:extLst>
      <p:ext uri="{BB962C8B-B14F-4D97-AF65-F5344CB8AC3E}">
        <p14:creationId xmlns:p14="http://schemas.microsoft.com/office/powerpoint/2010/main" val="4196160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670CFA-1C6B-42D7-B142-4BE726478034}"/>
              </a:ext>
            </a:extLst>
          </p:cNvPr>
          <p:cNvGrpSpPr/>
          <p:nvPr/>
        </p:nvGrpSpPr>
        <p:grpSpPr>
          <a:xfrm>
            <a:off x="1184986" y="3472679"/>
            <a:ext cx="10006265" cy="2485758"/>
            <a:chOff x="1072700" y="1297555"/>
            <a:chExt cx="10006265" cy="2485758"/>
          </a:xfrm>
        </p:grpSpPr>
        <p:sp>
          <p:nvSpPr>
            <p:cNvPr id="7" name="Rectangle 6">
              <a:extLst>
                <a:ext uri="{FF2B5EF4-FFF2-40B4-BE49-F238E27FC236}">
                  <a16:creationId xmlns:a16="http://schemas.microsoft.com/office/drawing/2014/main" id="{508310AF-78D6-487D-B885-1F163A758B5D}"/>
                </a:ext>
              </a:extLst>
            </p:cNvPr>
            <p:cNvSpPr/>
            <p:nvPr/>
          </p:nvSpPr>
          <p:spPr>
            <a:xfrm>
              <a:off x="3860322" y="1297555"/>
              <a:ext cx="7218643" cy="677108"/>
            </a:xfrm>
            <a:prstGeom prst="rect">
              <a:avLst/>
            </a:prstGeom>
          </p:spPr>
          <p:txBody>
            <a:bodyPr wrap="none">
              <a:spAutoFit/>
            </a:bodyPr>
            <a:lstStyle/>
            <a:p>
              <a:pPr algn="r"/>
              <a:r>
                <a:rPr lang="en-GB" sz="3800" dirty="0">
                  <a:solidFill>
                    <a:schemeClr val="bg1">
                      <a:lumMod val="50000"/>
                    </a:schemeClr>
                  </a:solidFill>
                  <a:latin typeface="Montserrat ExtraLight" panose="00000300000000000000" pitchFamily="50" charset="0"/>
                </a:rPr>
                <a:t>I tell you there are more than</a:t>
              </a:r>
              <a:endParaRPr lang="en-US" sz="3800" dirty="0">
                <a:solidFill>
                  <a:schemeClr val="bg1">
                    <a:lumMod val="50000"/>
                  </a:schemeClr>
                </a:solidFill>
                <a:latin typeface="Montserrat ExtraLight" panose="00000300000000000000" pitchFamily="50" charset="0"/>
              </a:endParaRPr>
            </a:p>
          </p:txBody>
        </p:sp>
        <p:sp>
          <p:nvSpPr>
            <p:cNvPr id="8" name="Rectangle 7">
              <a:extLst>
                <a:ext uri="{FF2B5EF4-FFF2-40B4-BE49-F238E27FC236}">
                  <a16:creationId xmlns:a16="http://schemas.microsoft.com/office/drawing/2014/main" id="{0F7AB48F-45B7-4524-A106-94B2B46C7EB7}"/>
                </a:ext>
              </a:extLst>
            </p:cNvPr>
            <p:cNvSpPr/>
            <p:nvPr/>
          </p:nvSpPr>
          <p:spPr>
            <a:xfrm>
              <a:off x="1072700" y="1844321"/>
              <a:ext cx="10006265" cy="1938992"/>
            </a:xfrm>
            <a:prstGeom prst="rect">
              <a:avLst/>
            </a:prstGeom>
          </p:spPr>
          <p:txBody>
            <a:bodyPr wrap="none">
              <a:spAutoFit/>
            </a:bodyPr>
            <a:lstStyle/>
            <a:p>
              <a:pPr algn="r"/>
              <a:r>
                <a:rPr lang="en-US" sz="6000" b="1" dirty="0">
                  <a:solidFill>
                    <a:srgbClr val="FF6600"/>
                  </a:solidFill>
                  <a:latin typeface="Montserrat SemiBold" panose="00000700000000000000" pitchFamily="50" charset="0"/>
                </a:rPr>
                <a:t>30 million </a:t>
              </a:r>
              <a:r>
                <a:rPr lang="en-GB" sz="6000" b="1" dirty="0">
                  <a:solidFill>
                    <a:srgbClr val="505050"/>
                  </a:solidFill>
                  <a:latin typeface="Montserrat SemiBold" panose="00000700000000000000" pitchFamily="50" charset="0"/>
                </a:rPr>
                <a:t>presentations</a:t>
              </a:r>
            </a:p>
            <a:p>
              <a:pPr algn="r"/>
              <a:r>
                <a:rPr lang="en-GB" sz="6000" b="1" dirty="0">
                  <a:solidFill>
                    <a:srgbClr val="505050"/>
                  </a:solidFill>
                  <a:latin typeface="Montserrat SemiBold" panose="00000700000000000000" pitchFamily="50" charset="0"/>
                </a:rPr>
                <a:t>made each day</a:t>
              </a:r>
              <a:endParaRPr lang="en-US" sz="6000" b="1" dirty="0">
                <a:solidFill>
                  <a:srgbClr val="505050"/>
                </a:solidFill>
                <a:latin typeface="Montserrat SemiBold" panose="00000700000000000000" pitchFamily="50" charset="0"/>
              </a:endParaRPr>
            </a:p>
          </p:txBody>
        </p:sp>
      </p:grpSp>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331314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10904675" cy="3691997"/>
            <a:chOff x="825147" y="1300878"/>
            <a:chExt cx="10904675" cy="3691997"/>
          </a:xfrm>
        </p:grpSpPr>
        <p:sp>
          <p:nvSpPr>
            <p:cNvPr id="10" name="Rectangle 9">
              <a:extLst>
                <a:ext uri="{FF2B5EF4-FFF2-40B4-BE49-F238E27FC236}">
                  <a16:creationId xmlns:a16="http://schemas.microsoft.com/office/drawing/2014/main" id="{FDC48643-4FBE-4281-866D-A0E040A53BDB}"/>
                </a:ext>
              </a:extLst>
            </p:cNvPr>
            <p:cNvSpPr/>
            <p:nvPr/>
          </p:nvSpPr>
          <p:spPr>
            <a:xfrm>
              <a:off x="1992861" y="1976665"/>
              <a:ext cx="9736961" cy="3016210"/>
            </a:xfrm>
            <a:prstGeom prst="rect">
              <a:avLst/>
            </a:prstGeom>
          </p:spPr>
          <p:txBody>
            <a:bodyPr wrap="none">
              <a:spAutoFit/>
            </a:bodyPr>
            <a:lstStyle/>
            <a:p>
              <a:r>
                <a:rPr lang="en-IN" sz="3800" dirty="0">
                  <a:solidFill>
                    <a:schemeClr val="bg1">
                      <a:lumMod val="85000"/>
                    </a:schemeClr>
                  </a:solidFill>
                  <a:latin typeface="Montserrat ExtraLight" panose="00000300000000000000" pitchFamily="50" charset="0"/>
                </a:rPr>
                <a:t>I</a:t>
              </a:r>
              <a:r>
                <a:rPr lang="en-US" sz="3800" dirty="0">
                  <a:solidFill>
                    <a:schemeClr val="bg1">
                      <a:lumMod val="85000"/>
                    </a:schemeClr>
                  </a:solidFill>
                  <a:latin typeface="Montserrat ExtraLight" panose="00000300000000000000" pitchFamily="50" charset="0"/>
                </a:rPr>
                <a:t>f we assume </a:t>
              </a:r>
              <a:r>
                <a:rPr lang="en-US" sz="3800" dirty="0">
                  <a:solidFill>
                    <a:srgbClr val="FF6600"/>
                  </a:solidFill>
                  <a:latin typeface="Montserrat ExtraLight" panose="00000300000000000000" pitchFamily="50" charset="0"/>
                </a:rPr>
                <a:t>4 people </a:t>
              </a:r>
              <a:r>
                <a:rPr lang="en-US" sz="3800" dirty="0">
                  <a:solidFill>
                    <a:schemeClr val="bg1">
                      <a:lumMod val="85000"/>
                    </a:schemeClr>
                  </a:solidFill>
                  <a:latin typeface="Montserrat ExtraLight" panose="00000300000000000000" pitchFamily="50" charset="0"/>
                </a:rPr>
                <a:t>per presentation,</a:t>
              </a:r>
            </a:p>
            <a:p>
              <a:r>
                <a:rPr lang="en-US" sz="3800" dirty="0">
                  <a:solidFill>
                    <a:schemeClr val="bg1">
                      <a:lumMod val="85000"/>
                    </a:schemeClr>
                  </a:solidFill>
                  <a:latin typeface="Montserrat ExtraLight" panose="00000300000000000000" pitchFamily="50" charset="0"/>
                </a:rPr>
                <a:t>a </a:t>
              </a:r>
              <a:r>
                <a:rPr lang="en-US" sz="3800" dirty="0">
                  <a:solidFill>
                    <a:srgbClr val="FF6600"/>
                  </a:solidFill>
                  <a:latin typeface="Montserrat ExtraLight" panose="00000300000000000000" pitchFamily="50" charset="0"/>
                </a:rPr>
                <a:t>half-hour</a:t>
              </a:r>
              <a:r>
                <a:rPr lang="en-US" sz="3800" dirty="0">
                  <a:solidFill>
                    <a:schemeClr val="bg1">
                      <a:lumMod val="85000"/>
                    </a:schemeClr>
                  </a:solidFill>
                  <a:latin typeface="Montserrat ExtraLight" panose="00000300000000000000" pitchFamily="50" charset="0"/>
                </a:rPr>
                <a:t> presentation on </a:t>
              </a:r>
              <a:r>
                <a:rPr lang="en-GB" dirty="0"/>
                <a:t> </a:t>
              </a:r>
              <a:r>
                <a:rPr lang="en-GB" sz="3800" dirty="0">
                  <a:solidFill>
                    <a:schemeClr val="bg1">
                      <a:lumMod val="85000"/>
                    </a:schemeClr>
                  </a:solidFill>
                  <a:latin typeface="Montserrat ExtraLight" panose="00000300000000000000" pitchFamily="50" charset="0"/>
                </a:rPr>
                <a:t>average </a:t>
              </a:r>
            </a:p>
            <a:p>
              <a:r>
                <a:rPr lang="en-GB" sz="3800" dirty="0">
                  <a:solidFill>
                    <a:schemeClr val="bg1">
                      <a:lumMod val="85000"/>
                    </a:schemeClr>
                  </a:solidFill>
                  <a:latin typeface="Montserrat ExtraLight" panose="00000300000000000000" pitchFamily="50" charset="0"/>
                </a:rPr>
                <a:t>and the wasted time due to </a:t>
              </a:r>
            </a:p>
            <a:p>
              <a:r>
                <a:rPr lang="en-GB" sz="3800" dirty="0">
                  <a:solidFill>
                    <a:schemeClr val="bg1">
                      <a:lumMod val="85000"/>
                    </a:schemeClr>
                  </a:solidFill>
                  <a:latin typeface="Montserrat ExtraLight" panose="00000300000000000000" pitchFamily="50" charset="0"/>
                </a:rPr>
                <a:t>a poor presentation is </a:t>
              </a:r>
              <a:r>
                <a:rPr lang="en-GB" sz="3800" dirty="0">
                  <a:solidFill>
                    <a:srgbClr val="FF6600"/>
                  </a:solidFill>
                  <a:latin typeface="Montserrat ExtraLight" panose="00000300000000000000" pitchFamily="50" charset="0"/>
                </a:rPr>
                <a:t>one-quarter</a:t>
              </a:r>
              <a:r>
                <a:rPr lang="en-GB" sz="3800" dirty="0">
                  <a:solidFill>
                    <a:schemeClr val="bg1">
                      <a:lumMod val="85000"/>
                    </a:schemeClr>
                  </a:solidFill>
                  <a:latin typeface="Montserrat ExtraLight" panose="00000300000000000000" pitchFamily="50" charset="0"/>
                </a:rPr>
                <a:t> of </a:t>
              </a:r>
            </a:p>
            <a:p>
              <a:r>
                <a:rPr lang="en-GB" sz="3800" dirty="0">
                  <a:solidFill>
                    <a:schemeClr val="bg1">
                      <a:lumMod val="85000"/>
                    </a:schemeClr>
                  </a:solidFill>
                  <a:latin typeface="Montserrat ExtraLight" panose="00000300000000000000" pitchFamily="50" charset="0"/>
                </a:rPr>
                <a:t>the presentation time</a:t>
              </a:r>
              <a:endParaRPr lang="en-US" sz="3800" dirty="0">
                <a:solidFill>
                  <a:schemeClr val="bg1">
                    <a:lumMod val="85000"/>
                  </a:schemeClr>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
        <p:nvSpPr>
          <p:cNvPr id="2" name="Rectangle 1">
            <a:extLst>
              <a:ext uri="{FF2B5EF4-FFF2-40B4-BE49-F238E27FC236}">
                <a16:creationId xmlns:a16="http://schemas.microsoft.com/office/drawing/2014/main" id="{DF68C591-3D0F-4C92-9081-F5610F7C2448}"/>
              </a:ext>
            </a:extLst>
          </p:cNvPr>
          <p:cNvSpPr/>
          <p:nvPr/>
        </p:nvSpPr>
        <p:spPr>
          <a:xfrm>
            <a:off x="2851810" y="6290339"/>
            <a:ext cx="6075702" cy="369332"/>
          </a:xfrm>
          <a:prstGeom prst="rect">
            <a:avLst/>
          </a:prstGeom>
        </p:spPr>
        <p:txBody>
          <a:bodyPr wrap="none">
            <a:spAutoFit/>
          </a:bodyPr>
          <a:lstStyle/>
          <a:p>
            <a:r>
              <a:rPr lang="en-US" dirty="0">
                <a:solidFill>
                  <a:schemeClr val="bg1">
                    <a:lumMod val="50000"/>
                  </a:schemeClr>
                </a:solidFill>
                <a:latin typeface="Montserrat Alternates Light" panose="00000400000000000000" pitchFamily="50" charset="0"/>
              </a:rPr>
              <a:t>(30  X 4 X 7.5) / 60 = 30 million person hours per day</a:t>
            </a:r>
          </a:p>
        </p:txBody>
      </p:sp>
    </p:spTree>
    <p:extLst>
      <p:ext uri="{BB962C8B-B14F-4D97-AF65-F5344CB8AC3E}">
        <p14:creationId xmlns:p14="http://schemas.microsoft.com/office/powerpoint/2010/main" val="2326396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grpSp>
        <p:nvGrpSpPr>
          <p:cNvPr id="4" name="Group 3">
            <a:extLst>
              <a:ext uri="{FF2B5EF4-FFF2-40B4-BE49-F238E27FC236}">
                <a16:creationId xmlns:a16="http://schemas.microsoft.com/office/drawing/2014/main" id="{FBF810D9-9693-4519-A30E-12A231030E81}"/>
              </a:ext>
            </a:extLst>
          </p:cNvPr>
          <p:cNvGrpSpPr/>
          <p:nvPr/>
        </p:nvGrpSpPr>
        <p:grpSpPr>
          <a:xfrm>
            <a:off x="2841468" y="2504430"/>
            <a:ext cx="7750840" cy="1916870"/>
            <a:chOff x="2508059" y="1691575"/>
            <a:chExt cx="7750840" cy="1916870"/>
          </a:xfrm>
        </p:grpSpPr>
        <p:sp>
          <p:nvSpPr>
            <p:cNvPr id="12" name="Rectangle 11">
              <a:extLst>
                <a:ext uri="{FF2B5EF4-FFF2-40B4-BE49-F238E27FC236}">
                  <a16:creationId xmlns:a16="http://schemas.microsoft.com/office/drawing/2014/main" id="{94E5BCAD-5B16-40EF-A43E-3FBF6A6EBC17}"/>
                </a:ext>
              </a:extLst>
            </p:cNvPr>
            <p:cNvSpPr/>
            <p:nvPr/>
          </p:nvSpPr>
          <p:spPr>
            <a:xfrm>
              <a:off x="2508059" y="2161895"/>
              <a:ext cx="7750840" cy="1446550"/>
            </a:xfrm>
            <a:prstGeom prst="rect">
              <a:avLst/>
            </a:prstGeom>
          </p:spPr>
          <p:txBody>
            <a:bodyPr wrap="none">
              <a:spAutoFit/>
            </a:bodyPr>
            <a:lstStyle/>
            <a:p>
              <a:r>
                <a:rPr lang="en-US" sz="8800" b="1" dirty="0">
                  <a:solidFill>
                    <a:srgbClr val="FF6600"/>
                  </a:solidFill>
                  <a:latin typeface="Montserrat SemiBold" panose="00000700000000000000" pitchFamily="50" charset="0"/>
                </a:rPr>
                <a:t>$252 </a:t>
              </a:r>
              <a:r>
                <a:rPr lang="en-US" sz="8800" b="1" dirty="0">
                  <a:solidFill>
                    <a:srgbClr val="505050"/>
                  </a:solidFill>
                  <a:latin typeface="Montserrat SemiBold" panose="00000700000000000000" pitchFamily="50" charset="0"/>
                </a:rPr>
                <a:t>millions</a:t>
              </a:r>
            </a:p>
          </p:txBody>
        </p:sp>
        <p:sp>
          <p:nvSpPr>
            <p:cNvPr id="3" name="Rectangle 2">
              <a:extLst>
                <a:ext uri="{FF2B5EF4-FFF2-40B4-BE49-F238E27FC236}">
                  <a16:creationId xmlns:a16="http://schemas.microsoft.com/office/drawing/2014/main" id="{52F9029B-89A8-44D1-B107-FAC1EE6CDFA8}"/>
                </a:ext>
              </a:extLst>
            </p:cNvPr>
            <p:cNvSpPr/>
            <p:nvPr/>
          </p:nvSpPr>
          <p:spPr>
            <a:xfrm>
              <a:off x="2634008" y="1691575"/>
              <a:ext cx="7322838" cy="707886"/>
            </a:xfrm>
            <a:prstGeom prst="rect">
              <a:avLst/>
            </a:prstGeom>
          </p:spPr>
          <p:txBody>
            <a:bodyPr wrap="none">
              <a:spAutoFit/>
            </a:bodyPr>
            <a:lstStyle/>
            <a:p>
              <a:pPr algn="r"/>
              <a:r>
                <a:rPr lang="en-GB" sz="3800" dirty="0">
                  <a:solidFill>
                    <a:schemeClr val="bg1">
                      <a:lumMod val="50000"/>
                    </a:schemeClr>
                  </a:solidFill>
                  <a:latin typeface="Montserrat ExtraLight" panose="00000300000000000000" pitchFamily="50" charset="0"/>
                </a:rPr>
                <a:t>…the cost of that wasted time</a:t>
              </a:r>
              <a:r>
                <a:rPr lang="en-GB" sz="4000" dirty="0">
                  <a:solidFill>
                    <a:srgbClr val="444444"/>
                  </a:solidFill>
                  <a:latin typeface="Arial" panose="020B0604020202020204" pitchFamily="34" charset="0"/>
                </a:rPr>
                <a:t> </a:t>
              </a:r>
              <a:endParaRPr lang="en-US" sz="4000" dirty="0"/>
            </a:p>
          </p:txBody>
        </p:sp>
      </p:grpSp>
      <p:pic>
        <p:nvPicPr>
          <p:cNvPr id="1026" name="Picture 2" descr="Image result for shock sketch">
            <a:extLst>
              <a:ext uri="{FF2B5EF4-FFF2-40B4-BE49-F238E27FC236}">
                <a16:creationId xmlns:a16="http://schemas.microsoft.com/office/drawing/2014/main" id="{2B5B4C7E-70DE-4F04-89E1-033BBF01EB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80" t="10864" r="23743" b="14403"/>
          <a:stretch/>
        </p:blipFill>
        <p:spPr bwMode="auto">
          <a:xfrm>
            <a:off x="758361" y="2208388"/>
            <a:ext cx="1828228" cy="2441223"/>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93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grpSp>
        <p:nvGrpSpPr>
          <p:cNvPr id="3" name="Group 2">
            <a:extLst>
              <a:ext uri="{FF2B5EF4-FFF2-40B4-BE49-F238E27FC236}">
                <a16:creationId xmlns:a16="http://schemas.microsoft.com/office/drawing/2014/main" id="{C7DC5517-4DED-4C25-8E5F-6BB1FDFF2EB2}"/>
              </a:ext>
            </a:extLst>
          </p:cNvPr>
          <p:cNvGrpSpPr/>
          <p:nvPr/>
        </p:nvGrpSpPr>
        <p:grpSpPr>
          <a:xfrm>
            <a:off x="2564179" y="735955"/>
            <a:ext cx="7833550" cy="5386090"/>
            <a:chOff x="3106045" y="1272808"/>
            <a:chExt cx="7833550" cy="5386090"/>
          </a:xfrm>
        </p:grpSpPr>
        <p:sp>
          <p:nvSpPr>
            <p:cNvPr id="10" name="Rectangle 9">
              <a:extLst>
                <a:ext uri="{FF2B5EF4-FFF2-40B4-BE49-F238E27FC236}">
                  <a16:creationId xmlns:a16="http://schemas.microsoft.com/office/drawing/2014/main" id="{FDC48643-4FBE-4281-866D-A0E040A53BDB}"/>
                </a:ext>
              </a:extLst>
            </p:cNvPr>
            <p:cNvSpPr/>
            <p:nvPr/>
          </p:nvSpPr>
          <p:spPr>
            <a:xfrm>
              <a:off x="3106045" y="3458021"/>
              <a:ext cx="2383986" cy="1015663"/>
            </a:xfrm>
            <a:prstGeom prst="rect">
              <a:avLst/>
            </a:prstGeom>
          </p:spPr>
          <p:txBody>
            <a:bodyPr wrap="none">
              <a:spAutoFit/>
            </a:bodyPr>
            <a:lstStyle/>
            <a:p>
              <a:r>
                <a:rPr lang="en-US" sz="6000" b="1" dirty="0">
                  <a:solidFill>
                    <a:schemeClr val="bg1">
                      <a:lumMod val="85000"/>
                    </a:schemeClr>
                  </a:solidFill>
                  <a:latin typeface="Montserrat Alternates Light" panose="00000400000000000000" pitchFamily="50" charset="0"/>
                </a:rPr>
                <a:t>what</a:t>
              </a:r>
              <a:endParaRPr lang="en-US" sz="3800" dirty="0">
                <a:solidFill>
                  <a:schemeClr val="bg1">
                    <a:lumMod val="50000"/>
                  </a:schemeClr>
                </a:solidFill>
                <a:latin typeface="Montserrat ExtraLight" panose="00000300000000000000" pitchFamily="50" charset="0"/>
              </a:endParaRPr>
            </a:p>
          </p:txBody>
        </p:sp>
        <p:sp>
          <p:nvSpPr>
            <p:cNvPr id="2" name="Rectangle 1">
              <a:extLst>
                <a:ext uri="{FF2B5EF4-FFF2-40B4-BE49-F238E27FC236}">
                  <a16:creationId xmlns:a16="http://schemas.microsoft.com/office/drawing/2014/main" id="{19F8A92B-7998-4A03-ADDB-CE2D27E9CBE0}"/>
                </a:ext>
              </a:extLst>
            </p:cNvPr>
            <p:cNvSpPr/>
            <p:nvPr/>
          </p:nvSpPr>
          <p:spPr>
            <a:xfrm>
              <a:off x="4964882" y="1272808"/>
              <a:ext cx="5974713" cy="5386090"/>
            </a:xfrm>
            <a:prstGeom prst="rect">
              <a:avLst/>
            </a:prstGeom>
          </p:spPr>
          <p:txBody>
            <a:bodyPr wrap="none">
              <a:spAutoFit/>
            </a:bodyPr>
            <a:lstStyle/>
            <a:p>
              <a:r>
                <a:rPr lang="en-US" sz="34400" b="1" dirty="0">
                  <a:solidFill>
                    <a:srgbClr val="FF6600"/>
                  </a:solidFill>
                  <a:latin typeface="Montserrat ExtraLight" panose="00000300000000000000" pitchFamily="50" charset="0"/>
                </a:rPr>
                <a:t>If</a:t>
              </a:r>
              <a:r>
                <a:rPr lang="en-US" sz="34400" b="1" dirty="0">
                  <a:solidFill>
                    <a:schemeClr val="bg1">
                      <a:lumMod val="85000"/>
                    </a:schemeClr>
                  </a:solidFill>
                  <a:latin typeface="Montserrat ExtraLight" panose="00000300000000000000" pitchFamily="50" charset="0"/>
                </a:rPr>
                <a:t>…</a:t>
              </a:r>
              <a:endParaRPr lang="en-US" sz="34400" b="1" dirty="0">
                <a:solidFill>
                  <a:schemeClr val="bg1">
                    <a:lumMod val="50000"/>
                  </a:schemeClr>
                </a:solidFill>
                <a:latin typeface="Montserrat ExtraLight" panose="00000300000000000000" pitchFamily="50" charset="0"/>
              </a:endParaRPr>
            </a:p>
          </p:txBody>
        </p:sp>
      </p:grpSp>
    </p:spTree>
    <p:extLst>
      <p:ext uri="{BB962C8B-B14F-4D97-AF65-F5344CB8AC3E}">
        <p14:creationId xmlns:p14="http://schemas.microsoft.com/office/powerpoint/2010/main" val="247785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grpSp>
        <p:nvGrpSpPr>
          <p:cNvPr id="4" name="Group 3">
            <a:extLst>
              <a:ext uri="{FF2B5EF4-FFF2-40B4-BE49-F238E27FC236}">
                <a16:creationId xmlns:a16="http://schemas.microsoft.com/office/drawing/2014/main" id="{FBF810D9-9693-4519-A30E-12A231030E81}"/>
              </a:ext>
            </a:extLst>
          </p:cNvPr>
          <p:cNvGrpSpPr/>
          <p:nvPr/>
        </p:nvGrpSpPr>
        <p:grpSpPr>
          <a:xfrm>
            <a:off x="3200015" y="2470564"/>
            <a:ext cx="5791970" cy="1916869"/>
            <a:chOff x="3487492" y="1635131"/>
            <a:chExt cx="5791970" cy="1916869"/>
          </a:xfrm>
        </p:grpSpPr>
        <p:sp>
          <p:nvSpPr>
            <p:cNvPr id="12" name="Rectangle 11">
              <a:extLst>
                <a:ext uri="{FF2B5EF4-FFF2-40B4-BE49-F238E27FC236}">
                  <a16:creationId xmlns:a16="http://schemas.microsoft.com/office/drawing/2014/main" id="{94E5BCAD-5B16-40EF-A43E-3FBF6A6EBC17}"/>
                </a:ext>
              </a:extLst>
            </p:cNvPr>
            <p:cNvSpPr/>
            <p:nvPr/>
          </p:nvSpPr>
          <p:spPr>
            <a:xfrm>
              <a:off x="3644586" y="2105450"/>
              <a:ext cx="5477782" cy="1446550"/>
            </a:xfrm>
            <a:prstGeom prst="rect">
              <a:avLst/>
            </a:prstGeom>
          </p:spPr>
          <p:txBody>
            <a:bodyPr wrap="none">
              <a:spAutoFit/>
            </a:bodyPr>
            <a:lstStyle/>
            <a:p>
              <a:pPr algn="ctr"/>
              <a:r>
                <a:rPr lang="en-US" sz="8800" b="1" dirty="0">
                  <a:solidFill>
                    <a:srgbClr val="505050"/>
                  </a:solidFill>
                  <a:latin typeface="Montserrat SemiBold" panose="00000700000000000000" pitchFamily="50" charset="0"/>
                </a:rPr>
                <a:t>10% </a:t>
              </a:r>
              <a:r>
                <a:rPr lang="en-US" sz="8800" b="1" dirty="0">
                  <a:solidFill>
                    <a:srgbClr val="FF6600"/>
                  </a:solidFill>
                  <a:latin typeface="Montserrat ExtraLight" panose="00000300000000000000" pitchFamily="50" charset="0"/>
                </a:rPr>
                <a:t>less…</a:t>
              </a:r>
            </a:p>
          </p:txBody>
        </p:sp>
        <p:sp>
          <p:nvSpPr>
            <p:cNvPr id="3" name="Rectangle 2">
              <a:extLst>
                <a:ext uri="{FF2B5EF4-FFF2-40B4-BE49-F238E27FC236}">
                  <a16:creationId xmlns:a16="http://schemas.microsoft.com/office/drawing/2014/main" id="{52F9029B-89A8-44D1-B107-FAC1EE6CDFA8}"/>
                </a:ext>
              </a:extLst>
            </p:cNvPr>
            <p:cNvSpPr/>
            <p:nvPr/>
          </p:nvSpPr>
          <p:spPr>
            <a:xfrm>
              <a:off x="3487492" y="1635131"/>
              <a:ext cx="5791970" cy="677108"/>
            </a:xfrm>
            <a:prstGeom prst="rect">
              <a:avLst/>
            </a:prstGeom>
          </p:spPr>
          <p:txBody>
            <a:bodyPr wrap="none">
              <a:spAutoFit/>
            </a:bodyPr>
            <a:lstStyle/>
            <a:p>
              <a:pPr algn="ctr"/>
              <a:r>
                <a:rPr lang="en-US" sz="3800" dirty="0">
                  <a:solidFill>
                    <a:schemeClr val="bg1">
                      <a:lumMod val="50000"/>
                    </a:schemeClr>
                  </a:solidFill>
                  <a:latin typeface="Montserrat ExtraLight" panose="00000300000000000000" pitchFamily="50" charset="0"/>
                </a:rPr>
                <a:t>…I tell you, you get paid </a:t>
              </a:r>
            </a:p>
          </p:txBody>
        </p:sp>
      </p:grpSp>
      <p:pic>
        <p:nvPicPr>
          <p:cNvPr id="1026" name="Picture 2" descr="Image result for shock sketch">
            <a:extLst>
              <a:ext uri="{FF2B5EF4-FFF2-40B4-BE49-F238E27FC236}">
                <a16:creationId xmlns:a16="http://schemas.microsoft.com/office/drawing/2014/main" id="{2B5B4C7E-70DE-4F04-89E1-033BBF01EB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80" t="10864" r="23743" b="14403"/>
          <a:stretch/>
        </p:blipFill>
        <p:spPr bwMode="auto">
          <a:xfrm>
            <a:off x="758361" y="2208388"/>
            <a:ext cx="1828228" cy="2441223"/>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148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FFC5C8B-A3E8-41A4-98A3-E188A1CA6829}"/>
              </a:ext>
            </a:extLst>
          </p:cNvPr>
          <p:cNvGrpSpPr/>
          <p:nvPr/>
        </p:nvGrpSpPr>
        <p:grpSpPr>
          <a:xfrm>
            <a:off x="2011388" y="2664719"/>
            <a:ext cx="8169224" cy="1528562"/>
            <a:chOff x="4891053" y="1360450"/>
            <a:chExt cx="8169224" cy="1528562"/>
          </a:xfrm>
        </p:grpSpPr>
        <p:sp>
          <p:nvSpPr>
            <p:cNvPr id="6" name="Rectangle 5">
              <a:extLst>
                <a:ext uri="{FF2B5EF4-FFF2-40B4-BE49-F238E27FC236}">
                  <a16:creationId xmlns:a16="http://schemas.microsoft.com/office/drawing/2014/main" id="{779BA054-625B-45F9-BA14-45D84BBA8D7C}"/>
                </a:ext>
              </a:extLst>
            </p:cNvPr>
            <p:cNvSpPr/>
            <p:nvPr/>
          </p:nvSpPr>
          <p:spPr>
            <a:xfrm>
              <a:off x="4891053" y="1360450"/>
              <a:ext cx="8169224" cy="677108"/>
            </a:xfrm>
            <a:prstGeom prst="rect">
              <a:avLst/>
            </a:prstGeom>
          </p:spPr>
          <p:txBody>
            <a:bodyPr wrap="none">
              <a:spAutoFit/>
            </a:bodyPr>
            <a:lstStyle/>
            <a:p>
              <a:r>
                <a:rPr lang="en-US" sz="3800" dirty="0">
                  <a:solidFill>
                    <a:schemeClr val="bg1">
                      <a:lumMod val="85000"/>
                    </a:schemeClr>
                  </a:solidFill>
                  <a:latin typeface="Montserrat ExtraLight" panose="00000300000000000000" pitchFamily="50" charset="0"/>
                </a:rPr>
                <a:t>Getting into a leadership position</a:t>
              </a:r>
            </a:p>
          </p:txBody>
        </p:sp>
        <p:sp>
          <p:nvSpPr>
            <p:cNvPr id="10" name="Rectangle 9">
              <a:extLst>
                <a:ext uri="{FF2B5EF4-FFF2-40B4-BE49-F238E27FC236}">
                  <a16:creationId xmlns:a16="http://schemas.microsoft.com/office/drawing/2014/main" id="{CF47C1D8-52ED-4678-9809-7076A6F72AD8}"/>
                </a:ext>
              </a:extLst>
            </p:cNvPr>
            <p:cNvSpPr/>
            <p:nvPr/>
          </p:nvSpPr>
          <p:spPr>
            <a:xfrm>
              <a:off x="4891053" y="1873349"/>
              <a:ext cx="6764993" cy="1015663"/>
            </a:xfrm>
            <a:prstGeom prst="rect">
              <a:avLst/>
            </a:prstGeom>
          </p:spPr>
          <p:txBody>
            <a:bodyPr wrap="none">
              <a:spAutoFit/>
            </a:bodyPr>
            <a:lstStyle/>
            <a:p>
              <a:r>
                <a:rPr lang="en-US" sz="6000" b="1" dirty="0">
                  <a:solidFill>
                    <a:schemeClr val="bg1">
                      <a:lumMod val="85000"/>
                    </a:schemeClr>
                  </a:solidFill>
                  <a:latin typeface="Montserrat SemiBold" panose="00000700000000000000" pitchFamily="50" charset="0"/>
                </a:rPr>
                <a:t>15% </a:t>
              </a:r>
              <a:r>
                <a:rPr lang="en-US" sz="6000" b="1" dirty="0">
                  <a:solidFill>
                    <a:srgbClr val="FF6600"/>
                  </a:solidFill>
                  <a:latin typeface="Montserrat ExtraLight" panose="00000300000000000000" pitchFamily="50" charset="0"/>
                </a:rPr>
                <a:t>less </a:t>
              </a:r>
              <a:r>
                <a:rPr lang="en-US" sz="6000" b="1" dirty="0">
                  <a:solidFill>
                    <a:schemeClr val="bg1">
                      <a:lumMod val="85000"/>
                    </a:schemeClr>
                  </a:solidFill>
                  <a:latin typeface="Montserrat SemiBold" panose="00000700000000000000" pitchFamily="50" charset="0"/>
                </a:rPr>
                <a:t>chances</a:t>
              </a:r>
            </a:p>
          </p:txBody>
        </p:sp>
      </p:grpSp>
      <p:sp>
        <p:nvSpPr>
          <p:cNvPr id="2" name="Rectangle 1">
            <a:extLst>
              <a:ext uri="{FF2B5EF4-FFF2-40B4-BE49-F238E27FC236}">
                <a16:creationId xmlns:a16="http://schemas.microsoft.com/office/drawing/2014/main" id="{C7685364-917F-43C8-AABE-09B39122CE58}"/>
              </a:ext>
            </a:extLst>
          </p:cNvPr>
          <p:cNvSpPr/>
          <p:nvPr/>
        </p:nvSpPr>
        <p:spPr>
          <a:xfrm>
            <a:off x="1000749" y="6475005"/>
            <a:ext cx="8287657" cy="369332"/>
          </a:xfrm>
          <a:prstGeom prst="rect">
            <a:avLst/>
          </a:prstGeom>
        </p:spPr>
        <p:txBody>
          <a:bodyPr wrap="square">
            <a:spAutoFit/>
          </a:bodyPr>
          <a:lstStyle/>
          <a:p>
            <a:r>
              <a:rPr lang="en-US" dirty="0">
                <a:solidFill>
                  <a:schemeClr val="tx1">
                    <a:lumMod val="65000"/>
                    <a:lumOff val="35000"/>
                  </a:schemeClr>
                </a:solidFill>
              </a:rPr>
              <a:t>https://magneticspeaking.com/7-unbelievable-fear-of-public-speaking-statistics/</a:t>
            </a:r>
          </a:p>
        </p:txBody>
      </p:sp>
      <p:grpSp>
        <p:nvGrpSpPr>
          <p:cNvPr id="11" name="Group 10">
            <a:extLst>
              <a:ext uri="{FF2B5EF4-FFF2-40B4-BE49-F238E27FC236}">
                <a16:creationId xmlns:a16="http://schemas.microsoft.com/office/drawing/2014/main" id="{F4DC8A05-7ACD-417A-B4BB-DB2D7E2EE7FF}"/>
              </a:ext>
            </a:extLst>
          </p:cNvPr>
          <p:cNvGrpSpPr/>
          <p:nvPr/>
        </p:nvGrpSpPr>
        <p:grpSpPr>
          <a:xfrm>
            <a:off x="11318043" y="6321117"/>
            <a:ext cx="873957" cy="536883"/>
            <a:chOff x="2223911" y="5454148"/>
            <a:chExt cx="873957" cy="536883"/>
          </a:xfrm>
        </p:grpSpPr>
        <p:sp>
          <p:nvSpPr>
            <p:cNvPr id="12" name="TextBox 11">
              <a:extLst>
                <a:ext uri="{FF2B5EF4-FFF2-40B4-BE49-F238E27FC236}">
                  <a16:creationId xmlns:a16="http://schemas.microsoft.com/office/drawing/2014/main" id="{F0F8E0F2-4D5A-48BC-96E1-CE69BCF8CC9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13" name="TextBox 12">
              <a:extLst>
                <a:ext uri="{FF2B5EF4-FFF2-40B4-BE49-F238E27FC236}">
                  <a16:creationId xmlns:a16="http://schemas.microsoft.com/office/drawing/2014/main" id="{28004955-8568-4A8A-A288-93E84E09D053}"/>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1007327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pic>
        <p:nvPicPr>
          <p:cNvPr id="2050" name="Picture 2" descr="Related image">
            <a:extLst>
              <a:ext uri="{FF2B5EF4-FFF2-40B4-BE49-F238E27FC236}">
                <a16:creationId xmlns:a16="http://schemas.microsoft.com/office/drawing/2014/main" id="{34047366-347D-4613-BA99-E74951944288}"/>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81929" y="999067"/>
            <a:ext cx="1262618" cy="1416755"/>
          </a:xfrm>
          <a:prstGeom prst="rect">
            <a:avLst/>
          </a:prstGeom>
          <a:noFill/>
        </p:spPr>
      </p:pic>
      <p:pic>
        <p:nvPicPr>
          <p:cNvPr id="11" name="Picture 2" descr="Related image">
            <a:extLst>
              <a:ext uri="{FF2B5EF4-FFF2-40B4-BE49-F238E27FC236}">
                <a16:creationId xmlns:a16="http://schemas.microsoft.com/office/drawing/2014/main" id="{139DC959-6E97-4881-B1E4-7799079BEA30}"/>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13238" y="2065867"/>
            <a:ext cx="1262618" cy="1416755"/>
          </a:xfrm>
          <a:prstGeom prst="rect">
            <a:avLst/>
          </a:prstGeom>
          <a:noFill/>
        </p:spPr>
      </p:pic>
      <p:pic>
        <p:nvPicPr>
          <p:cNvPr id="12" name="Picture 2" descr="Related image">
            <a:extLst>
              <a:ext uri="{FF2B5EF4-FFF2-40B4-BE49-F238E27FC236}">
                <a16:creationId xmlns:a16="http://schemas.microsoft.com/office/drawing/2014/main" id="{BE6D416F-8FF8-4C06-BD7C-8377A69F278F}"/>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75856" y="2065867"/>
            <a:ext cx="1262618" cy="1416755"/>
          </a:xfrm>
          <a:prstGeom prst="rect">
            <a:avLst/>
          </a:prstGeom>
          <a:noFill/>
        </p:spPr>
      </p:pic>
      <p:pic>
        <p:nvPicPr>
          <p:cNvPr id="13" name="Picture 2" descr="Related image">
            <a:extLst>
              <a:ext uri="{FF2B5EF4-FFF2-40B4-BE49-F238E27FC236}">
                <a16:creationId xmlns:a16="http://schemas.microsoft.com/office/drawing/2014/main" id="{3CB5F205-EDA3-4D63-8634-57A95E0751E2}"/>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07165" y="3098801"/>
            <a:ext cx="1262618" cy="1416755"/>
          </a:xfrm>
          <a:prstGeom prst="rect">
            <a:avLst/>
          </a:prstGeom>
          <a:noFill/>
        </p:spPr>
      </p:pic>
      <p:pic>
        <p:nvPicPr>
          <p:cNvPr id="14" name="Picture 2" descr="Related image">
            <a:extLst>
              <a:ext uri="{FF2B5EF4-FFF2-40B4-BE49-F238E27FC236}">
                <a16:creationId xmlns:a16="http://schemas.microsoft.com/office/drawing/2014/main" id="{07AAF3ED-FDC0-455D-969D-360CB3B2D56B}"/>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69783" y="3098801"/>
            <a:ext cx="1262618" cy="1416755"/>
          </a:xfrm>
          <a:prstGeom prst="rect">
            <a:avLst/>
          </a:prstGeom>
          <a:noFill/>
        </p:spPr>
      </p:pic>
      <p:pic>
        <p:nvPicPr>
          <p:cNvPr id="15" name="Picture 2" descr="Related image">
            <a:extLst>
              <a:ext uri="{FF2B5EF4-FFF2-40B4-BE49-F238E27FC236}">
                <a16:creationId xmlns:a16="http://schemas.microsoft.com/office/drawing/2014/main" id="{B126884A-1A2C-4540-A733-D9D95E0BB232}"/>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01092" y="4137379"/>
            <a:ext cx="1262618" cy="1416755"/>
          </a:xfrm>
          <a:prstGeom prst="rect">
            <a:avLst/>
          </a:prstGeom>
          <a:noFill/>
        </p:spPr>
      </p:pic>
      <p:pic>
        <p:nvPicPr>
          <p:cNvPr id="16" name="Picture 2" descr="Related image">
            <a:extLst>
              <a:ext uri="{FF2B5EF4-FFF2-40B4-BE49-F238E27FC236}">
                <a16:creationId xmlns:a16="http://schemas.microsoft.com/office/drawing/2014/main" id="{7B8692C6-8FB5-4E3F-816E-3DDED722DB34}"/>
              </a:ext>
            </a:extLst>
          </p:cNvPr>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28263" y="1975557"/>
            <a:ext cx="1262618" cy="1416755"/>
          </a:xfrm>
          <a:prstGeom prst="rect">
            <a:avLst/>
          </a:prstGeom>
          <a:noFill/>
        </p:spPr>
      </p:pic>
      <p:sp>
        <p:nvSpPr>
          <p:cNvPr id="17" name="Rectangle 16">
            <a:extLst>
              <a:ext uri="{FF2B5EF4-FFF2-40B4-BE49-F238E27FC236}">
                <a16:creationId xmlns:a16="http://schemas.microsoft.com/office/drawing/2014/main" id="{BA62AFD9-036C-4E38-995C-053C4BA767EB}"/>
              </a:ext>
            </a:extLst>
          </p:cNvPr>
          <p:cNvSpPr/>
          <p:nvPr/>
        </p:nvSpPr>
        <p:spPr>
          <a:xfrm>
            <a:off x="3818738" y="1553555"/>
            <a:ext cx="788999" cy="307777"/>
          </a:xfrm>
          <a:prstGeom prst="rect">
            <a:avLst/>
          </a:prstGeom>
        </p:spPr>
        <p:txBody>
          <a:bodyPr wrap="none">
            <a:spAutoFit/>
          </a:bodyPr>
          <a:lstStyle/>
          <a:p>
            <a:pPr algn="ctr"/>
            <a:r>
              <a:rPr lang="en-US" sz="1400" dirty="0">
                <a:solidFill>
                  <a:srgbClr val="505050"/>
                </a:solidFill>
                <a:latin typeface="Montserrat Alternates Light" panose="00000400000000000000" pitchFamily="50" charset="0"/>
              </a:rPr>
              <a:t>stance</a:t>
            </a:r>
          </a:p>
        </p:txBody>
      </p:sp>
      <p:sp>
        <p:nvSpPr>
          <p:cNvPr id="18" name="Rectangle 17">
            <a:extLst>
              <a:ext uri="{FF2B5EF4-FFF2-40B4-BE49-F238E27FC236}">
                <a16:creationId xmlns:a16="http://schemas.microsoft.com/office/drawing/2014/main" id="{826C8988-0734-487F-8E39-F6DD445FCC41}"/>
              </a:ext>
            </a:extLst>
          </p:cNvPr>
          <p:cNvSpPr/>
          <p:nvPr/>
        </p:nvSpPr>
        <p:spPr>
          <a:xfrm>
            <a:off x="4288945" y="2512634"/>
            <a:ext cx="1111203" cy="523220"/>
          </a:xfrm>
          <a:prstGeom prst="rect">
            <a:avLst/>
          </a:prstGeom>
        </p:spPr>
        <p:txBody>
          <a:bodyPr wrap="none">
            <a:spAutoFit/>
          </a:bodyPr>
          <a:lstStyle/>
          <a:p>
            <a:pPr algn="ctr"/>
            <a:r>
              <a:rPr lang="en-US" sz="1400" dirty="0">
                <a:solidFill>
                  <a:srgbClr val="505050"/>
                </a:solidFill>
                <a:latin typeface="Montserrat Alternates Light" panose="00000400000000000000" pitchFamily="50" charset="0"/>
              </a:rPr>
              <a:t>beginning</a:t>
            </a:r>
          </a:p>
          <a:p>
            <a:pPr algn="ctr"/>
            <a:r>
              <a:rPr lang="en-IN" sz="1400" dirty="0">
                <a:solidFill>
                  <a:srgbClr val="505050"/>
                </a:solidFill>
                <a:latin typeface="Montserrat Alternates Light" panose="00000400000000000000" pitchFamily="50" charset="0"/>
              </a:rPr>
              <a:t>&amp; end</a:t>
            </a:r>
            <a:endParaRPr lang="en-US" sz="1400" dirty="0">
              <a:solidFill>
                <a:srgbClr val="505050"/>
              </a:solidFill>
              <a:latin typeface="Montserrat Alternates Light" panose="00000400000000000000" pitchFamily="50" charset="0"/>
            </a:endParaRPr>
          </a:p>
        </p:txBody>
      </p:sp>
      <p:sp>
        <p:nvSpPr>
          <p:cNvPr id="19" name="Rectangle 18">
            <a:extLst>
              <a:ext uri="{FF2B5EF4-FFF2-40B4-BE49-F238E27FC236}">
                <a16:creationId xmlns:a16="http://schemas.microsoft.com/office/drawing/2014/main" id="{F23F8D4D-EF58-4FEF-87D1-73410FEA189D}"/>
              </a:ext>
            </a:extLst>
          </p:cNvPr>
          <p:cNvSpPr/>
          <p:nvPr/>
        </p:nvSpPr>
        <p:spPr>
          <a:xfrm>
            <a:off x="5729499" y="2512634"/>
            <a:ext cx="755335" cy="523220"/>
          </a:xfrm>
          <a:prstGeom prst="rect">
            <a:avLst/>
          </a:prstGeom>
        </p:spPr>
        <p:txBody>
          <a:bodyPr wrap="none">
            <a:spAutoFit/>
          </a:bodyPr>
          <a:lstStyle/>
          <a:p>
            <a:pPr algn="ctr"/>
            <a:r>
              <a:rPr lang="en-IN" sz="1400" dirty="0">
                <a:solidFill>
                  <a:srgbClr val="505050"/>
                </a:solidFill>
                <a:latin typeface="Montserrat Alternates Light" panose="00000400000000000000" pitchFamily="50" charset="0"/>
              </a:rPr>
              <a:t>story</a:t>
            </a:r>
          </a:p>
          <a:p>
            <a:pPr algn="ctr"/>
            <a:r>
              <a:rPr lang="en-IN" sz="1400" dirty="0">
                <a:solidFill>
                  <a:srgbClr val="505050"/>
                </a:solidFill>
                <a:latin typeface="Montserrat Alternates Light" panose="00000400000000000000" pitchFamily="50" charset="0"/>
              </a:rPr>
              <a:t>telling</a:t>
            </a:r>
            <a:endParaRPr lang="en-US" sz="1400" dirty="0">
              <a:solidFill>
                <a:srgbClr val="505050"/>
              </a:solidFill>
              <a:latin typeface="Montserrat Alternates Light" panose="00000400000000000000" pitchFamily="50" charset="0"/>
            </a:endParaRPr>
          </a:p>
        </p:txBody>
      </p:sp>
      <p:sp>
        <p:nvSpPr>
          <p:cNvPr id="20" name="Rectangle 19">
            <a:extLst>
              <a:ext uri="{FF2B5EF4-FFF2-40B4-BE49-F238E27FC236}">
                <a16:creationId xmlns:a16="http://schemas.microsoft.com/office/drawing/2014/main" id="{969FDC22-78BA-4DF5-98C3-9C3373525D90}"/>
              </a:ext>
            </a:extLst>
          </p:cNvPr>
          <p:cNvSpPr/>
          <p:nvPr/>
        </p:nvSpPr>
        <p:spPr>
          <a:xfrm>
            <a:off x="6202109" y="3494769"/>
            <a:ext cx="1072731" cy="523220"/>
          </a:xfrm>
          <a:prstGeom prst="rect">
            <a:avLst/>
          </a:prstGeom>
        </p:spPr>
        <p:txBody>
          <a:bodyPr wrap="none">
            <a:spAutoFit/>
          </a:bodyPr>
          <a:lstStyle/>
          <a:p>
            <a:pPr algn="ctr"/>
            <a:r>
              <a:rPr lang="en-IN" sz="1400" dirty="0">
                <a:solidFill>
                  <a:srgbClr val="505050"/>
                </a:solidFill>
                <a:latin typeface="Montserrat Alternates Light" panose="00000400000000000000" pitchFamily="50" charset="0"/>
              </a:rPr>
              <a:t>body</a:t>
            </a:r>
          </a:p>
          <a:p>
            <a:pPr algn="ctr"/>
            <a:r>
              <a:rPr lang="en-IN" sz="1400" dirty="0">
                <a:solidFill>
                  <a:srgbClr val="505050"/>
                </a:solidFill>
                <a:latin typeface="Montserrat Alternates Light" panose="00000400000000000000" pitchFamily="50" charset="0"/>
              </a:rPr>
              <a:t>language</a:t>
            </a:r>
            <a:endParaRPr lang="en-US" sz="1400" dirty="0">
              <a:solidFill>
                <a:srgbClr val="505050"/>
              </a:solidFill>
              <a:latin typeface="Montserrat Alternates Light" panose="00000400000000000000" pitchFamily="50" charset="0"/>
            </a:endParaRPr>
          </a:p>
        </p:txBody>
      </p:sp>
      <p:sp>
        <p:nvSpPr>
          <p:cNvPr id="21" name="Rectangle 20">
            <a:extLst>
              <a:ext uri="{FF2B5EF4-FFF2-40B4-BE49-F238E27FC236}">
                <a16:creationId xmlns:a16="http://schemas.microsoft.com/office/drawing/2014/main" id="{BC2FB1CA-B753-4D2C-A88A-62759D4F5E41}"/>
              </a:ext>
            </a:extLst>
          </p:cNvPr>
          <p:cNvSpPr/>
          <p:nvPr/>
        </p:nvSpPr>
        <p:spPr>
          <a:xfrm>
            <a:off x="7533576" y="3653289"/>
            <a:ext cx="989374" cy="307777"/>
          </a:xfrm>
          <a:prstGeom prst="rect">
            <a:avLst/>
          </a:prstGeom>
        </p:spPr>
        <p:txBody>
          <a:bodyPr wrap="none">
            <a:spAutoFit/>
          </a:bodyPr>
          <a:lstStyle/>
          <a:p>
            <a:pPr algn="ctr"/>
            <a:r>
              <a:rPr lang="en-IN" sz="1400" dirty="0">
                <a:solidFill>
                  <a:srgbClr val="505050"/>
                </a:solidFill>
                <a:latin typeface="Montserrat Alternates Light" panose="00000400000000000000" pitchFamily="50" charset="0"/>
              </a:rPr>
              <a:t>rehearse</a:t>
            </a:r>
            <a:endParaRPr lang="en-US" sz="1400" dirty="0">
              <a:solidFill>
                <a:srgbClr val="505050"/>
              </a:solidFill>
              <a:latin typeface="Montserrat Alternates Light" panose="00000400000000000000" pitchFamily="50" charset="0"/>
            </a:endParaRPr>
          </a:p>
        </p:txBody>
      </p:sp>
    </p:spTree>
    <p:extLst>
      <p:ext uri="{BB962C8B-B14F-4D97-AF65-F5344CB8AC3E}">
        <p14:creationId xmlns:p14="http://schemas.microsoft.com/office/powerpoint/2010/main" val="126612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7102099" cy="1389806"/>
            <a:chOff x="825147" y="1300878"/>
            <a:chExt cx="7102099" cy="1389806"/>
          </a:xfrm>
        </p:grpSpPr>
        <p:sp>
          <p:nvSpPr>
            <p:cNvPr id="10" name="Rectangle 9">
              <a:extLst>
                <a:ext uri="{FF2B5EF4-FFF2-40B4-BE49-F238E27FC236}">
                  <a16:creationId xmlns:a16="http://schemas.microsoft.com/office/drawing/2014/main" id="{FDC48643-4FBE-4281-866D-A0E040A53BDB}"/>
                </a:ext>
              </a:extLst>
            </p:cNvPr>
            <p:cNvSpPr/>
            <p:nvPr/>
          </p:nvSpPr>
          <p:spPr>
            <a:xfrm>
              <a:off x="1938106" y="2013576"/>
              <a:ext cx="5989140" cy="677108"/>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What is more important</a:t>
              </a: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176545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670CFA-1C6B-42D7-B142-4BE726478034}"/>
              </a:ext>
            </a:extLst>
          </p:cNvPr>
          <p:cNvGrpSpPr/>
          <p:nvPr/>
        </p:nvGrpSpPr>
        <p:grpSpPr>
          <a:xfrm>
            <a:off x="4307635" y="3535574"/>
            <a:ext cx="6883616" cy="1528562"/>
            <a:chOff x="4195349" y="1360450"/>
            <a:chExt cx="6883616" cy="1528562"/>
          </a:xfrm>
        </p:grpSpPr>
        <p:sp>
          <p:nvSpPr>
            <p:cNvPr id="7" name="Rectangle 6">
              <a:extLst>
                <a:ext uri="{FF2B5EF4-FFF2-40B4-BE49-F238E27FC236}">
                  <a16:creationId xmlns:a16="http://schemas.microsoft.com/office/drawing/2014/main" id="{508310AF-78D6-487D-B885-1F163A758B5D}"/>
                </a:ext>
              </a:extLst>
            </p:cNvPr>
            <p:cNvSpPr/>
            <p:nvPr/>
          </p:nvSpPr>
          <p:spPr>
            <a:xfrm>
              <a:off x="6223148" y="1360450"/>
              <a:ext cx="4855817" cy="677108"/>
            </a:xfrm>
            <a:prstGeom prst="rect">
              <a:avLst/>
            </a:prstGeom>
          </p:spPr>
          <p:txBody>
            <a:bodyPr wrap="none">
              <a:spAutoFit/>
            </a:bodyPr>
            <a:lstStyle/>
            <a:p>
              <a:pPr algn="r"/>
              <a:r>
                <a:rPr lang="en-US" sz="3800" dirty="0">
                  <a:solidFill>
                    <a:schemeClr val="bg1">
                      <a:lumMod val="85000"/>
                    </a:schemeClr>
                  </a:solidFill>
                  <a:latin typeface="Montserrat ExtraLight" panose="00000300000000000000" pitchFamily="50" charset="0"/>
                </a:rPr>
                <a:t>The </a:t>
              </a:r>
              <a:r>
                <a:rPr lang="en-US" sz="3800" b="1" dirty="0">
                  <a:solidFill>
                    <a:schemeClr val="bg1">
                      <a:lumMod val="85000"/>
                    </a:schemeClr>
                  </a:solidFill>
                  <a:latin typeface="Montserrat ExtraLight" panose="00000300000000000000" pitchFamily="50" charset="0"/>
                </a:rPr>
                <a:t>joke</a:t>
              </a:r>
              <a:r>
                <a:rPr lang="en-US" sz="3800" dirty="0">
                  <a:solidFill>
                    <a:schemeClr val="bg1">
                      <a:lumMod val="85000"/>
                    </a:schemeClr>
                  </a:solidFill>
                  <a:latin typeface="Montserrat ExtraLight" panose="00000300000000000000" pitchFamily="50" charset="0"/>
                </a:rPr>
                <a:t> or </a:t>
              </a:r>
              <a:r>
                <a:rPr lang="en-US" sz="3800" dirty="0">
                  <a:solidFill>
                    <a:srgbClr val="FF6600"/>
                  </a:solidFill>
                  <a:latin typeface="Montserrat ExtraLight" panose="00000300000000000000" pitchFamily="50" charset="0"/>
                </a:rPr>
                <a:t>the way</a:t>
              </a:r>
            </a:p>
          </p:txBody>
        </p:sp>
        <p:sp>
          <p:nvSpPr>
            <p:cNvPr id="8" name="Rectangle 7">
              <a:extLst>
                <a:ext uri="{FF2B5EF4-FFF2-40B4-BE49-F238E27FC236}">
                  <a16:creationId xmlns:a16="http://schemas.microsoft.com/office/drawing/2014/main" id="{0F7AB48F-45B7-4524-A106-94B2B46C7EB7}"/>
                </a:ext>
              </a:extLst>
            </p:cNvPr>
            <p:cNvSpPr/>
            <p:nvPr/>
          </p:nvSpPr>
          <p:spPr>
            <a:xfrm>
              <a:off x="4195349" y="1873349"/>
              <a:ext cx="6883616" cy="1015663"/>
            </a:xfrm>
            <a:prstGeom prst="rect">
              <a:avLst/>
            </a:prstGeom>
          </p:spPr>
          <p:txBody>
            <a:bodyPr wrap="none">
              <a:spAutoFit/>
            </a:bodyPr>
            <a:lstStyle/>
            <a:p>
              <a:pPr algn="r"/>
              <a:r>
                <a:rPr lang="en-US" sz="6000" b="1" dirty="0">
                  <a:solidFill>
                    <a:schemeClr val="bg1">
                      <a:lumMod val="85000"/>
                    </a:schemeClr>
                  </a:solidFill>
                  <a:latin typeface="Montserrat SemiBold" panose="00000700000000000000" pitchFamily="50" charset="0"/>
                </a:rPr>
                <a:t>it was delivered?</a:t>
              </a:r>
            </a:p>
          </p:txBody>
        </p:sp>
      </p:grpSp>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2351064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F2433B13-B4E4-4698-ABC4-1215C5A36DB5}"/>
              </a:ext>
            </a:extLst>
          </p:cNvPr>
          <p:cNvGrpSpPr/>
          <p:nvPr/>
        </p:nvGrpSpPr>
        <p:grpSpPr>
          <a:xfrm>
            <a:off x="11318043" y="6321117"/>
            <a:ext cx="873957" cy="536883"/>
            <a:chOff x="2223911" y="5454148"/>
            <a:chExt cx="873957" cy="536883"/>
          </a:xfrm>
        </p:grpSpPr>
        <p:sp>
          <p:nvSpPr>
            <p:cNvPr id="24" name="TextBox 23">
              <a:extLst>
                <a:ext uri="{FF2B5EF4-FFF2-40B4-BE49-F238E27FC236}">
                  <a16:creationId xmlns:a16="http://schemas.microsoft.com/office/drawing/2014/main" id="{05A47988-CB0E-41CE-BC65-78AC2E5A8B05}"/>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5" name="TextBox 24">
              <a:extLst>
                <a:ext uri="{FF2B5EF4-FFF2-40B4-BE49-F238E27FC236}">
                  <a16:creationId xmlns:a16="http://schemas.microsoft.com/office/drawing/2014/main" id="{C1147D80-E125-4D23-98FC-689B887B8EE9}"/>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pic>
        <p:nvPicPr>
          <p:cNvPr id="1028" name="Picture 4" descr="Image result for primacy recency effect">
            <a:extLst>
              <a:ext uri="{FF2B5EF4-FFF2-40B4-BE49-F238E27FC236}">
                <a16:creationId xmlns:a16="http://schemas.microsoft.com/office/drawing/2014/main" id="{B5A8E4B7-F645-4C11-BC74-D4D54CE4CC93}"/>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l="2436" t="3375" r="44698" b="1675"/>
          <a:stretch/>
        </p:blipFill>
        <p:spPr bwMode="auto">
          <a:xfrm>
            <a:off x="8115064" y="1698449"/>
            <a:ext cx="2159560" cy="2686807"/>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grpSp>
        <p:nvGrpSpPr>
          <p:cNvPr id="34" name="Group 33">
            <a:extLst>
              <a:ext uri="{FF2B5EF4-FFF2-40B4-BE49-F238E27FC236}">
                <a16:creationId xmlns:a16="http://schemas.microsoft.com/office/drawing/2014/main" id="{F025A17C-456F-42AC-95DA-0FAA1550DFAA}"/>
              </a:ext>
            </a:extLst>
          </p:cNvPr>
          <p:cNvGrpSpPr/>
          <p:nvPr/>
        </p:nvGrpSpPr>
        <p:grpSpPr>
          <a:xfrm>
            <a:off x="784910" y="745070"/>
            <a:ext cx="5593312" cy="3728308"/>
            <a:chOff x="773621" y="508003"/>
            <a:chExt cx="3882435" cy="3728308"/>
          </a:xfrm>
        </p:grpSpPr>
        <p:cxnSp>
          <p:nvCxnSpPr>
            <p:cNvPr id="17" name="Straight Arrow Connector 16">
              <a:extLst>
                <a:ext uri="{FF2B5EF4-FFF2-40B4-BE49-F238E27FC236}">
                  <a16:creationId xmlns:a16="http://schemas.microsoft.com/office/drawing/2014/main" id="{4445715E-A936-47E6-8471-914522077912}"/>
                </a:ext>
              </a:extLst>
            </p:cNvPr>
            <p:cNvCxnSpPr>
              <a:cxnSpLocks/>
            </p:cNvCxnSpPr>
            <p:nvPr/>
          </p:nvCxnSpPr>
          <p:spPr>
            <a:xfrm flipV="1">
              <a:off x="1117599" y="1461382"/>
              <a:ext cx="0" cy="2433285"/>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836FD66-ACEC-400F-B09C-6248A673A2B7}"/>
                </a:ext>
              </a:extLst>
            </p:cNvPr>
            <p:cNvCxnSpPr/>
            <p:nvPr/>
          </p:nvCxnSpPr>
          <p:spPr>
            <a:xfrm>
              <a:off x="1117599" y="3894667"/>
              <a:ext cx="3439071" cy="0"/>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E621D8F0-1949-44DA-99F6-3C613EE0DD21}"/>
                </a:ext>
              </a:extLst>
            </p:cNvPr>
            <p:cNvSpPr/>
            <p:nvPr/>
          </p:nvSpPr>
          <p:spPr>
            <a:xfrm rot="10398881">
              <a:off x="1536838" y="508003"/>
              <a:ext cx="2227202" cy="3091884"/>
            </a:xfrm>
            <a:prstGeom prst="arc">
              <a:avLst>
                <a:gd name="adj1" fmla="val 12065430"/>
                <a:gd name="adj2" fmla="val 2118527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6" name="Group 25">
              <a:extLst>
                <a:ext uri="{FF2B5EF4-FFF2-40B4-BE49-F238E27FC236}">
                  <a16:creationId xmlns:a16="http://schemas.microsoft.com/office/drawing/2014/main" id="{71A1F73E-3463-413E-8C2F-0E2B3CBC8995}"/>
                </a:ext>
              </a:extLst>
            </p:cNvPr>
            <p:cNvGrpSpPr/>
            <p:nvPr/>
          </p:nvGrpSpPr>
          <p:grpSpPr>
            <a:xfrm>
              <a:off x="1364437" y="1822249"/>
              <a:ext cx="756938" cy="438582"/>
              <a:chOff x="2223911" y="5490894"/>
              <a:chExt cx="756938" cy="438582"/>
            </a:xfrm>
          </p:grpSpPr>
          <p:sp>
            <p:nvSpPr>
              <p:cNvPr id="27" name="TextBox 26">
                <a:extLst>
                  <a:ext uri="{FF2B5EF4-FFF2-40B4-BE49-F238E27FC236}">
                    <a16:creationId xmlns:a16="http://schemas.microsoft.com/office/drawing/2014/main" id="{794C5FB4-4F5C-4309-8ACF-C41610A0B7DA}"/>
                  </a:ext>
                </a:extLst>
              </p:cNvPr>
              <p:cNvSpPr txBox="1"/>
              <p:nvPr/>
            </p:nvSpPr>
            <p:spPr>
              <a:xfrm>
                <a:off x="2223911" y="5490894"/>
                <a:ext cx="756938" cy="261610"/>
              </a:xfrm>
              <a:prstGeom prst="rect">
                <a:avLst/>
              </a:prstGeom>
              <a:noFill/>
            </p:spPr>
            <p:txBody>
              <a:bodyPr wrap="none" rtlCol="0">
                <a:spAutoFit/>
              </a:bodyPr>
              <a:lstStyle/>
              <a:p>
                <a:r>
                  <a:rPr lang="en-IN" sz="1100" dirty="0">
                    <a:solidFill>
                      <a:schemeClr val="tx1">
                        <a:lumMod val="65000"/>
                        <a:lumOff val="35000"/>
                      </a:schemeClr>
                    </a:solidFill>
                    <a:latin typeface="Montserrat ExtraLight" panose="00000300000000000000" pitchFamily="50" charset="0"/>
                  </a:rPr>
                  <a:t>Primacy</a:t>
                </a:r>
              </a:p>
            </p:txBody>
          </p:sp>
          <p:sp>
            <p:nvSpPr>
              <p:cNvPr id="28" name="TextBox 27">
                <a:extLst>
                  <a:ext uri="{FF2B5EF4-FFF2-40B4-BE49-F238E27FC236}">
                    <a16:creationId xmlns:a16="http://schemas.microsoft.com/office/drawing/2014/main" id="{4396C4A0-B370-4216-8BB2-36E3C63BEB6B}"/>
                  </a:ext>
                </a:extLst>
              </p:cNvPr>
              <p:cNvSpPr txBox="1"/>
              <p:nvPr/>
            </p:nvSpPr>
            <p:spPr>
              <a:xfrm>
                <a:off x="2227117" y="5621699"/>
                <a:ext cx="720069" cy="307777"/>
              </a:xfrm>
              <a:prstGeom prst="rect">
                <a:avLst/>
              </a:prstGeom>
              <a:noFill/>
            </p:spPr>
            <p:txBody>
              <a:bodyPr wrap="none" rtlCol="0">
                <a:spAutoFit/>
              </a:bodyPr>
              <a:lstStyle/>
              <a:p>
                <a:r>
                  <a:rPr lang="en-IN" sz="1400" b="1" dirty="0">
                    <a:solidFill>
                      <a:schemeClr val="bg1">
                        <a:lumMod val="50000"/>
                      </a:schemeClr>
                    </a:solidFill>
                    <a:latin typeface="Montserrat SemiBold" panose="00000700000000000000" pitchFamily="50" charset="0"/>
                  </a:rPr>
                  <a:t>effect</a:t>
                </a:r>
                <a:endParaRPr lang="en-US" sz="1400" b="1" dirty="0">
                  <a:solidFill>
                    <a:schemeClr val="bg1">
                      <a:lumMod val="50000"/>
                    </a:schemeClr>
                  </a:solidFill>
                  <a:latin typeface="Montserrat SemiBold" panose="00000700000000000000" pitchFamily="50" charset="0"/>
                </a:endParaRPr>
              </a:p>
            </p:txBody>
          </p:sp>
        </p:grpSp>
        <p:grpSp>
          <p:nvGrpSpPr>
            <p:cNvPr id="29" name="Group 28">
              <a:extLst>
                <a:ext uri="{FF2B5EF4-FFF2-40B4-BE49-F238E27FC236}">
                  <a16:creationId xmlns:a16="http://schemas.microsoft.com/office/drawing/2014/main" id="{2BCEE231-38CD-4C9B-8C1A-67F4093CCDD1}"/>
                </a:ext>
              </a:extLst>
            </p:cNvPr>
            <p:cNvGrpSpPr/>
            <p:nvPr/>
          </p:nvGrpSpPr>
          <p:grpSpPr>
            <a:xfrm>
              <a:off x="3426340" y="1822249"/>
              <a:ext cx="772969" cy="438582"/>
              <a:chOff x="2223911" y="5490894"/>
              <a:chExt cx="772969" cy="438582"/>
            </a:xfrm>
          </p:grpSpPr>
          <p:sp>
            <p:nvSpPr>
              <p:cNvPr id="30" name="TextBox 29">
                <a:extLst>
                  <a:ext uri="{FF2B5EF4-FFF2-40B4-BE49-F238E27FC236}">
                    <a16:creationId xmlns:a16="http://schemas.microsoft.com/office/drawing/2014/main" id="{5F5F741F-3E5E-4AA6-8246-E248FFC992A8}"/>
                  </a:ext>
                </a:extLst>
              </p:cNvPr>
              <p:cNvSpPr txBox="1"/>
              <p:nvPr/>
            </p:nvSpPr>
            <p:spPr>
              <a:xfrm>
                <a:off x="2223911" y="5490894"/>
                <a:ext cx="772969" cy="261610"/>
              </a:xfrm>
              <a:prstGeom prst="rect">
                <a:avLst/>
              </a:prstGeom>
              <a:noFill/>
            </p:spPr>
            <p:txBody>
              <a:bodyPr wrap="none" rtlCol="0">
                <a:spAutoFit/>
              </a:bodyPr>
              <a:lstStyle/>
              <a:p>
                <a:r>
                  <a:rPr lang="en-IN" sz="1100" dirty="0">
                    <a:solidFill>
                      <a:schemeClr val="tx1">
                        <a:lumMod val="65000"/>
                        <a:lumOff val="35000"/>
                      </a:schemeClr>
                    </a:solidFill>
                    <a:latin typeface="Montserrat ExtraLight" panose="00000300000000000000" pitchFamily="50" charset="0"/>
                  </a:rPr>
                  <a:t>Recency</a:t>
                </a:r>
              </a:p>
            </p:txBody>
          </p:sp>
          <p:sp>
            <p:nvSpPr>
              <p:cNvPr id="31" name="TextBox 30">
                <a:extLst>
                  <a:ext uri="{FF2B5EF4-FFF2-40B4-BE49-F238E27FC236}">
                    <a16:creationId xmlns:a16="http://schemas.microsoft.com/office/drawing/2014/main" id="{3B13B91E-1915-4EF6-897A-96164648FD1F}"/>
                  </a:ext>
                </a:extLst>
              </p:cNvPr>
              <p:cNvSpPr txBox="1"/>
              <p:nvPr/>
            </p:nvSpPr>
            <p:spPr>
              <a:xfrm>
                <a:off x="2227117" y="5621699"/>
                <a:ext cx="720069" cy="307777"/>
              </a:xfrm>
              <a:prstGeom prst="rect">
                <a:avLst/>
              </a:prstGeom>
              <a:noFill/>
            </p:spPr>
            <p:txBody>
              <a:bodyPr wrap="none" rtlCol="0">
                <a:spAutoFit/>
              </a:bodyPr>
              <a:lstStyle/>
              <a:p>
                <a:r>
                  <a:rPr lang="en-IN" sz="1400" b="1" dirty="0">
                    <a:solidFill>
                      <a:schemeClr val="bg1">
                        <a:lumMod val="50000"/>
                      </a:schemeClr>
                    </a:solidFill>
                    <a:latin typeface="Montserrat SemiBold" panose="00000700000000000000" pitchFamily="50" charset="0"/>
                  </a:rPr>
                  <a:t>effect</a:t>
                </a:r>
                <a:endParaRPr lang="en-US" sz="1400" b="1" dirty="0">
                  <a:solidFill>
                    <a:schemeClr val="bg1">
                      <a:lumMod val="50000"/>
                    </a:schemeClr>
                  </a:solidFill>
                  <a:latin typeface="Montserrat SemiBold" panose="00000700000000000000" pitchFamily="50" charset="0"/>
                </a:endParaRPr>
              </a:p>
            </p:txBody>
          </p:sp>
        </p:grpSp>
        <p:sp>
          <p:nvSpPr>
            <p:cNvPr id="32" name="TextBox 31">
              <a:extLst>
                <a:ext uri="{FF2B5EF4-FFF2-40B4-BE49-F238E27FC236}">
                  <a16:creationId xmlns:a16="http://schemas.microsoft.com/office/drawing/2014/main" id="{629B00C3-D7C4-4752-A597-3411FBA753FF}"/>
                </a:ext>
              </a:extLst>
            </p:cNvPr>
            <p:cNvSpPr txBox="1"/>
            <p:nvPr/>
          </p:nvSpPr>
          <p:spPr>
            <a:xfrm>
              <a:off x="1033190" y="3928534"/>
              <a:ext cx="1156086" cy="307777"/>
            </a:xfrm>
            <a:prstGeom prst="rect">
              <a:avLst/>
            </a:prstGeom>
            <a:noFill/>
          </p:spPr>
          <p:txBody>
            <a:bodyPr wrap="none" rtlCol="0">
              <a:spAutoFit/>
            </a:bodyPr>
            <a:lstStyle/>
            <a:p>
              <a:r>
                <a:rPr lang="en-IN" sz="1400" b="1" dirty="0">
                  <a:solidFill>
                    <a:schemeClr val="bg1">
                      <a:lumMod val="50000"/>
                    </a:schemeClr>
                  </a:solidFill>
                  <a:latin typeface="Montserrat SemiBold" panose="00000700000000000000" pitchFamily="50" charset="0"/>
                </a:rPr>
                <a:t>Beginning</a:t>
              </a:r>
              <a:endParaRPr lang="en-US" sz="1400" b="1" dirty="0">
                <a:solidFill>
                  <a:schemeClr val="bg1">
                    <a:lumMod val="50000"/>
                  </a:schemeClr>
                </a:solidFill>
                <a:latin typeface="Montserrat SemiBold" panose="00000700000000000000" pitchFamily="50" charset="0"/>
              </a:endParaRPr>
            </a:p>
          </p:txBody>
        </p:sp>
        <p:sp>
          <p:nvSpPr>
            <p:cNvPr id="33" name="TextBox 32">
              <a:extLst>
                <a:ext uri="{FF2B5EF4-FFF2-40B4-BE49-F238E27FC236}">
                  <a16:creationId xmlns:a16="http://schemas.microsoft.com/office/drawing/2014/main" id="{0AC691F9-614C-4349-A502-E31EF08908BF}"/>
                </a:ext>
              </a:extLst>
            </p:cNvPr>
            <p:cNvSpPr txBox="1"/>
            <p:nvPr/>
          </p:nvSpPr>
          <p:spPr>
            <a:xfrm>
              <a:off x="4104302" y="3928534"/>
              <a:ext cx="551754" cy="307777"/>
            </a:xfrm>
            <a:prstGeom prst="rect">
              <a:avLst/>
            </a:prstGeom>
            <a:noFill/>
          </p:spPr>
          <p:txBody>
            <a:bodyPr wrap="none" rtlCol="0">
              <a:spAutoFit/>
            </a:bodyPr>
            <a:lstStyle/>
            <a:p>
              <a:r>
                <a:rPr lang="en-IN" sz="1400" b="1" dirty="0">
                  <a:solidFill>
                    <a:schemeClr val="bg1">
                      <a:lumMod val="50000"/>
                    </a:schemeClr>
                  </a:solidFill>
                  <a:latin typeface="Montserrat SemiBold" panose="00000700000000000000" pitchFamily="50" charset="0"/>
                </a:rPr>
                <a:t>End</a:t>
              </a:r>
              <a:endParaRPr lang="en-US" sz="1400" b="1" dirty="0">
                <a:solidFill>
                  <a:schemeClr val="bg1">
                    <a:lumMod val="50000"/>
                  </a:schemeClr>
                </a:solidFill>
                <a:latin typeface="Montserrat SemiBold" panose="00000700000000000000" pitchFamily="50" charset="0"/>
              </a:endParaRPr>
            </a:p>
          </p:txBody>
        </p:sp>
        <p:sp>
          <p:nvSpPr>
            <p:cNvPr id="35" name="TextBox 34">
              <a:extLst>
                <a:ext uri="{FF2B5EF4-FFF2-40B4-BE49-F238E27FC236}">
                  <a16:creationId xmlns:a16="http://schemas.microsoft.com/office/drawing/2014/main" id="{250E7645-6DF8-4B42-BE96-4DC9CAC54C0D}"/>
                </a:ext>
              </a:extLst>
            </p:cNvPr>
            <p:cNvSpPr txBox="1"/>
            <p:nvPr/>
          </p:nvSpPr>
          <p:spPr>
            <a:xfrm rot="16200000">
              <a:off x="-152114" y="2707322"/>
              <a:ext cx="2113079" cy="261610"/>
            </a:xfrm>
            <a:prstGeom prst="rect">
              <a:avLst/>
            </a:prstGeom>
            <a:noFill/>
          </p:spPr>
          <p:txBody>
            <a:bodyPr wrap="none" rtlCol="0">
              <a:spAutoFit/>
            </a:bodyPr>
            <a:lstStyle/>
            <a:p>
              <a:r>
                <a:rPr lang="en-IN" sz="1100" dirty="0">
                  <a:solidFill>
                    <a:schemeClr val="tx1">
                      <a:lumMod val="65000"/>
                      <a:lumOff val="35000"/>
                    </a:schemeClr>
                  </a:solidFill>
                  <a:latin typeface="Montserrat ExtraLight" panose="00000300000000000000" pitchFamily="50" charset="0"/>
                </a:rPr>
                <a:t>Probability of remembering</a:t>
              </a:r>
            </a:p>
          </p:txBody>
        </p:sp>
      </p:grpSp>
    </p:spTree>
    <p:extLst>
      <p:ext uri="{BB962C8B-B14F-4D97-AF65-F5344CB8AC3E}">
        <p14:creationId xmlns:p14="http://schemas.microsoft.com/office/powerpoint/2010/main" val="370160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4211798" cy="1389809"/>
            <a:chOff x="825147" y="1300878"/>
            <a:chExt cx="4211798" cy="1389809"/>
          </a:xfrm>
        </p:grpSpPr>
        <p:sp>
          <p:nvSpPr>
            <p:cNvPr id="10" name="Rectangle 9">
              <a:extLst>
                <a:ext uri="{FF2B5EF4-FFF2-40B4-BE49-F238E27FC236}">
                  <a16:creationId xmlns:a16="http://schemas.microsoft.com/office/drawing/2014/main" id="{FDC48643-4FBE-4281-866D-A0E040A53BDB}"/>
                </a:ext>
              </a:extLst>
            </p:cNvPr>
            <p:cNvSpPr/>
            <p:nvPr/>
          </p:nvSpPr>
          <p:spPr>
            <a:xfrm>
              <a:off x="1923592" y="2013579"/>
              <a:ext cx="3113353" cy="677108"/>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Less is </a:t>
              </a:r>
              <a:r>
                <a:rPr lang="en-US" sz="3800" dirty="0">
                  <a:solidFill>
                    <a:srgbClr val="FF6600"/>
                  </a:solidFill>
                  <a:latin typeface="Montserrat ExtraLight" panose="00000300000000000000" pitchFamily="50" charset="0"/>
                </a:rPr>
                <a:t>more</a:t>
              </a: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3097213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1829393" y="3840548"/>
            <a:ext cx="9361858" cy="1528385"/>
            <a:chOff x="1717107" y="1505767"/>
            <a:chExt cx="9361858" cy="1528385"/>
          </a:xfrm>
        </p:grpSpPr>
        <p:sp>
          <p:nvSpPr>
            <p:cNvPr id="6" name="Rectangle 5">
              <a:extLst>
                <a:ext uri="{FF2B5EF4-FFF2-40B4-BE49-F238E27FC236}">
                  <a16:creationId xmlns:a16="http://schemas.microsoft.com/office/drawing/2014/main" id="{0C67CBE3-CBF1-4166-A811-151DB15BBB83}"/>
                </a:ext>
              </a:extLst>
            </p:cNvPr>
            <p:cNvSpPr/>
            <p:nvPr/>
          </p:nvSpPr>
          <p:spPr>
            <a:xfrm>
              <a:off x="7133654" y="1505767"/>
              <a:ext cx="3945311" cy="677108"/>
            </a:xfrm>
            <a:prstGeom prst="rect">
              <a:avLst/>
            </a:prstGeom>
          </p:spPr>
          <p:txBody>
            <a:bodyPr wrap="none">
              <a:spAutoFit/>
            </a:bodyPr>
            <a:lstStyle/>
            <a:p>
              <a:pPr algn="r"/>
              <a:r>
                <a:rPr lang="en-US" sz="3800" dirty="0">
                  <a:solidFill>
                    <a:srgbClr val="FF6600"/>
                  </a:solidFill>
                  <a:latin typeface="Montserrat ExtraLight" panose="00000300000000000000" pitchFamily="50" charset="0"/>
                </a:rPr>
                <a:t>Simplicity</a:t>
              </a:r>
              <a:r>
                <a:rPr lang="en-US" sz="3800" dirty="0">
                  <a:solidFill>
                    <a:schemeClr val="bg1">
                      <a:lumMod val="85000"/>
                    </a:schemeClr>
                  </a:solidFill>
                  <a:latin typeface="Montserrat ExtraLight" panose="00000300000000000000" pitchFamily="50" charset="0"/>
                </a:rPr>
                <a:t> is the</a:t>
              </a:r>
            </a:p>
          </p:txBody>
        </p:sp>
        <p:sp>
          <p:nvSpPr>
            <p:cNvPr id="7" name="Rectangle 6">
              <a:extLst>
                <a:ext uri="{FF2B5EF4-FFF2-40B4-BE49-F238E27FC236}">
                  <a16:creationId xmlns:a16="http://schemas.microsoft.com/office/drawing/2014/main" id="{20B92883-4386-400E-8F53-7BFE33F2BCC5}"/>
                </a:ext>
              </a:extLst>
            </p:cNvPr>
            <p:cNvSpPr/>
            <p:nvPr/>
          </p:nvSpPr>
          <p:spPr>
            <a:xfrm>
              <a:off x="1717107" y="2018489"/>
              <a:ext cx="9361858" cy="1015663"/>
            </a:xfrm>
            <a:prstGeom prst="rect">
              <a:avLst/>
            </a:prstGeom>
          </p:spPr>
          <p:txBody>
            <a:bodyPr wrap="none">
              <a:spAutoFit/>
            </a:bodyPr>
            <a:lstStyle/>
            <a:p>
              <a:pPr algn="r"/>
              <a:r>
                <a:rPr lang="en-US" sz="6000" b="1" dirty="0">
                  <a:solidFill>
                    <a:schemeClr val="bg1">
                      <a:lumMod val="85000"/>
                    </a:schemeClr>
                  </a:solidFill>
                  <a:latin typeface="Montserrat SemiBold" panose="00000700000000000000" pitchFamily="50" charset="0"/>
                </a:rPr>
                <a:t>ultimate</a:t>
              </a:r>
              <a:r>
                <a:rPr lang="en-US" sz="6000" dirty="0">
                  <a:solidFill>
                    <a:schemeClr val="bg1">
                      <a:lumMod val="85000"/>
                    </a:schemeClr>
                  </a:solidFill>
                  <a:latin typeface="Montserrat ExtraLight" panose="00000300000000000000" pitchFamily="50" charset="0"/>
                </a:rPr>
                <a:t> </a:t>
              </a:r>
              <a:r>
                <a:rPr lang="en-US" sz="6000" b="1" dirty="0">
                  <a:solidFill>
                    <a:schemeClr val="bg1">
                      <a:lumMod val="85000"/>
                    </a:schemeClr>
                  </a:solidFill>
                  <a:latin typeface="Montserrat SemiBold" panose="00000700000000000000" pitchFamily="50" charset="0"/>
                </a:rPr>
                <a:t>sophistication</a:t>
              </a:r>
              <a:endParaRPr lang="en-US" sz="6000" dirty="0">
                <a:solidFill>
                  <a:schemeClr val="bg1">
                    <a:lumMod val="85000"/>
                  </a:schemeClr>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2969292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396437"/>
            <a:chOff x="825147" y="1300878"/>
            <a:chExt cx="9548920" cy="1396437"/>
          </a:xfrm>
        </p:grpSpPr>
        <p:sp>
          <p:nvSpPr>
            <p:cNvPr id="10" name="Rectangle 9">
              <a:extLst>
                <a:ext uri="{FF2B5EF4-FFF2-40B4-BE49-F238E27FC236}">
                  <a16:creationId xmlns:a16="http://schemas.microsoft.com/office/drawing/2014/main" id="{FDC48643-4FBE-4281-866D-A0E040A53BDB}"/>
                </a:ext>
              </a:extLst>
            </p:cNvPr>
            <p:cNvSpPr/>
            <p:nvPr/>
          </p:nvSpPr>
          <p:spPr>
            <a:xfrm>
              <a:off x="2010679" y="2020207"/>
              <a:ext cx="8363388"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You earn your trophies at </a:t>
              </a:r>
              <a:r>
                <a:rPr lang="en-GB" sz="3800" dirty="0">
                  <a:solidFill>
                    <a:srgbClr val="FF6600"/>
                  </a:solidFill>
                  <a:latin typeface="Montserrat ExtraLight" panose="00000300000000000000" pitchFamily="50" charset="0"/>
                </a:rPr>
                <a:t>practice</a:t>
              </a: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565797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4738844" y="4130834"/>
            <a:ext cx="6452407" cy="1528387"/>
            <a:chOff x="4626558" y="1505767"/>
            <a:chExt cx="6452407" cy="1528387"/>
          </a:xfrm>
        </p:grpSpPr>
        <p:sp>
          <p:nvSpPr>
            <p:cNvPr id="6" name="Rectangle 5">
              <a:extLst>
                <a:ext uri="{FF2B5EF4-FFF2-40B4-BE49-F238E27FC236}">
                  <a16:creationId xmlns:a16="http://schemas.microsoft.com/office/drawing/2014/main" id="{0C67CBE3-CBF1-4166-A811-151DB15BBB83}"/>
                </a:ext>
              </a:extLst>
            </p:cNvPr>
            <p:cNvSpPr/>
            <p:nvPr/>
          </p:nvSpPr>
          <p:spPr>
            <a:xfrm>
              <a:off x="5625228" y="1505767"/>
              <a:ext cx="5453737"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You just </a:t>
              </a:r>
              <a:r>
                <a:rPr lang="en-GB" sz="3800" dirty="0">
                  <a:solidFill>
                    <a:srgbClr val="FF6600"/>
                  </a:solidFill>
                  <a:latin typeface="Montserrat ExtraLight" panose="00000300000000000000" pitchFamily="50" charset="0"/>
                </a:rPr>
                <a:t>pick them </a:t>
              </a:r>
              <a:r>
                <a:rPr lang="en-GB" sz="3800" dirty="0">
                  <a:solidFill>
                    <a:schemeClr val="bg1">
                      <a:lumMod val="85000"/>
                    </a:schemeClr>
                  </a:solidFill>
                  <a:latin typeface="Montserrat ExtraLight" panose="00000300000000000000" pitchFamily="50" charset="0"/>
                </a:rPr>
                <a:t>up</a:t>
              </a:r>
              <a:endParaRPr lang="en-US" sz="3800" dirty="0">
                <a:solidFill>
                  <a:schemeClr val="bg1">
                    <a:lumMod val="85000"/>
                  </a:schemeClr>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4626558" y="2018491"/>
              <a:ext cx="6452407" cy="1015663"/>
            </a:xfrm>
            <a:prstGeom prst="rect">
              <a:avLst/>
            </a:prstGeom>
          </p:spPr>
          <p:txBody>
            <a:bodyPr wrap="none">
              <a:spAutoFit/>
            </a:bodyPr>
            <a:lstStyle/>
            <a:p>
              <a:pPr algn="r"/>
              <a:r>
                <a:rPr lang="en-GB" sz="6000" b="1" dirty="0">
                  <a:solidFill>
                    <a:schemeClr val="bg1">
                      <a:lumMod val="85000"/>
                    </a:schemeClr>
                  </a:solidFill>
                  <a:latin typeface="Montserrat SemiBold" panose="00000700000000000000" pitchFamily="50" charset="0"/>
                </a:rPr>
                <a:t>at</a:t>
              </a:r>
              <a:r>
                <a:rPr lang="en-GB" sz="6000" dirty="0">
                  <a:solidFill>
                    <a:schemeClr val="bg1">
                      <a:lumMod val="85000"/>
                    </a:schemeClr>
                  </a:solidFill>
                  <a:latin typeface="Montserrat SemiBold" panose="00000700000000000000" pitchFamily="50" charset="0"/>
                </a:rPr>
                <a:t> </a:t>
              </a:r>
              <a:r>
                <a:rPr lang="en-US" sz="6000" b="1" dirty="0">
                  <a:solidFill>
                    <a:schemeClr val="bg1">
                      <a:lumMod val="85000"/>
                    </a:schemeClr>
                  </a:solidFill>
                  <a:latin typeface="Montserrat SemiBold" panose="00000700000000000000" pitchFamily="50" charset="0"/>
                </a:rPr>
                <a:t>competitions</a:t>
              </a:r>
              <a:endParaRPr lang="en-US" sz="6000" dirty="0">
                <a:solidFill>
                  <a:schemeClr val="bg1">
                    <a:lumMod val="85000"/>
                  </a:schemeClr>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2028691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323867"/>
            <a:chOff x="825147" y="1300878"/>
            <a:chExt cx="9548920" cy="1323867"/>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8363388"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People hear </a:t>
              </a:r>
              <a:r>
                <a:rPr lang="en-GB" sz="3800" dirty="0">
                  <a:solidFill>
                    <a:srgbClr val="FF6600"/>
                  </a:solidFill>
                  <a:latin typeface="Montserrat ExtraLight" panose="00000300000000000000" pitchFamily="50" charset="0"/>
                </a:rPr>
                <a:t>statistics…</a:t>
              </a: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3296497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6688095" y="4130834"/>
            <a:ext cx="4503156" cy="1528386"/>
            <a:chOff x="6575809" y="1505767"/>
            <a:chExt cx="4503156" cy="1528386"/>
          </a:xfrm>
        </p:grpSpPr>
        <p:sp>
          <p:nvSpPr>
            <p:cNvPr id="6" name="Rectangle 5">
              <a:extLst>
                <a:ext uri="{FF2B5EF4-FFF2-40B4-BE49-F238E27FC236}">
                  <a16:creationId xmlns:a16="http://schemas.microsoft.com/office/drawing/2014/main" id="{0C67CBE3-CBF1-4166-A811-151DB15BBB83}"/>
                </a:ext>
              </a:extLst>
            </p:cNvPr>
            <p:cNvSpPr/>
            <p:nvPr/>
          </p:nvSpPr>
          <p:spPr>
            <a:xfrm>
              <a:off x="8832836" y="1505767"/>
              <a:ext cx="2246129"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But they</a:t>
              </a:r>
              <a:endParaRPr lang="en-US" sz="3800" dirty="0">
                <a:solidFill>
                  <a:schemeClr val="bg1">
                    <a:lumMod val="85000"/>
                  </a:schemeClr>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6575809" y="2018490"/>
              <a:ext cx="4503156" cy="1015663"/>
            </a:xfrm>
            <a:prstGeom prst="rect">
              <a:avLst/>
            </a:prstGeom>
          </p:spPr>
          <p:txBody>
            <a:bodyPr wrap="none">
              <a:spAutoFit/>
            </a:bodyPr>
            <a:lstStyle/>
            <a:p>
              <a:pPr algn="r"/>
              <a:r>
                <a:rPr lang="en-IN" sz="6000" b="1" dirty="0">
                  <a:solidFill>
                    <a:schemeClr val="bg1">
                      <a:lumMod val="85000"/>
                    </a:schemeClr>
                  </a:solidFill>
                  <a:latin typeface="Montserrat SemiBold" panose="00000700000000000000" pitchFamily="50" charset="0"/>
                </a:rPr>
                <a:t>feel </a:t>
              </a:r>
              <a:r>
                <a:rPr lang="en-IN" sz="6000" b="1" dirty="0">
                  <a:solidFill>
                    <a:srgbClr val="FF6600"/>
                  </a:solidFill>
                  <a:latin typeface="Montserrat SemiBold" panose="00000700000000000000" pitchFamily="50" charset="0"/>
                </a:rPr>
                <a:t>stories</a:t>
              </a:r>
              <a:endParaRPr lang="en-US" sz="6000" dirty="0">
                <a:solidFill>
                  <a:srgbClr val="FF6600"/>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4010699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323867"/>
            <a:chOff x="825147" y="1300878"/>
            <a:chExt cx="9548920" cy="1323867"/>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8363388"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Great stories </a:t>
              </a:r>
              <a:r>
                <a:rPr lang="en-GB" sz="3800" dirty="0">
                  <a:solidFill>
                    <a:srgbClr val="FF6600"/>
                  </a:solidFill>
                  <a:latin typeface="Montserrat ExtraLight" panose="00000300000000000000" pitchFamily="50" charset="0"/>
                </a:rPr>
                <a:t>happen </a:t>
              </a:r>
              <a:r>
                <a:rPr lang="en-GB" sz="3800" dirty="0">
                  <a:solidFill>
                    <a:schemeClr val="bg1">
                      <a:lumMod val="50000"/>
                    </a:schemeClr>
                  </a:solidFill>
                  <a:latin typeface="Montserrat ExtraLight" panose="00000300000000000000" pitchFamily="50" charset="0"/>
                </a:rPr>
                <a:t>to those…</a:t>
              </a:r>
              <a:endParaRPr lang="en-GB" sz="3800" dirty="0">
                <a:solidFill>
                  <a:srgbClr val="FF6600"/>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2515526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7399828" y="4130834"/>
            <a:ext cx="3791423" cy="1528386"/>
            <a:chOff x="7287542" y="1505767"/>
            <a:chExt cx="3791423" cy="1528386"/>
          </a:xfrm>
        </p:grpSpPr>
        <p:sp>
          <p:nvSpPr>
            <p:cNvPr id="6" name="Rectangle 5">
              <a:extLst>
                <a:ext uri="{FF2B5EF4-FFF2-40B4-BE49-F238E27FC236}">
                  <a16:creationId xmlns:a16="http://schemas.microsoft.com/office/drawing/2014/main" id="{0C67CBE3-CBF1-4166-A811-151DB15BBB83}"/>
                </a:ext>
              </a:extLst>
            </p:cNvPr>
            <p:cNvSpPr/>
            <p:nvPr/>
          </p:nvSpPr>
          <p:spPr>
            <a:xfrm>
              <a:off x="8736657" y="1505767"/>
              <a:ext cx="2342308"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Who can</a:t>
              </a:r>
              <a:endParaRPr lang="en-US" sz="3800" dirty="0">
                <a:solidFill>
                  <a:schemeClr val="bg1">
                    <a:lumMod val="85000"/>
                  </a:schemeClr>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7287542" y="2018490"/>
              <a:ext cx="3791423" cy="1015663"/>
            </a:xfrm>
            <a:prstGeom prst="rect">
              <a:avLst/>
            </a:prstGeom>
          </p:spPr>
          <p:txBody>
            <a:bodyPr wrap="none">
              <a:spAutoFit/>
            </a:bodyPr>
            <a:lstStyle/>
            <a:p>
              <a:pPr algn="r"/>
              <a:r>
                <a:rPr lang="en-IN" sz="6000" b="1" dirty="0">
                  <a:solidFill>
                    <a:srgbClr val="FF6600"/>
                  </a:solidFill>
                  <a:latin typeface="Montserrat SemiBold" panose="00000700000000000000" pitchFamily="50" charset="0"/>
                </a:rPr>
                <a:t>tell</a:t>
              </a:r>
              <a:r>
                <a:rPr lang="en-IN" sz="6000" b="1" dirty="0">
                  <a:solidFill>
                    <a:schemeClr val="bg1">
                      <a:lumMod val="85000"/>
                    </a:schemeClr>
                  </a:solidFill>
                  <a:latin typeface="Montserrat SemiBold" panose="00000700000000000000" pitchFamily="50" charset="0"/>
                </a:rPr>
                <a:t> them</a:t>
              </a:r>
              <a:endParaRPr lang="en-US" sz="6000" dirty="0">
                <a:solidFill>
                  <a:srgbClr val="FF6600"/>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4158932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323867"/>
            <a:chOff x="825147" y="1300878"/>
            <a:chExt cx="9548920" cy="1323867"/>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8363388"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You can have anything</a:t>
              </a:r>
              <a:endParaRPr lang="en-GB" sz="3800" dirty="0">
                <a:solidFill>
                  <a:srgbClr val="FF6600"/>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3563531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8323157" y="4130834"/>
            <a:ext cx="2868094" cy="1528386"/>
            <a:chOff x="8210871" y="1505767"/>
            <a:chExt cx="2868094" cy="1528386"/>
          </a:xfrm>
        </p:grpSpPr>
        <p:sp>
          <p:nvSpPr>
            <p:cNvPr id="6" name="Rectangle 5">
              <a:extLst>
                <a:ext uri="{FF2B5EF4-FFF2-40B4-BE49-F238E27FC236}">
                  <a16:creationId xmlns:a16="http://schemas.microsoft.com/office/drawing/2014/main" id="{0C67CBE3-CBF1-4166-A811-151DB15BBB83}"/>
                </a:ext>
              </a:extLst>
            </p:cNvPr>
            <p:cNvSpPr/>
            <p:nvPr/>
          </p:nvSpPr>
          <p:spPr>
            <a:xfrm>
              <a:off x="8210871" y="1505767"/>
              <a:ext cx="2868094"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If you </a:t>
              </a:r>
              <a:r>
                <a:rPr lang="en-GB" sz="3800" dirty="0">
                  <a:solidFill>
                    <a:srgbClr val="FF6600"/>
                  </a:solidFill>
                  <a:latin typeface="Montserrat ExtraLight" panose="00000300000000000000" pitchFamily="50" charset="0"/>
                </a:rPr>
                <a:t>dress</a:t>
              </a:r>
              <a:endParaRPr lang="en-US" sz="3800" dirty="0">
                <a:solidFill>
                  <a:srgbClr val="FF6600"/>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9028404" y="2018490"/>
              <a:ext cx="2050561" cy="1015663"/>
            </a:xfrm>
            <a:prstGeom prst="rect">
              <a:avLst/>
            </a:prstGeom>
          </p:spPr>
          <p:txBody>
            <a:bodyPr wrap="none">
              <a:spAutoFit/>
            </a:bodyPr>
            <a:lstStyle/>
            <a:p>
              <a:pPr algn="r"/>
              <a:r>
                <a:rPr lang="en-IN" sz="6000" b="1" dirty="0">
                  <a:solidFill>
                    <a:schemeClr val="bg1">
                      <a:lumMod val="85000"/>
                    </a:schemeClr>
                  </a:solidFill>
                  <a:latin typeface="Montserrat SemiBold" panose="00000700000000000000" pitchFamily="50" charset="0"/>
                </a:rPr>
                <a:t>for it</a:t>
              </a:r>
              <a:endParaRPr lang="en-US" sz="6000" dirty="0">
                <a:solidFill>
                  <a:srgbClr val="FF6600"/>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2663023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10524602" cy="1908643"/>
            <a:chOff x="825147" y="1300878"/>
            <a:chExt cx="10524602" cy="1908643"/>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9339070" cy="1261884"/>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The most </a:t>
              </a:r>
              <a:r>
                <a:rPr lang="en-GB" sz="3800" dirty="0">
                  <a:solidFill>
                    <a:srgbClr val="FF6600"/>
                  </a:solidFill>
                  <a:latin typeface="Montserrat ExtraLight" panose="00000300000000000000" pitchFamily="50" charset="0"/>
                </a:rPr>
                <a:t>powerful</a:t>
              </a:r>
              <a:r>
                <a:rPr lang="en-GB" sz="3800" dirty="0">
                  <a:solidFill>
                    <a:schemeClr val="bg1">
                      <a:lumMod val="50000"/>
                    </a:schemeClr>
                  </a:solidFill>
                  <a:latin typeface="Montserrat ExtraLight" panose="00000300000000000000" pitchFamily="50" charset="0"/>
                </a:rPr>
                <a:t> person </a:t>
              </a:r>
            </a:p>
            <a:p>
              <a:r>
                <a:rPr lang="en-GB" sz="3800" dirty="0">
                  <a:solidFill>
                    <a:schemeClr val="bg1">
                      <a:lumMod val="50000"/>
                    </a:schemeClr>
                  </a:solidFill>
                  <a:latin typeface="Montserrat ExtraLight" panose="00000300000000000000" pitchFamily="50" charset="0"/>
                </a:rPr>
                <a:t>in the room…</a:t>
              </a:r>
              <a:endParaRPr lang="en-GB" sz="3800" dirty="0">
                <a:solidFill>
                  <a:srgbClr val="FF6600"/>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2690226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3881237" y="4130834"/>
            <a:ext cx="7310014" cy="1528386"/>
            <a:chOff x="3768951" y="1505767"/>
            <a:chExt cx="7310014" cy="1528386"/>
          </a:xfrm>
        </p:grpSpPr>
        <p:sp>
          <p:nvSpPr>
            <p:cNvPr id="6" name="Rectangle 5">
              <a:extLst>
                <a:ext uri="{FF2B5EF4-FFF2-40B4-BE49-F238E27FC236}">
                  <a16:creationId xmlns:a16="http://schemas.microsoft.com/office/drawing/2014/main" id="{0C67CBE3-CBF1-4166-A811-151DB15BBB83}"/>
                </a:ext>
              </a:extLst>
            </p:cNvPr>
            <p:cNvSpPr/>
            <p:nvPr/>
          </p:nvSpPr>
          <p:spPr>
            <a:xfrm>
              <a:off x="5612404" y="1505767"/>
              <a:ext cx="5466561"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…has the most </a:t>
              </a:r>
              <a:r>
                <a:rPr lang="en-GB" sz="3800" dirty="0">
                  <a:solidFill>
                    <a:srgbClr val="FF6600"/>
                  </a:solidFill>
                  <a:latin typeface="Montserrat ExtraLight" panose="00000300000000000000" pitchFamily="50" charset="0"/>
                </a:rPr>
                <a:t>relaxed</a:t>
              </a:r>
              <a:endParaRPr lang="en-US" sz="3800" dirty="0">
                <a:solidFill>
                  <a:srgbClr val="FF6600"/>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3768951" y="2018490"/>
              <a:ext cx="7310014" cy="1015663"/>
            </a:xfrm>
            <a:prstGeom prst="rect">
              <a:avLst/>
            </a:prstGeom>
          </p:spPr>
          <p:txBody>
            <a:bodyPr wrap="none">
              <a:spAutoFit/>
            </a:bodyPr>
            <a:lstStyle/>
            <a:p>
              <a:pPr algn="r"/>
              <a:r>
                <a:rPr lang="en-IN" sz="6000" b="1" dirty="0">
                  <a:solidFill>
                    <a:schemeClr val="bg1">
                      <a:lumMod val="85000"/>
                    </a:schemeClr>
                  </a:solidFill>
                  <a:latin typeface="Montserrat SemiBold" panose="00000700000000000000" pitchFamily="50" charset="0"/>
                </a:rPr>
                <a:t>breathing pattern</a:t>
              </a:r>
              <a:endParaRPr lang="en-US" sz="6000" dirty="0">
                <a:solidFill>
                  <a:srgbClr val="FF6600"/>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483184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323867"/>
            <a:chOff x="825147" y="1300878"/>
            <a:chExt cx="9548920" cy="1323867"/>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8363388"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Chin </a:t>
              </a:r>
              <a:r>
                <a:rPr lang="en-GB" sz="3800" dirty="0">
                  <a:solidFill>
                    <a:srgbClr val="FF6600"/>
                  </a:solidFill>
                  <a:latin typeface="Montserrat ExtraLight" panose="00000300000000000000" pitchFamily="50" charset="0"/>
                </a:rPr>
                <a:t>up</a:t>
              </a:r>
              <a:r>
                <a:rPr lang="en-GB" sz="3800" dirty="0">
                  <a:solidFill>
                    <a:schemeClr val="bg1">
                      <a:lumMod val="50000"/>
                    </a:schemeClr>
                  </a:solidFill>
                  <a:latin typeface="Montserrat ExtraLight" panose="00000300000000000000" pitchFamily="50" charset="0"/>
                </a:rPr>
                <a:t> princess</a:t>
              </a:r>
              <a:endParaRPr lang="en-GB" sz="3800" dirty="0">
                <a:solidFill>
                  <a:srgbClr val="FF6600"/>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3590825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4982500" y="4130834"/>
            <a:ext cx="6208751" cy="1528386"/>
            <a:chOff x="4870214" y="1505767"/>
            <a:chExt cx="6208751" cy="1528386"/>
          </a:xfrm>
        </p:grpSpPr>
        <p:sp>
          <p:nvSpPr>
            <p:cNvPr id="6" name="Rectangle 5">
              <a:extLst>
                <a:ext uri="{FF2B5EF4-FFF2-40B4-BE49-F238E27FC236}">
                  <a16:creationId xmlns:a16="http://schemas.microsoft.com/office/drawing/2014/main" id="{0C67CBE3-CBF1-4166-A811-151DB15BBB83}"/>
                </a:ext>
              </a:extLst>
            </p:cNvPr>
            <p:cNvSpPr/>
            <p:nvPr/>
          </p:nvSpPr>
          <p:spPr>
            <a:xfrm>
              <a:off x="10405383" y="1505767"/>
              <a:ext cx="673582"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or</a:t>
              </a:r>
              <a:endParaRPr lang="en-US" sz="3800" dirty="0">
                <a:solidFill>
                  <a:srgbClr val="FF6600"/>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4870214" y="2018490"/>
              <a:ext cx="6208751" cy="1015663"/>
            </a:xfrm>
            <a:prstGeom prst="rect">
              <a:avLst/>
            </a:prstGeom>
          </p:spPr>
          <p:txBody>
            <a:bodyPr wrap="none">
              <a:spAutoFit/>
            </a:bodyPr>
            <a:lstStyle/>
            <a:p>
              <a:pPr algn="r"/>
              <a:r>
                <a:rPr lang="en-IN" sz="6000" b="1" dirty="0">
                  <a:solidFill>
                    <a:schemeClr val="bg1">
                      <a:lumMod val="85000"/>
                    </a:schemeClr>
                  </a:solidFill>
                  <a:latin typeface="Montserrat SemiBold" panose="00000700000000000000" pitchFamily="50" charset="0"/>
                </a:rPr>
                <a:t>the crown </a:t>
              </a:r>
              <a:r>
                <a:rPr lang="en-IN" sz="6000" b="1" dirty="0">
                  <a:solidFill>
                    <a:srgbClr val="FF6600"/>
                  </a:solidFill>
                  <a:latin typeface="Montserrat SemiBold" panose="00000700000000000000" pitchFamily="50" charset="0"/>
                </a:rPr>
                <a:t>slips</a:t>
              </a:r>
              <a:endParaRPr lang="en-US" sz="6000" dirty="0">
                <a:solidFill>
                  <a:srgbClr val="FF6600"/>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2996582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C48643-4FBE-4281-866D-A0E040A53BDB}"/>
              </a:ext>
            </a:extLst>
          </p:cNvPr>
          <p:cNvSpPr/>
          <p:nvPr/>
        </p:nvSpPr>
        <p:spPr>
          <a:xfrm>
            <a:off x="4049552" y="2413225"/>
            <a:ext cx="3739781"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King of the…</a:t>
            </a:r>
            <a:endParaRPr lang="en-GB" sz="3800" dirty="0">
              <a:solidFill>
                <a:srgbClr val="FF6600"/>
              </a:solidFill>
              <a:latin typeface="Montserrat ExtraLight" panose="00000300000000000000" pitchFamily="50" charset="0"/>
            </a:endParaRPr>
          </a:p>
        </p:txBody>
      </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pic>
        <p:nvPicPr>
          <p:cNvPr id="3074" name="Picture 2" descr="Image result for human diaphragm">
            <a:extLst>
              <a:ext uri="{FF2B5EF4-FFF2-40B4-BE49-F238E27FC236}">
                <a16:creationId xmlns:a16="http://schemas.microsoft.com/office/drawing/2014/main" id="{29B71DEE-91F9-422A-80A5-6AC27F5D100B}"/>
              </a:ext>
            </a:extLst>
          </p:cNvPr>
          <p:cNvPicPr>
            <a:picLocks noChangeAspect="1" noChangeArrowheads="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val="0"/>
              </a:ext>
            </a:extLst>
          </a:blip>
          <a:srcRect l="13556" r="11185"/>
          <a:stretch/>
        </p:blipFill>
        <p:spPr bwMode="auto">
          <a:xfrm>
            <a:off x="970845" y="846892"/>
            <a:ext cx="2867378" cy="3810000"/>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AD122AA-17C5-4321-9420-D2F235FF9697}"/>
              </a:ext>
            </a:extLst>
          </p:cNvPr>
          <p:cNvSpPr/>
          <p:nvPr/>
        </p:nvSpPr>
        <p:spPr>
          <a:xfrm>
            <a:off x="880534" y="6406850"/>
            <a:ext cx="4544834" cy="369332"/>
          </a:xfrm>
          <a:prstGeom prst="rect">
            <a:avLst/>
          </a:prstGeom>
        </p:spPr>
        <p:txBody>
          <a:bodyPr wrap="none">
            <a:spAutoFit/>
          </a:bodyPr>
          <a:lstStyle/>
          <a:p>
            <a:r>
              <a:rPr lang="en-US" sz="1200" dirty="0">
                <a:solidFill>
                  <a:schemeClr val="bg1">
                    <a:lumMod val="75000"/>
                  </a:schemeClr>
                </a:solidFill>
                <a:latin typeface="Montserrat ExtraLight" panose="00000300000000000000" pitchFamily="50" charset="0"/>
              </a:rPr>
              <a:t>Paul Ekman (psychologists</a:t>
            </a:r>
            <a:r>
              <a:rPr lang="en-US" dirty="0"/>
              <a:t> </a:t>
            </a:r>
            <a:r>
              <a:rPr lang="en-US" sz="1200" dirty="0">
                <a:solidFill>
                  <a:schemeClr val="bg1">
                    <a:lumMod val="75000"/>
                  </a:schemeClr>
                </a:solidFill>
                <a:latin typeface="Montserrat ExtraLight" panose="00000300000000000000" pitchFamily="50" charset="0"/>
              </a:rPr>
              <a:t>https://www.paulekman.com/)</a:t>
            </a:r>
          </a:p>
        </p:txBody>
      </p:sp>
    </p:spTree>
    <p:extLst>
      <p:ext uri="{BB962C8B-B14F-4D97-AF65-F5344CB8AC3E}">
        <p14:creationId xmlns:p14="http://schemas.microsoft.com/office/powerpoint/2010/main" val="3315590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396437"/>
            <a:chOff x="825147" y="1300878"/>
            <a:chExt cx="9548920" cy="1396437"/>
          </a:xfrm>
        </p:grpSpPr>
        <p:sp>
          <p:nvSpPr>
            <p:cNvPr id="10" name="Rectangle 9">
              <a:extLst>
                <a:ext uri="{FF2B5EF4-FFF2-40B4-BE49-F238E27FC236}">
                  <a16:creationId xmlns:a16="http://schemas.microsoft.com/office/drawing/2014/main" id="{FDC48643-4FBE-4281-866D-A0E040A53BDB}"/>
                </a:ext>
              </a:extLst>
            </p:cNvPr>
            <p:cNvSpPr/>
            <p:nvPr/>
          </p:nvSpPr>
          <p:spPr>
            <a:xfrm>
              <a:off x="2010679" y="2020207"/>
              <a:ext cx="8363388" cy="677108"/>
            </a:xfrm>
            <a:prstGeom prst="rect">
              <a:avLst/>
            </a:prstGeom>
          </p:spPr>
          <p:txBody>
            <a:bodyPr wrap="square">
              <a:spAutoFit/>
            </a:bodyPr>
            <a:lstStyle/>
            <a:p>
              <a:r>
                <a:rPr lang="en-GB" sz="3800" dirty="0">
                  <a:solidFill>
                    <a:schemeClr val="bg1">
                      <a:lumMod val="50000"/>
                    </a:schemeClr>
                  </a:solidFill>
                  <a:latin typeface="Montserrat ExtraLight" panose="00000300000000000000" pitchFamily="50" charset="0"/>
                </a:rPr>
                <a:t>Enthusiasm is </a:t>
              </a:r>
              <a:r>
                <a:rPr lang="en-GB" sz="3800" dirty="0">
                  <a:solidFill>
                    <a:srgbClr val="FF6600"/>
                  </a:solidFill>
                  <a:latin typeface="Montserrat ExtraLight" panose="00000300000000000000" pitchFamily="50" charset="0"/>
                </a:rPr>
                <a:t>infectious</a:t>
              </a: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1711235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7074500-CF68-4126-A06F-448352C65C67}"/>
              </a:ext>
            </a:extLst>
          </p:cNvPr>
          <p:cNvGrpSpPr/>
          <p:nvPr/>
        </p:nvGrpSpPr>
        <p:grpSpPr>
          <a:xfrm>
            <a:off x="1570639" y="2360221"/>
            <a:ext cx="9050721" cy="2137558"/>
            <a:chOff x="1424796" y="2767280"/>
            <a:chExt cx="9050721" cy="2137558"/>
          </a:xfrm>
        </p:grpSpPr>
        <p:grpSp>
          <p:nvGrpSpPr>
            <p:cNvPr id="10" name="Group 9">
              <a:extLst>
                <a:ext uri="{FF2B5EF4-FFF2-40B4-BE49-F238E27FC236}">
                  <a16:creationId xmlns:a16="http://schemas.microsoft.com/office/drawing/2014/main" id="{878919C9-8F93-4687-8A54-C222A4C87005}"/>
                </a:ext>
              </a:extLst>
            </p:cNvPr>
            <p:cNvGrpSpPr/>
            <p:nvPr/>
          </p:nvGrpSpPr>
          <p:grpSpPr>
            <a:xfrm>
              <a:off x="1424796" y="2767280"/>
              <a:ext cx="9050721" cy="1323439"/>
              <a:chOff x="2082372" y="2767278"/>
              <a:chExt cx="9050721" cy="1323439"/>
            </a:xfrm>
          </p:grpSpPr>
          <p:sp>
            <p:nvSpPr>
              <p:cNvPr id="4" name="Rectangle 3">
                <a:extLst>
                  <a:ext uri="{FF2B5EF4-FFF2-40B4-BE49-F238E27FC236}">
                    <a16:creationId xmlns:a16="http://schemas.microsoft.com/office/drawing/2014/main" id="{89655D69-B59E-4C9C-922C-0D001226757B}"/>
                  </a:ext>
                </a:extLst>
              </p:cNvPr>
              <p:cNvSpPr/>
              <p:nvPr/>
            </p:nvSpPr>
            <p:spPr>
              <a:xfrm>
                <a:off x="3181173" y="2967955"/>
                <a:ext cx="7951920" cy="769441"/>
              </a:xfrm>
              <a:prstGeom prst="rect">
                <a:avLst/>
              </a:prstGeom>
            </p:spPr>
            <p:txBody>
              <a:bodyPr wrap="none">
                <a:spAutoFit/>
              </a:bodyPr>
              <a:lstStyle/>
              <a:p>
                <a:r>
                  <a:rPr lang="en-US" sz="4400" dirty="0">
                    <a:solidFill>
                      <a:srgbClr val="2E323E"/>
                    </a:solidFill>
                    <a:latin typeface="Proxima Nova Th" panose="02000506030000020004" pitchFamily="50" charset="0"/>
                  </a:rPr>
                  <a:t>Responses for a piece of design</a:t>
                </a:r>
              </a:p>
            </p:txBody>
          </p:sp>
          <p:sp>
            <p:nvSpPr>
              <p:cNvPr id="5" name="TextBox 4">
                <a:extLst>
                  <a:ext uri="{FF2B5EF4-FFF2-40B4-BE49-F238E27FC236}">
                    <a16:creationId xmlns:a16="http://schemas.microsoft.com/office/drawing/2014/main" id="{5F87D6AA-5505-450A-A771-81EBD015C902}"/>
                  </a:ext>
                </a:extLst>
              </p:cNvPr>
              <p:cNvSpPr txBox="1"/>
              <p:nvPr/>
            </p:nvSpPr>
            <p:spPr>
              <a:xfrm>
                <a:off x="2481943" y="2767278"/>
                <a:ext cx="699230" cy="1323439"/>
              </a:xfrm>
              <a:prstGeom prst="rect">
                <a:avLst/>
              </a:prstGeom>
              <a:noFill/>
            </p:spPr>
            <p:txBody>
              <a:bodyPr wrap="none" rtlCol="0">
                <a:spAutoFit/>
              </a:bodyPr>
              <a:lstStyle/>
              <a:p>
                <a:r>
                  <a:rPr lang="en-US" sz="8000" dirty="0">
                    <a:solidFill>
                      <a:schemeClr val="tx1">
                        <a:lumMod val="65000"/>
                        <a:lumOff val="35000"/>
                      </a:schemeClr>
                    </a:solidFill>
                    <a:latin typeface="Proxima Nova ExCn Bl" panose="02000506030000020004" pitchFamily="50" charset="0"/>
                  </a:rPr>
                  <a:t>“</a:t>
                </a:r>
              </a:p>
            </p:txBody>
          </p:sp>
          <p:cxnSp>
            <p:nvCxnSpPr>
              <p:cNvPr id="8" name="Straight Connector 7">
                <a:extLst>
                  <a:ext uri="{FF2B5EF4-FFF2-40B4-BE49-F238E27FC236}">
                    <a16:creationId xmlns:a16="http://schemas.microsoft.com/office/drawing/2014/main" id="{A4CBCCC7-FC3F-4EFC-BEB6-6A9002AFB29C}"/>
                  </a:ext>
                </a:extLst>
              </p:cNvPr>
              <p:cNvCxnSpPr/>
              <p:nvPr/>
            </p:nvCxnSpPr>
            <p:spPr>
              <a:xfrm>
                <a:off x="2082372" y="2891633"/>
                <a:ext cx="0" cy="922084"/>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B59900F1-AB66-4419-9C57-3DEA3D2A89F3}"/>
                </a:ext>
              </a:extLst>
            </p:cNvPr>
            <p:cNvSpPr/>
            <p:nvPr/>
          </p:nvSpPr>
          <p:spPr>
            <a:xfrm>
              <a:off x="5406501" y="3581399"/>
              <a:ext cx="5069016" cy="1323439"/>
            </a:xfrm>
            <a:prstGeom prst="rect">
              <a:avLst/>
            </a:prstGeom>
          </p:spPr>
          <p:txBody>
            <a:bodyPr wrap="none">
              <a:spAutoFit/>
            </a:bodyPr>
            <a:lstStyle/>
            <a:p>
              <a:r>
                <a:rPr lang="en-US" sz="8000" dirty="0">
                  <a:solidFill>
                    <a:srgbClr val="2E323E"/>
                  </a:solidFill>
                  <a:latin typeface="Proxima Nova ExCn Bl" panose="02000506030000020004" pitchFamily="50" charset="0"/>
                </a:rPr>
                <a:t>YES, NO &amp; …?</a:t>
              </a:r>
            </a:p>
          </p:txBody>
        </p:sp>
      </p:grpSp>
    </p:spTree>
    <p:extLst>
      <p:ext uri="{BB962C8B-B14F-4D97-AF65-F5344CB8AC3E}">
        <p14:creationId xmlns:p14="http://schemas.microsoft.com/office/powerpoint/2010/main" val="3579889920"/>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9548920" cy="1908643"/>
            <a:chOff x="825147" y="1300878"/>
            <a:chExt cx="9548920" cy="1908643"/>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8363388" cy="1261884"/>
            </a:xfrm>
            <a:prstGeom prst="rect">
              <a:avLst/>
            </a:prstGeom>
          </p:spPr>
          <p:txBody>
            <a:bodyPr wrap="square">
              <a:spAutoFit/>
            </a:bodyPr>
            <a:lstStyle/>
            <a:p>
              <a:r>
                <a:rPr lang="en-US" sz="3800" dirty="0">
                  <a:solidFill>
                    <a:schemeClr val="bg1">
                      <a:lumMod val="50000"/>
                    </a:schemeClr>
                  </a:solidFill>
                  <a:latin typeface="Montserrat ExtraLight" panose="00000300000000000000" pitchFamily="50" charset="0"/>
                </a:rPr>
                <a:t>Responses for a piece of design are </a:t>
              </a:r>
              <a:r>
                <a:rPr lang="en-US" sz="3800" dirty="0">
                  <a:solidFill>
                    <a:srgbClr val="FF6600"/>
                  </a:solidFill>
                  <a:latin typeface="Montserrat ExtraLight" panose="00000300000000000000" pitchFamily="50" charset="0"/>
                </a:rPr>
                <a:t>Yes</a:t>
              </a:r>
              <a:r>
                <a:rPr lang="en-US" sz="3800" dirty="0">
                  <a:solidFill>
                    <a:schemeClr val="bg1">
                      <a:lumMod val="50000"/>
                    </a:schemeClr>
                  </a:solidFill>
                  <a:latin typeface="Montserrat ExtraLight" panose="00000300000000000000" pitchFamily="50" charset="0"/>
                </a:rPr>
                <a:t>, </a:t>
              </a:r>
              <a:r>
                <a:rPr lang="en-US" sz="3800" dirty="0">
                  <a:solidFill>
                    <a:srgbClr val="FF6600"/>
                  </a:solidFill>
                  <a:latin typeface="Montserrat ExtraLight" panose="00000300000000000000" pitchFamily="50" charset="0"/>
                </a:rPr>
                <a:t>No</a:t>
              </a:r>
              <a:r>
                <a:rPr lang="en-US" sz="3800" dirty="0">
                  <a:solidFill>
                    <a:schemeClr val="bg1">
                      <a:lumMod val="50000"/>
                    </a:schemeClr>
                  </a:solidFill>
                  <a:latin typeface="Montserrat ExtraLight" panose="00000300000000000000" pitchFamily="50" charset="0"/>
                </a:rPr>
                <a:t>, &amp; …?</a:t>
              </a:r>
              <a:endParaRPr lang="en-GB" sz="3800" dirty="0">
                <a:solidFill>
                  <a:srgbClr val="FF6600"/>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1250258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grpSp>
        <p:nvGrpSpPr>
          <p:cNvPr id="11" name="Group 10">
            <a:extLst>
              <a:ext uri="{FF2B5EF4-FFF2-40B4-BE49-F238E27FC236}">
                <a16:creationId xmlns:a16="http://schemas.microsoft.com/office/drawing/2014/main" id="{46CF36B4-6E64-43FA-896D-7272E0E3DB0B}"/>
              </a:ext>
            </a:extLst>
          </p:cNvPr>
          <p:cNvGrpSpPr/>
          <p:nvPr/>
        </p:nvGrpSpPr>
        <p:grpSpPr>
          <a:xfrm>
            <a:off x="7475169" y="4012253"/>
            <a:ext cx="3716082" cy="1850083"/>
            <a:chOff x="5067320" y="1667826"/>
            <a:chExt cx="3716082" cy="1850083"/>
          </a:xfrm>
        </p:grpSpPr>
        <p:sp>
          <p:nvSpPr>
            <p:cNvPr id="12" name="Rectangle 11">
              <a:extLst>
                <a:ext uri="{FF2B5EF4-FFF2-40B4-BE49-F238E27FC236}">
                  <a16:creationId xmlns:a16="http://schemas.microsoft.com/office/drawing/2014/main" id="{AB72ECF9-4DCE-406A-A4BA-8F24FE0BB862}"/>
                </a:ext>
              </a:extLst>
            </p:cNvPr>
            <p:cNvSpPr/>
            <p:nvPr/>
          </p:nvSpPr>
          <p:spPr>
            <a:xfrm>
              <a:off x="5273306" y="2840801"/>
              <a:ext cx="3304110" cy="677108"/>
            </a:xfrm>
            <a:prstGeom prst="rect">
              <a:avLst/>
            </a:prstGeom>
          </p:spPr>
          <p:txBody>
            <a:bodyPr wrap="none">
              <a:spAutoFit/>
            </a:bodyPr>
            <a:lstStyle/>
            <a:p>
              <a:r>
                <a:rPr lang="en-US" sz="3800" dirty="0">
                  <a:solidFill>
                    <a:schemeClr val="bg1">
                      <a:lumMod val="85000"/>
                    </a:schemeClr>
                  </a:solidFill>
                  <a:latin typeface="Montserrat ExtraLight" panose="00000300000000000000" pitchFamily="50" charset="0"/>
                </a:rPr>
                <a:t>Aim for </a:t>
              </a:r>
              <a:r>
                <a:rPr lang="en-US" sz="3800" dirty="0">
                  <a:solidFill>
                    <a:srgbClr val="FF6600"/>
                  </a:solidFill>
                  <a:latin typeface="Montserrat ExtraLight" panose="00000300000000000000" pitchFamily="50" charset="0"/>
                </a:rPr>
                <a:t>Wow</a:t>
              </a:r>
            </a:p>
          </p:txBody>
        </p:sp>
        <p:sp>
          <p:nvSpPr>
            <p:cNvPr id="13" name="Rectangle 12">
              <a:extLst>
                <a:ext uri="{FF2B5EF4-FFF2-40B4-BE49-F238E27FC236}">
                  <a16:creationId xmlns:a16="http://schemas.microsoft.com/office/drawing/2014/main" id="{FA235EEC-CDDE-464F-906E-CFC312147226}"/>
                </a:ext>
              </a:extLst>
            </p:cNvPr>
            <p:cNvSpPr/>
            <p:nvPr/>
          </p:nvSpPr>
          <p:spPr>
            <a:xfrm>
              <a:off x="5067320" y="1667826"/>
              <a:ext cx="3716082" cy="1446550"/>
            </a:xfrm>
            <a:prstGeom prst="rect">
              <a:avLst/>
            </a:prstGeom>
          </p:spPr>
          <p:txBody>
            <a:bodyPr wrap="none">
              <a:spAutoFit/>
            </a:bodyPr>
            <a:lstStyle/>
            <a:p>
              <a:r>
                <a:rPr lang="en-US" sz="8800" b="1" dirty="0">
                  <a:solidFill>
                    <a:schemeClr val="bg1">
                      <a:lumMod val="85000"/>
                    </a:schemeClr>
                  </a:solidFill>
                  <a:latin typeface="Montserrat SemiBold" panose="00000700000000000000" pitchFamily="50" charset="0"/>
                </a:rPr>
                <a:t>WOW</a:t>
              </a:r>
            </a:p>
          </p:txBody>
        </p:sp>
      </p:grpSp>
    </p:spTree>
    <p:extLst>
      <p:ext uri="{BB962C8B-B14F-4D97-AF65-F5344CB8AC3E}">
        <p14:creationId xmlns:p14="http://schemas.microsoft.com/office/powerpoint/2010/main" val="2180600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C48643-4FBE-4281-866D-A0E040A53BDB}"/>
              </a:ext>
            </a:extLst>
          </p:cNvPr>
          <p:cNvSpPr/>
          <p:nvPr/>
        </p:nvSpPr>
        <p:spPr>
          <a:xfrm>
            <a:off x="1724041" y="1943454"/>
            <a:ext cx="8363388" cy="677108"/>
          </a:xfrm>
          <a:prstGeom prst="rect">
            <a:avLst/>
          </a:prstGeom>
        </p:spPr>
        <p:txBody>
          <a:bodyPr wrap="square">
            <a:spAutoFit/>
          </a:bodyPr>
          <a:lstStyle/>
          <a:p>
            <a:r>
              <a:rPr lang="en-US" sz="3800" dirty="0">
                <a:solidFill>
                  <a:schemeClr val="bg1">
                    <a:lumMod val="50000"/>
                  </a:schemeClr>
                </a:solidFill>
                <a:latin typeface="Montserrat ExtraLight" panose="00000300000000000000" pitchFamily="50" charset="0"/>
              </a:rPr>
              <a:t>Excuses</a:t>
            </a:r>
            <a:endParaRPr lang="en-GB" sz="3800" dirty="0">
              <a:solidFill>
                <a:srgbClr val="FF6600"/>
              </a:solidFill>
              <a:latin typeface="Montserrat ExtraLight" panose="00000300000000000000" pitchFamily="50" charset="0"/>
            </a:endParaRPr>
          </a:p>
        </p:txBody>
      </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3038712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71DF147-A81B-4EFD-9DC8-9B0E211C956C}"/>
              </a:ext>
            </a:extLst>
          </p:cNvPr>
          <p:cNvGrpSpPr/>
          <p:nvPr/>
        </p:nvGrpSpPr>
        <p:grpSpPr>
          <a:xfrm>
            <a:off x="6503749" y="4130834"/>
            <a:ext cx="4687502" cy="1528386"/>
            <a:chOff x="6391463" y="1505767"/>
            <a:chExt cx="4687502" cy="1528386"/>
          </a:xfrm>
        </p:grpSpPr>
        <p:sp>
          <p:nvSpPr>
            <p:cNvPr id="6" name="Rectangle 5">
              <a:extLst>
                <a:ext uri="{FF2B5EF4-FFF2-40B4-BE49-F238E27FC236}">
                  <a16:creationId xmlns:a16="http://schemas.microsoft.com/office/drawing/2014/main" id="{0C67CBE3-CBF1-4166-A811-151DB15BBB83}"/>
                </a:ext>
              </a:extLst>
            </p:cNvPr>
            <p:cNvSpPr/>
            <p:nvPr/>
          </p:nvSpPr>
          <p:spPr>
            <a:xfrm>
              <a:off x="8536281" y="1505767"/>
              <a:ext cx="2542684" cy="677108"/>
            </a:xfrm>
            <a:prstGeom prst="rect">
              <a:avLst/>
            </a:prstGeom>
          </p:spPr>
          <p:txBody>
            <a:bodyPr wrap="none">
              <a:spAutoFit/>
            </a:bodyPr>
            <a:lstStyle/>
            <a:p>
              <a:pPr algn="r"/>
              <a:r>
                <a:rPr lang="en-GB" sz="3800" dirty="0">
                  <a:solidFill>
                    <a:schemeClr val="bg1">
                      <a:lumMod val="85000"/>
                    </a:schemeClr>
                  </a:solidFill>
                  <a:latin typeface="Montserrat ExtraLight" panose="00000300000000000000" pitchFamily="50" charset="0"/>
                </a:rPr>
                <a:t>I have got</a:t>
              </a:r>
              <a:endParaRPr lang="en-US" sz="3800" dirty="0">
                <a:solidFill>
                  <a:srgbClr val="FF6600"/>
                </a:solidFill>
                <a:latin typeface="Montserrat ExtraLight" panose="00000300000000000000" pitchFamily="50" charset="0"/>
              </a:endParaRPr>
            </a:p>
          </p:txBody>
        </p:sp>
        <p:sp>
          <p:nvSpPr>
            <p:cNvPr id="7" name="Rectangle 6">
              <a:extLst>
                <a:ext uri="{FF2B5EF4-FFF2-40B4-BE49-F238E27FC236}">
                  <a16:creationId xmlns:a16="http://schemas.microsoft.com/office/drawing/2014/main" id="{20B92883-4386-400E-8F53-7BFE33F2BCC5}"/>
                </a:ext>
              </a:extLst>
            </p:cNvPr>
            <p:cNvSpPr/>
            <p:nvPr/>
          </p:nvSpPr>
          <p:spPr>
            <a:xfrm>
              <a:off x="6391463" y="2018490"/>
              <a:ext cx="4687502" cy="1015663"/>
            </a:xfrm>
            <a:prstGeom prst="rect">
              <a:avLst/>
            </a:prstGeom>
          </p:spPr>
          <p:txBody>
            <a:bodyPr wrap="none">
              <a:spAutoFit/>
            </a:bodyPr>
            <a:lstStyle/>
            <a:p>
              <a:pPr algn="r"/>
              <a:r>
                <a:rPr lang="en-IN" sz="6000" b="1" dirty="0">
                  <a:solidFill>
                    <a:schemeClr val="bg1">
                      <a:lumMod val="85000"/>
                    </a:schemeClr>
                  </a:solidFill>
                  <a:latin typeface="Montserrat SemiBold" panose="00000700000000000000" pitchFamily="50" charset="0"/>
                </a:rPr>
                <a:t>a </a:t>
              </a:r>
              <a:r>
                <a:rPr lang="en-IN" sz="6000" b="1" dirty="0">
                  <a:solidFill>
                    <a:srgbClr val="FF6600"/>
                  </a:solidFill>
                  <a:latin typeface="Montserrat SemiBold" panose="00000700000000000000" pitchFamily="50" charset="0"/>
                </a:rPr>
                <a:t>bad</a:t>
              </a:r>
              <a:r>
                <a:rPr lang="en-IN" sz="6000" b="1" dirty="0">
                  <a:solidFill>
                    <a:schemeClr val="bg1">
                      <a:lumMod val="85000"/>
                    </a:schemeClr>
                  </a:solidFill>
                  <a:latin typeface="Montserrat SemiBold" panose="00000700000000000000" pitchFamily="50" charset="0"/>
                </a:rPr>
                <a:t> voice</a:t>
              </a:r>
              <a:endParaRPr lang="en-US" sz="6000" b="1" dirty="0">
                <a:solidFill>
                  <a:schemeClr val="bg1">
                    <a:lumMod val="85000"/>
                  </a:schemeClr>
                </a:solidFill>
                <a:latin typeface="Montserrat SemiBold" panose="00000700000000000000" pitchFamily="50" charset="0"/>
              </a:endParaRPr>
            </a:p>
          </p:txBody>
        </p:sp>
      </p:grpSp>
      <p:grpSp>
        <p:nvGrpSpPr>
          <p:cNvPr id="8" name="Group 7">
            <a:extLst>
              <a:ext uri="{FF2B5EF4-FFF2-40B4-BE49-F238E27FC236}">
                <a16:creationId xmlns:a16="http://schemas.microsoft.com/office/drawing/2014/main" id="{784B024F-2959-4FD6-AE41-EEF4A05B3189}"/>
              </a:ext>
            </a:extLst>
          </p:cNvPr>
          <p:cNvGrpSpPr/>
          <p:nvPr/>
        </p:nvGrpSpPr>
        <p:grpSpPr>
          <a:xfrm>
            <a:off x="11318043" y="6321117"/>
            <a:ext cx="873957" cy="536883"/>
            <a:chOff x="2223911" y="5454148"/>
            <a:chExt cx="873957" cy="536883"/>
          </a:xfrm>
        </p:grpSpPr>
        <p:sp>
          <p:nvSpPr>
            <p:cNvPr id="9" name="TextBox 8">
              <a:extLst>
                <a:ext uri="{FF2B5EF4-FFF2-40B4-BE49-F238E27FC236}">
                  <a16:creationId xmlns:a16="http://schemas.microsoft.com/office/drawing/2014/main" id="{A74845C6-60D8-4C70-925A-BEDF0E55FF7D}"/>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0" name="TextBox 9">
              <a:extLst>
                <a:ext uri="{FF2B5EF4-FFF2-40B4-BE49-F238E27FC236}">
                  <a16:creationId xmlns:a16="http://schemas.microsoft.com/office/drawing/2014/main" id="{B9CF847C-D8FF-46A5-9249-7DBF3361E70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3007767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7792691" cy="1908643"/>
            <a:chOff x="825147" y="1300878"/>
            <a:chExt cx="7792691" cy="1908643"/>
          </a:xfrm>
        </p:grpSpPr>
        <p:sp>
          <p:nvSpPr>
            <p:cNvPr id="10" name="Rectangle 9">
              <a:extLst>
                <a:ext uri="{FF2B5EF4-FFF2-40B4-BE49-F238E27FC236}">
                  <a16:creationId xmlns:a16="http://schemas.microsoft.com/office/drawing/2014/main" id="{FDC48643-4FBE-4281-866D-A0E040A53BDB}"/>
                </a:ext>
              </a:extLst>
            </p:cNvPr>
            <p:cNvSpPr/>
            <p:nvPr/>
          </p:nvSpPr>
          <p:spPr>
            <a:xfrm>
              <a:off x="2010679" y="1947637"/>
              <a:ext cx="6607159" cy="1261884"/>
            </a:xfrm>
            <a:prstGeom prst="rect">
              <a:avLst/>
            </a:prstGeom>
          </p:spPr>
          <p:txBody>
            <a:bodyPr wrap="square">
              <a:spAutoFit/>
            </a:bodyPr>
            <a:lstStyle/>
            <a:p>
              <a:r>
                <a:rPr lang="en-US" sz="3800" dirty="0">
                  <a:solidFill>
                    <a:schemeClr val="bg1">
                      <a:lumMod val="50000"/>
                    </a:schemeClr>
                  </a:solidFill>
                  <a:latin typeface="Montserrat ExtraLight" panose="00000300000000000000" pitchFamily="50" charset="0"/>
                </a:rPr>
                <a:t>Have you heard about</a:t>
              </a:r>
              <a:r>
                <a:rPr lang="en-IN" sz="3800" dirty="0">
                  <a:solidFill>
                    <a:schemeClr val="bg1">
                      <a:lumMod val="50000"/>
                    </a:schemeClr>
                  </a:solidFill>
                  <a:latin typeface="Montserrat ExtraLight" panose="00000300000000000000" pitchFamily="50" charset="0"/>
                </a:rPr>
                <a:t>a</a:t>
              </a:r>
              <a:r>
                <a:rPr lang="en-IN" sz="3800" dirty="0">
                  <a:solidFill>
                    <a:srgbClr val="FF6600"/>
                  </a:solidFill>
                  <a:latin typeface="Montserrat ExtraLight" panose="00000300000000000000" pitchFamily="50" charset="0"/>
                </a:rPr>
                <a:t> b</a:t>
              </a:r>
              <a:r>
                <a:rPr lang="en-US" sz="3800" dirty="0">
                  <a:solidFill>
                    <a:srgbClr val="FF6600"/>
                  </a:solidFill>
                  <a:latin typeface="Montserrat ExtraLight" panose="00000300000000000000" pitchFamily="50" charset="0"/>
                </a:rPr>
                <a:t>ad </a:t>
              </a:r>
              <a:r>
                <a:rPr lang="en-US" sz="3800" dirty="0">
                  <a:solidFill>
                    <a:schemeClr val="bg1">
                      <a:lumMod val="50000"/>
                    </a:schemeClr>
                  </a:solidFill>
                  <a:latin typeface="Montserrat ExtraLight" panose="00000300000000000000" pitchFamily="50" charset="0"/>
                </a:rPr>
                <a:t>saxophone?</a:t>
              </a:r>
              <a:endParaRPr lang="en-GB" sz="3800" dirty="0">
                <a:solidFill>
                  <a:srgbClr val="FF6600"/>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4286987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pic>
        <p:nvPicPr>
          <p:cNvPr id="1026" name="Picture 2" descr="Demosthenes, marble statue, detail of a Roman copy of a Greek original of c. 280 bce; in the Ny Carlsberg Glyptotek, Copenhagen.">
            <a:extLst>
              <a:ext uri="{FF2B5EF4-FFF2-40B4-BE49-F238E27FC236}">
                <a16:creationId xmlns:a16="http://schemas.microsoft.com/office/drawing/2014/main" id="{565299D4-C719-4BC2-B3D6-98D082772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700" y="996244"/>
            <a:ext cx="1991105" cy="298873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31AD605-4CD1-4250-8DCE-8F356A839245}"/>
              </a:ext>
            </a:extLst>
          </p:cNvPr>
          <p:cNvSpPr/>
          <p:nvPr/>
        </p:nvSpPr>
        <p:spPr>
          <a:xfrm>
            <a:off x="3339097" y="2152057"/>
            <a:ext cx="3575018" cy="677108"/>
          </a:xfrm>
          <a:prstGeom prst="rect">
            <a:avLst/>
          </a:prstGeom>
        </p:spPr>
        <p:txBody>
          <a:bodyPr wrap="none">
            <a:spAutoFit/>
          </a:bodyPr>
          <a:lstStyle/>
          <a:p>
            <a:r>
              <a:rPr lang="en-GB" sz="3800" dirty="0">
                <a:solidFill>
                  <a:schemeClr val="bg1">
                    <a:lumMod val="85000"/>
                  </a:schemeClr>
                </a:solidFill>
                <a:latin typeface="Montserrat ExtraLight" panose="00000300000000000000" pitchFamily="50" charset="0"/>
              </a:rPr>
              <a:t>Demosthenes</a:t>
            </a:r>
            <a:endParaRPr lang="en-US" sz="3800" dirty="0">
              <a:solidFill>
                <a:schemeClr val="bg1">
                  <a:lumMod val="85000"/>
                </a:schemeClr>
              </a:solidFill>
              <a:latin typeface="Montserrat ExtraLight" panose="00000300000000000000" pitchFamily="50" charset="0"/>
            </a:endParaRPr>
          </a:p>
        </p:txBody>
      </p:sp>
      <p:sp>
        <p:nvSpPr>
          <p:cNvPr id="5" name="Rectangle 4">
            <a:extLst>
              <a:ext uri="{FF2B5EF4-FFF2-40B4-BE49-F238E27FC236}">
                <a16:creationId xmlns:a16="http://schemas.microsoft.com/office/drawing/2014/main" id="{659C34CD-27D2-4630-953A-1DA8A1F5FCA3}"/>
              </a:ext>
            </a:extLst>
          </p:cNvPr>
          <p:cNvSpPr/>
          <p:nvPr/>
        </p:nvSpPr>
        <p:spPr>
          <a:xfrm>
            <a:off x="1158700" y="6488668"/>
            <a:ext cx="2984984" cy="369332"/>
          </a:xfrm>
          <a:prstGeom prst="rect">
            <a:avLst/>
          </a:prstGeom>
        </p:spPr>
        <p:txBody>
          <a:bodyPr wrap="none">
            <a:spAutoFit/>
          </a:bodyPr>
          <a:lstStyle/>
          <a:p>
            <a:r>
              <a:rPr lang="en-US" dirty="0"/>
              <a:t>https://youtu.be/eIho2S0ZahI</a:t>
            </a:r>
          </a:p>
        </p:txBody>
      </p:sp>
    </p:spTree>
    <p:extLst>
      <p:ext uri="{BB962C8B-B14F-4D97-AF65-F5344CB8AC3E}">
        <p14:creationId xmlns:p14="http://schemas.microsoft.com/office/powerpoint/2010/main" val="1100240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27288E-62D2-4183-9C08-AB697B8C75C5}"/>
              </a:ext>
            </a:extLst>
          </p:cNvPr>
          <p:cNvSpPr/>
          <p:nvPr/>
        </p:nvSpPr>
        <p:spPr>
          <a:xfrm>
            <a:off x="2861133" y="4327955"/>
            <a:ext cx="4979248" cy="369332"/>
          </a:xfrm>
          <a:prstGeom prst="rect">
            <a:avLst/>
          </a:prstGeom>
        </p:spPr>
        <p:txBody>
          <a:bodyPr wrap="none">
            <a:spAutoFit/>
          </a:bodyPr>
          <a:lstStyle/>
          <a:p>
            <a:pPr algn="r"/>
            <a:r>
              <a:rPr lang="en-GB" dirty="0">
                <a:solidFill>
                  <a:schemeClr val="bg1">
                    <a:lumMod val="50000"/>
                  </a:schemeClr>
                </a:solidFill>
                <a:latin typeface="Montserrat ExtraLight" panose="00000300000000000000" pitchFamily="50" charset="0"/>
                <a:hlinkClick r:id="rId3"/>
              </a:rPr>
              <a:t>How to speak so that people want to listen</a:t>
            </a:r>
            <a:endParaRPr lang="en-GB" dirty="0">
              <a:solidFill>
                <a:schemeClr val="bg1">
                  <a:lumMod val="50000"/>
                </a:schemeClr>
              </a:solidFill>
              <a:latin typeface="Montserrat ExtraLight" panose="00000300000000000000" pitchFamily="50" charset="0"/>
            </a:endParaRPr>
          </a:p>
        </p:txBody>
      </p:sp>
      <p:pic>
        <p:nvPicPr>
          <p:cNvPr id="2050" name="Picture 2" descr="Image result for julian treasure">
            <a:extLst>
              <a:ext uri="{FF2B5EF4-FFF2-40B4-BE49-F238E27FC236}">
                <a16:creationId xmlns:a16="http://schemas.microsoft.com/office/drawing/2014/main" id="{C1BC08A7-0B8A-4428-99D2-3DEDE71407E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5629"/>
          <a:stretch/>
        </p:blipFill>
        <p:spPr bwMode="auto">
          <a:xfrm>
            <a:off x="7974894" y="2745317"/>
            <a:ext cx="2410884" cy="2857500"/>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81B724A-4A52-4DC3-8F36-629AD222BC33}"/>
              </a:ext>
            </a:extLst>
          </p:cNvPr>
          <p:cNvSpPr/>
          <p:nvPr/>
        </p:nvSpPr>
        <p:spPr>
          <a:xfrm>
            <a:off x="4052164" y="3835513"/>
            <a:ext cx="3788217" cy="677108"/>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Julian Treasure</a:t>
            </a:r>
          </a:p>
        </p:txBody>
      </p:sp>
      <p:sp>
        <p:nvSpPr>
          <p:cNvPr id="6" name="Rectangle 5">
            <a:extLst>
              <a:ext uri="{FF2B5EF4-FFF2-40B4-BE49-F238E27FC236}">
                <a16:creationId xmlns:a16="http://schemas.microsoft.com/office/drawing/2014/main" id="{D7403A66-9795-4FE0-A206-E363E066930C}"/>
              </a:ext>
            </a:extLst>
          </p:cNvPr>
          <p:cNvSpPr/>
          <p:nvPr/>
        </p:nvSpPr>
        <p:spPr>
          <a:xfrm>
            <a:off x="6778940" y="4633710"/>
            <a:ext cx="1072730" cy="307777"/>
          </a:xfrm>
          <a:prstGeom prst="rect">
            <a:avLst/>
          </a:prstGeom>
        </p:spPr>
        <p:txBody>
          <a:bodyPr wrap="none">
            <a:spAutoFit/>
          </a:bodyPr>
          <a:lstStyle/>
          <a:p>
            <a:r>
              <a:rPr lang="en-US" sz="1400" dirty="0">
                <a:solidFill>
                  <a:schemeClr val="bg1">
                    <a:lumMod val="50000"/>
                  </a:schemeClr>
                </a:solidFill>
                <a:latin typeface="Montserrat ExtraLight" panose="00000300000000000000" pitchFamily="50" charset="0"/>
              </a:rPr>
              <a:t>from 07:51</a:t>
            </a:r>
          </a:p>
        </p:txBody>
      </p:sp>
    </p:spTree>
    <p:extLst>
      <p:ext uri="{BB962C8B-B14F-4D97-AF65-F5344CB8AC3E}">
        <p14:creationId xmlns:p14="http://schemas.microsoft.com/office/powerpoint/2010/main" val="2574422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lated image">
            <a:extLst>
              <a:ext uri="{FF2B5EF4-FFF2-40B4-BE49-F238E27FC236}">
                <a16:creationId xmlns:a16="http://schemas.microsoft.com/office/drawing/2014/main" id="{53B81D45-2C3E-46B7-91CE-58CD3A722C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11" r="23488"/>
          <a:stretch/>
        </p:blipFill>
        <p:spPr bwMode="auto">
          <a:xfrm>
            <a:off x="1659468" y="1997964"/>
            <a:ext cx="2393244" cy="2862072"/>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15CE4A7-A09E-4265-9B05-7A3F959826E1}"/>
              </a:ext>
            </a:extLst>
          </p:cNvPr>
          <p:cNvSpPr/>
          <p:nvPr/>
        </p:nvSpPr>
        <p:spPr>
          <a:xfrm>
            <a:off x="4207730" y="3279058"/>
            <a:ext cx="6080511" cy="400110"/>
          </a:xfrm>
          <a:prstGeom prst="rect">
            <a:avLst/>
          </a:prstGeom>
        </p:spPr>
        <p:txBody>
          <a:bodyPr wrap="none">
            <a:spAutoFit/>
          </a:bodyPr>
          <a:lstStyle/>
          <a:p>
            <a:r>
              <a:rPr lang="en-IN" sz="2000" dirty="0">
                <a:solidFill>
                  <a:schemeClr val="bg1">
                    <a:lumMod val="50000"/>
                  </a:schemeClr>
                </a:solidFill>
                <a:latin typeface="Montserrat ExtraLight" panose="00000300000000000000" pitchFamily="50" charset="0"/>
              </a:rPr>
              <a:t>Communication </a:t>
            </a:r>
            <a:r>
              <a:rPr lang="en-IN" sz="2000" dirty="0">
                <a:solidFill>
                  <a:srgbClr val="FF6600"/>
                </a:solidFill>
                <a:latin typeface="Montserrat ExtraLight" panose="00000300000000000000" pitchFamily="50" charset="0"/>
              </a:rPr>
              <a:t>works</a:t>
            </a:r>
            <a:r>
              <a:rPr lang="en-IN" sz="2000" dirty="0">
                <a:solidFill>
                  <a:schemeClr val="bg1">
                    <a:lumMod val="50000"/>
                  </a:schemeClr>
                </a:solidFill>
                <a:latin typeface="Montserrat ExtraLight" panose="00000300000000000000" pitchFamily="50" charset="0"/>
              </a:rPr>
              <a:t> for those </a:t>
            </a:r>
            <a:r>
              <a:rPr lang="en-IN" sz="2000" dirty="0">
                <a:solidFill>
                  <a:srgbClr val="FF6600"/>
                </a:solidFill>
                <a:latin typeface="Montserrat ExtraLight" panose="00000300000000000000" pitchFamily="50" charset="0"/>
              </a:rPr>
              <a:t>who work at it</a:t>
            </a:r>
            <a:endParaRPr lang="en-US" sz="2000" dirty="0">
              <a:solidFill>
                <a:srgbClr val="FF6600"/>
              </a:solidFill>
              <a:latin typeface="Montserrat ExtraLight" panose="00000300000000000000" pitchFamily="50" charset="0"/>
            </a:endParaRPr>
          </a:p>
        </p:txBody>
      </p:sp>
      <p:sp>
        <p:nvSpPr>
          <p:cNvPr id="5" name="Rectangle 4">
            <a:extLst>
              <a:ext uri="{FF2B5EF4-FFF2-40B4-BE49-F238E27FC236}">
                <a16:creationId xmlns:a16="http://schemas.microsoft.com/office/drawing/2014/main" id="{F450F243-0DDB-40CF-87EA-69EDF5C8D8C9}"/>
              </a:ext>
            </a:extLst>
          </p:cNvPr>
          <p:cNvSpPr/>
          <p:nvPr/>
        </p:nvSpPr>
        <p:spPr>
          <a:xfrm>
            <a:off x="2031986" y="4950347"/>
            <a:ext cx="1648208" cy="400110"/>
          </a:xfrm>
          <a:prstGeom prst="rect">
            <a:avLst/>
          </a:prstGeom>
        </p:spPr>
        <p:txBody>
          <a:bodyPr wrap="none">
            <a:spAutoFit/>
          </a:bodyPr>
          <a:lstStyle/>
          <a:p>
            <a:r>
              <a:rPr lang="en-US" sz="2000" dirty="0">
                <a:solidFill>
                  <a:schemeClr val="bg1">
                    <a:lumMod val="50000"/>
                  </a:schemeClr>
                </a:solidFill>
                <a:latin typeface="Montserrat ExtraLight" panose="00000300000000000000" pitchFamily="50" charset="0"/>
              </a:rPr>
              <a:t>john </a:t>
            </a:r>
            <a:r>
              <a:rPr lang="en-US" sz="2000" dirty="0" err="1">
                <a:solidFill>
                  <a:schemeClr val="bg1">
                    <a:lumMod val="50000"/>
                  </a:schemeClr>
                </a:solidFill>
                <a:latin typeface="Montserrat ExtraLight" panose="00000300000000000000" pitchFamily="50" charset="0"/>
              </a:rPr>
              <a:t>powell</a:t>
            </a:r>
            <a:endParaRPr lang="en-US" sz="2000" dirty="0">
              <a:solidFill>
                <a:schemeClr val="bg1">
                  <a:lumMod val="50000"/>
                </a:schemeClr>
              </a:solidFill>
              <a:latin typeface="Montserrat ExtraLight" panose="00000300000000000000" pitchFamily="50" charset="0"/>
            </a:endParaRPr>
          </a:p>
        </p:txBody>
      </p:sp>
    </p:spTree>
    <p:extLst>
      <p:ext uri="{BB962C8B-B14F-4D97-AF65-F5344CB8AC3E}">
        <p14:creationId xmlns:p14="http://schemas.microsoft.com/office/powerpoint/2010/main" val="1054061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74641E-4FAC-4985-A282-CA97726DB782}"/>
              </a:ext>
            </a:extLst>
          </p:cNvPr>
          <p:cNvSpPr/>
          <p:nvPr/>
        </p:nvSpPr>
        <p:spPr>
          <a:xfrm>
            <a:off x="4773747" y="3244334"/>
            <a:ext cx="2698046" cy="1754326"/>
          </a:xfrm>
          <a:prstGeom prst="rect">
            <a:avLst/>
          </a:prstGeom>
        </p:spPr>
        <p:txBody>
          <a:bodyPr wrap="none">
            <a:spAutoFit/>
          </a:bodyPr>
          <a:lstStyle/>
          <a:p>
            <a:r>
              <a:rPr lang="en-US" i="1" dirty="0">
                <a:solidFill>
                  <a:srgbClr val="333333"/>
                </a:solidFill>
                <a:latin typeface="tabular-numbers"/>
              </a:rPr>
              <a:t>Tell the audience the point</a:t>
            </a:r>
          </a:p>
          <a:p>
            <a:r>
              <a:rPr lang="en-US" i="1" dirty="0"/>
              <a:t>Start with a good template</a:t>
            </a:r>
          </a:p>
          <a:p>
            <a:r>
              <a:rPr lang="en-US" i="1" dirty="0"/>
              <a:t>Choose visuals wisely</a:t>
            </a:r>
          </a:p>
          <a:p>
            <a:endParaRPr lang="en-US" i="1" dirty="0"/>
          </a:p>
          <a:p>
            <a:endParaRPr lang="en-US" i="1" dirty="0"/>
          </a:p>
          <a:p>
            <a:endParaRPr lang="en-US" dirty="0"/>
          </a:p>
        </p:txBody>
      </p:sp>
      <p:sp>
        <p:nvSpPr>
          <p:cNvPr id="2" name="TextBox 1">
            <a:extLst>
              <a:ext uri="{FF2B5EF4-FFF2-40B4-BE49-F238E27FC236}">
                <a16:creationId xmlns:a16="http://schemas.microsoft.com/office/drawing/2014/main" id="{F1BBC998-59B8-476A-BB91-66B7ECA53E9E}"/>
              </a:ext>
            </a:extLst>
          </p:cNvPr>
          <p:cNvSpPr txBox="1"/>
          <p:nvPr/>
        </p:nvSpPr>
        <p:spPr>
          <a:xfrm>
            <a:off x="4223657" y="1277257"/>
            <a:ext cx="5480218" cy="646331"/>
          </a:xfrm>
          <a:prstGeom prst="rect">
            <a:avLst/>
          </a:prstGeom>
          <a:noFill/>
        </p:spPr>
        <p:txBody>
          <a:bodyPr wrap="none" rtlCol="0">
            <a:spAutoFit/>
          </a:bodyPr>
          <a:lstStyle/>
          <a:p>
            <a:r>
              <a:rPr lang="en-IN" dirty="0"/>
              <a:t>Make friends with the crew, ask names, remember them</a:t>
            </a:r>
          </a:p>
          <a:p>
            <a:r>
              <a:rPr lang="en-IN" dirty="0"/>
              <a:t>Do a sound check</a:t>
            </a:r>
            <a:endParaRPr lang="en-US" dirty="0"/>
          </a:p>
        </p:txBody>
      </p:sp>
      <p:sp>
        <p:nvSpPr>
          <p:cNvPr id="4" name="TextBox 3">
            <a:extLst>
              <a:ext uri="{FF2B5EF4-FFF2-40B4-BE49-F238E27FC236}">
                <a16:creationId xmlns:a16="http://schemas.microsoft.com/office/drawing/2014/main" id="{348255AB-42C3-4D34-9F6C-66AB246F0D09}"/>
              </a:ext>
            </a:extLst>
          </p:cNvPr>
          <p:cNvSpPr txBox="1"/>
          <p:nvPr/>
        </p:nvSpPr>
        <p:spPr>
          <a:xfrm>
            <a:off x="3710012" y="2061835"/>
            <a:ext cx="8914492" cy="369332"/>
          </a:xfrm>
          <a:prstGeom prst="rect">
            <a:avLst/>
          </a:prstGeom>
          <a:noFill/>
        </p:spPr>
        <p:txBody>
          <a:bodyPr wrap="none" rtlCol="0">
            <a:spAutoFit/>
          </a:bodyPr>
          <a:lstStyle/>
          <a:p>
            <a:r>
              <a:rPr lang="en-IN" dirty="0"/>
              <a:t>English is a language and communication is an art that can be learned, that can be developed</a:t>
            </a:r>
          </a:p>
        </p:txBody>
      </p:sp>
    </p:spTree>
    <p:extLst>
      <p:ext uri="{BB962C8B-B14F-4D97-AF65-F5344CB8AC3E}">
        <p14:creationId xmlns:p14="http://schemas.microsoft.com/office/powerpoint/2010/main" val="3353422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78919C9-8F93-4687-8A54-C222A4C87005}"/>
              </a:ext>
            </a:extLst>
          </p:cNvPr>
          <p:cNvGrpSpPr/>
          <p:nvPr/>
        </p:nvGrpSpPr>
        <p:grpSpPr>
          <a:xfrm>
            <a:off x="2715343" y="2767280"/>
            <a:ext cx="6761313" cy="1323439"/>
            <a:chOff x="2082372" y="2767278"/>
            <a:chExt cx="6761313" cy="1323439"/>
          </a:xfrm>
        </p:grpSpPr>
        <p:sp>
          <p:nvSpPr>
            <p:cNvPr id="4" name="Rectangle 3">
              <a:extLst>
                <a:ext uri="{FF2B5EF4-FFF2-40B4-BE49-F238E27FC236}">
                  <a16:creationId xmlns:a16="http://schemas.microsoft.com/office/drawing/2014/main" id="{89655D69-B59E-4C9C-922C-0D001226757B}"/>
                </a:ext>
              </a:extLst>
            </p:cNvPr>
            <p:cNvSpPr/>
            <p:nvPr/>
          </p:nvSpPr>
          <p:spPr>
            <a:xfrm>
              <a:off x="3181173" y="2967955"/>
              <a:ext cx="5662512" cy="769441"/>
            </a:xfrm>
            <a:prstGeom prst="rect">
              <a:avLst/>
            </a:prstGeom>
          </p:spPr>
          <p:txBody>
            <a:bodyPr wrap="none">
              <a:spAutoFit/>
            </a:bodyPr>
            <a:lstStyle/>
            <a:p>
              <a:r>
                <a:rPr lang="en-US" sz="4400" dirty="0">
                  <a:solidFill>
                    <a:schemeClr val="tx1">
                      <a:lumMod val="65000"/>
                      <a:lumOff val="35000"/>
                    </a:schemeClr>
                  </a:solidFill>
                  <a:latin typeface="Proxima Nova Th" panose="02000506030000020004" pitchFamily="50" charset="0"/>
                </a:rPr>
                <a:t>Your life in your pocket</a:t>
              </a:r>
            </a:p>
          </p:txBody>
        </p:sp>
        <p:sp>
          <p:nvSpPr>
            <p:cNvPr id="5" name="TextBox 4">
              <a:extLst>
                <a:ext uri="{FF2B5EF4-FFF2-40B4-BE49-F238E27FC236}">
                  <a16:creationId xmlns:a16="http://schemas.microsoft.com/office/drawing/2014/main" id="{5F87D6AA-5505-450A-A771-81EBD015C902}"/>
                </a:ext>
              </a:extLst>
            </p:cNvPr>
            <p:cNvSpPr txBox="1"/>
            <p:nvPr/>
          </p:nvSpPr>
          <p:spPr>
            <a:xfrm>
              <a:off x="2481943" y="2767278"/>
              <a:ext cx="699230" cy="1323439"/>
            </a:xfrm>
            <a:prstGeom prst="rect">
              <a:avLst/>
            </a:prstGeom>
            <a:noFill/>
          </p:spPr>
          <p:txBody>
            <a:bodyPr wrap="none" rtlCol="0">
              <a:spAutoFit/>
            </a:bodyPr>
            <a:lstStyle/>
            <a:p>
              <a:r>
                <a:rPr lang="en-US" sz="8000" dirty="0">
                  <a:solidFill>
                    <a:schemeClr val="tx1">
                      <a:lumMod val="65000"/>
                      <a:lumOff val="35000"/>
                    </a:schemeClr>
                  </a:solidFill>
                  <a:latin typeface="Proxima Nova ExCn Bl" panose="02000506030000020004" pitchFamily="50" charset="0"/>
                </a:rPr>
                <a:t>“</a:t>
              </a:r>
            </a:p>
          </p:txBody>
        </p:sp>
        <p:cxnSp>
          <p:nvCxnSpPr>
            <p:cNvPr id="8" name="Straight Connector 7">
              <a:extLst>
                <a:ext uri="{FF2B5EF4-FFF2-40B4-BE49-F238E27FC236}">
                  <a16:creationId xmlns:a16="http://schemas.microsoft.com/office/drawing/2014/main" id="{A4CBCCC7-FC3F-4EFC-BEB6-6A9002AFB29C}"/>
                </a:ext>
              </a:extLst>
            </p:cNvPr>
            <p:cNvCxnSpPr/>
            <p:nvPr/>
          </p:nvCxnSpPr>
          <p:spPr>
            <a:xfrm>
              <a:off x="2082372" y="2891633"/>
              <a:ext cx="0" cy="922084"/>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55297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8310AF-78D6-487D-B885-1F163A758B5D}"/>
              </a:ext>
            </a:extLst>
          </p:cNvPr>
          <p:cNvSpPr/>
          <p:nvPr/>
        </p:nvSpPr>
        <p:spPr>
          <a:xfrm>
            <a:off x="4496909" y="3832533"/>
            <a:ext cx="3198183" cy="769441"/>
          </a:xfrm>
          <a:prstGeom prst="rect">
            <a:avLst/>
          </a:prstGeom>
        </p:spPr>
        <p:txBody>
          <a:bodyPr wrap="none">
            <a:spAutoFit/>
          </a:bodyPr>
          <a:lstStyle/>
          <a:p>
            <a:r>
              <a:rPr lang="en-US" sz="4400" dirty="0">
                <a:solidFill>
                  <a:schemeClr val="bg1">
                    <a:lumMod val="85000"/>
                  </a:schemeClr>
                </a:solidFill>
                <a:latin typeface="Proxima Nova Th" panose="02000506030000020004" pitchFamily="50" charset="0"/>
              </a:rPr>
              <a:t>Aim for Wow</a:t>
            </a:r>
          </a:p>
        </p:txBody>
      </p:sp>
      <p:sp>
        <p:nvSpPr>
          <p:cNvPr id="5" name="Rectangle 4">
            <a:extLst>
              <a:ext uri="{FF2B5EF4-FFF2-40B4-BE49-F238E27FC236}">
                <a16:creationId xmlns:a16="http://schemas.microsoft.com/office/drawing/2014/main" id="{EE8024A9-0E31-4129-9E63-C6681E9D1D38}"/>
              </a:ext>
            </a:extLst>
          </p:cNvPr>
          <p:cNvSpPr/>
          <p:nvPr/>
        </p:nvSpPr>
        <p:spPr>
          <a:xfrm>
            <a:off x="3138312" y="1807613"/>
            <a:ext cx="6096000" cy="1477328"/>
          </a:xfrm>
          <a:prstGeom prst="rect">
            <a:avLst/>
          </a:prstGeom>
        </p:spPr>
        <p:txBody>
          <a:bodyPr>
            <a:spAutoFit/>
          </a:bodyPr>
          <a:lstStyle/>
          <a:p>
            <a:r>
              <a:rPr lang="en-US" dirty="0">
                <a:solidFill>
                  <a:srgbClr val="222222"/>
                </a:solidFill>
                <a:latin typeface="Open Sans"/>
              </a:rPr>
              <a:t>To give a successful presentation they say you need a good opening and a good ending and keep them close together. Research shows audience remember the first and the last few minutes of presentation long after they have forgotten most of what was said in the middle</a:t>
            </a:r>
            <a:endParaRPr lang="en-US" dirty="0"/>
          </a:p>
        </p:txBody>
      </p:sp>
    </p:spTree>
    <p:extLst>
      <p:ext uri="{BB962C8B-B14F-4D97-AF65-F5344CB8AC3E}">
        <p14:creationId xmlns:p14="http://schemas.microsoft.com/office/powerpoint/2010/main" val="3790327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670CFA-1C6B-42D7-B142-4BE726478034}"/>
              </a:ext>
            </a:extLst>
          </p:cNvPr>
          <p:cNvGrpSpPr/>
          <p:nvPr/>
        </p:nvGrpSpPr>
        <p:grpSpPr>
          <a:xfrm>
            <a:off x="4347637" y="2256025"/>
            <a:ext cx="3496726" cy="2345949"/>
            <a:chOff x="5067320" y="1667826"/>
            <a:chExt cx="3496726" cy="2345949"/>
          </a:xfrm>
        </p:grpSpPr>
        <p:sp>
          <p:nvSpPr>
            <p:cNvPr id="7" name="Rectangle 6">
              <a:extLst>
                <a:ext uri="{FF2B5EF4-FFF2-40B4-BE49-F238E27FC236}">
                  <a16:creationId xmlns:a16="http://schemas.microsoft.com/office/drawing/2014/main" id="{508310AF-78D6-487D-B885-1F163A758B5D}"/>
                </a:ext>
              </a:extLst>
            </p:cNvPr>
            <p:cNvSpPr/>
            <p:nvPr/>
          </p:nvSpPr>
          <p:spPr>
            <a:xfrm>
              <a:off x="5216592" y="3244334"/>
              <a:ext cx="3198183" cy="769441"/>
            </a:xfrm>
            <a:prstGeom prst="rect">
              <a:avLst/>
            </a:prstGeom>
          </p:spPr>
          <p:txBody>
            <a:bodyPr wrap="none">
              <a:spAutoFit/>
            </a:bodyPr>
            <a:lstStyle/>
            <a:p>
              <a:r>
                <a:rPr lang="en-US" sz="4400" dirty="0">
                  <a:solidFill>
                    <a:schemeClr val="bg1">
                      <a:lumMod val="85000"/>
                    </a:schemeClr>
                  </a:solidFill>
                  <a:latin typeface="Proxima Nova Th" panose="02000506030000020004" pitchFamily="50" charset="0"/>
                </a:rPr>
                <a:t>Aim for Wow</a:t>
              </a:r>
            </a:p>
          </p:txBody>
        </p:sp>
        <p:sp>
          <p:nvSpPr>
            <p:cNvPr id="8" name="Rectangle 7">
              <a:extLst>
                <a:ext uri="{FF2B5EF4-FFF2-40B4-BE49-F238E27FC236}">
                  <a16:creationId xmlns:a16="http://schemas.microsoft.com/office/drawing/2014/main" id="{0F7AB48F-45B7-4524-A106-94B2B46C7EB7}"/>
                </a:ext>
              </a:extLst>
            </p:cNvPr>
            <p:cNvSpPr/>
            <p:nvPr/>
          </p:nvSpPr>
          <p:spPr>
            <a:xfrm>
              <a:off x="5067320" y="1667826"/>
              <a:ext cx="3496726" cy="2215991"/>
            </a:xfrm>
            <a:prstGeom prst="rect">
              <a:avLst/>
            </a:prstGeom>
          </p:spPr>
          <p:txBody>
            <a:bodyPr wrap="none">
              <a:spAutoFit/>
            </a:bodyPr>
            <a:lstStyle/>
            <a:p>
              <a:r>
                <a:rPr lang="en-US" sz="13800" dirty="0">
                  <a:solidFill>
                    <a:schemeClr val="bg1">
                      <a:lumMod val="95000"/>
                    </a:schemeClr>
                  </a:solidFill>
                  <a:latin typeface="Proxima Nova ExCn Bl" panose="02000506030000020004" pitchFamily="50" charset="0"/>
                </a:rPr>
                <a:t>WOW</a:t>
              </a:r>
            </a:p>
          </p:txBody>
        </p:sp>
      </p:grpSp>
    </p:spTree>
    <p:extLst>
      <p:ext uri="{BB962C8B-B14F-4D97-AF65-F5344CB8AC3E}">
        <p14:creationId xmlns:p14="http://schemas.microsoft.com/office/powerpoint/2010/main" val="3816008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8310AF-78D6-487D-B885-1F163A758B5D}"/>
              </a:ext>
            </a:extLst>
          </p:cNvPr>
          <p:cNvSpPr/>
          <p:nvPr/>
        </p:nvSpPr>
        <p:spPr>
          <a:xfrm>
            <a:off x="5216592" y="3244334"/>
            <a:ext cx="3198183" cy="769441"/>
          </a:xfrm>
          <a:prstGeom prst="rect">
            <a:avLst/>
          </a:prstGeom>
        </p:spPr>
        <p:txBody>
          <a:bodyPr wrap="none">
            <a:spAutoFit/>
          </a:bodyPr>
          <a:lstStyle/>
          <a:p>
            <a:r>
              <a:rPr lang="en-US" sz="4400" dirty="0">
                <a:solidFill>
                  <a:schemeClr val="bg1">
                    <a:lumMod val="85000"/>
                  </a:schemeClr>
                </a:solidFill>
                <a:latin typeface="Proxima Nova Th" panose="02000506030000020004" pitchFamily="50" charset="0"/>
              </a:rPr>
              <a:t>Aim for Wow</a:t>
            </a:r>
          </a:p>
        </p:txBody>
      </p:sp>
      <p:sp>
        <p:nvSpPr>
          <p:cNvPr id="2" name="Rectangle 1">
            <a:extLst>
              <a:ext uri="{FF2B5EF4-FFF2-40B4-BE49-F238E27FC236}">
                <a16:creationId xmlns:a16="http://schemas.microsoft.com/office/drawing/2014/main" id="{253D5AFB-BE32-4FB9-BEA1-B9B94ED8B747}"/>
              </a:ext>
            </a:extLst>
          </p:cNvPr>
          <p:cNvSpPr/>
          <p:nvPr/>
        </p:nvSpPr>
        <p:spPr>
          <a:xfrm>
            <a:off x="3688931" y="2087563"/>
            <a:ext cx="4814138" cy="369332"/>
          </a:xfrm>
          <a:prstGeom prst="rect">
            <a:avLst/>
          </a:prstGeom>
        </p:spPr>
        <p:txBody>
          <a:bodyPr wrap="none">
            <a:spAutoFit/>
          </a:bodyPr>
          <a:lstStyle/>
          <a:p>
            <a:r>
              <a:rPr lang="en-US" dirty="0">
                <a:solidFill>
                  <a:srgbClr val="006DA6"/>
                </a:solidFill>
                <a:latin typeface="Arial" panose="020B0604020202020204" pitchFamily="34" charset="0"/>
              </a:rPr>
              <a:t>“How can I present … (sound) like a native?” </a:t>
            </a:r>
            <a:endParaRPr lang="en-US" b="0" i="0" dirty="0">
              <a:solidFill>
                <a:srgbClr val="006DA6"/>
              </a:solidFill>
              <a:effectLst/>
              <a:latin typeface="Arial" panose="020B0604020202020204" pitchFamily="34" charset="0"/>
            </a:endParaRPr>
          </a:p>
        </p:txBody>
      </p:sp>
    </p:spTree>
    <p:extLst>
      <p:ext uri="{BB962C8B-B14F-4D97-AF65-F5344CB8AC3E}">
        <p14:creationId xmlns:p14="http://schemas.microsoft.com/office/powerpoint/2010/main" val="3268270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D057AC4-986B-4E55-AD97-F4E4E243486D}"/>
              </a:ext>
            </a:extLst>
          </p:cNvPr>
          <p:cNvSpPr/>
          <p:nvPr/>
        </p:nvSpPr>
        <p:spPr>
          <a:xfrm>
            <a:off x="3048000" y="2967335"/>
            <a:ext cx="6096000" cy="923330"/>
          </a:xfrm>
          <a:prstGeom prst="rect">
            <a:avLst/>
          </a:prstGeom>
        </p:spPr>
        <p:txBody>
          <a:bodyPr>
            <a:spAutoFit/>
          </a:bodyPr>
          <a:lstStyle/>
          <a:p>
            <a:r>
              <a:rPr lang="en-US" dirty="0">
                <a:solidFill>
                  <a:srgbClr val="404040"/>
                </a:solidFill>
                <a:latin typeface="Open Sans"/>
              </a:rPr>
              <a:t> </a:t>
            </a:r>
            <a:r>
              <a:rPr lang="en-US" dirty="0">
                <a:solidFill>
                  <a:srgbClr val="FF6600"/>
                </a:solidFill>
                <a:latin typeface="Open Sans"/>
              </a:rPr>
              <a:t>Tell the audience what you are going to tell them.</a:t>
            </a:r>
            <a:br>
              <a:rPr lang="en-US" dirty="0">
                <a:solidFill>
                  <a:srgbClr val="404040"/>
                </a:solidFill>
                <a:latin typeface="Open Sans"/>
              </a:rPr>
            </a:br>
            <a:r>
              <a:rPr lang="en-US" dirty="0">
                <a:solidFill>
                  <a:srgbClr val="404040"/>
                </a:solidFill>
                <a:latin typeface="Open Sans"/>
              </a:rPr>
              <a:t>2. </a:t>
            </a:r>
            <a:r>
              <a:rPr lang="en-US" dirty="0">
                <a:solidFill>
                  <a:srgbClr val="FF6600"/>
                </a:solidFill>
                <a:latin typeface="Open Sans"/>
              </a:rPr>
              <a:t>Tell them.</a:t>
            </a:r>
            <a:br>
              <a:rPr lang="en-US" dirty="0">
                <a:solidFill>
                  <a:srgbClr val="404040"/>
                </a:solidFill>
                <a:latin typeface="Open Sans"/>
              </a:rPr>
            </a:br>
            <a:r>
              <a:rPr lang="en-US" dirty="0">
                <a:solidFill>
                  <a:srgbClr val="404040"/>
                </a:solidFill>
                <a:latin typeface="Open Sans"/>
              </a:rPr>
              <a:t>3. </a:t>
            </a:r>
            <a:r>
              <a:rPr lang="en-US" dirty="0">
                <a:solidFill>
                  <a:srgbClr val="FF6600"/>
                </a:solidFill>
                <a:latin typeface="Open Sans"/>
              </a:rPr>
              <a:t>Tell the audience what you told them.</a:t>
            </a:r>
            <a:endParaRPr lang="en-US" dirty="0"/>
          </a:p>
        </p:txBody>
      </p:sp>
    </p:spTree>
    <p:extLst>
      <p:ext uri="{BB962C8B-B14F-4D97-AF65-F5344CB8AC3E}">
        <p14:creationId xmlns:p14="http://schemas.microsoft.com/office/powerpoint/2010/main" val="3338726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D95D35-F1F0-4551-A03F-5237097CEA23}"/>
              </a:ext>
            </a:extLst>
          </p:cNvPr>
          <p:cNvSpPr/>
          <p:nvPr/>
        </p:nvSpPr>
        <p:spPr>
          <a:xfrm>
            <a:off x="3048000" y="3105835"/>
            <a:ext cx="6096000" cy="646331"/>
          </a:xfrm>
          <a:prstGeom prst="rect">
            <a:avLst/>
          </a:prstGeom>
        </p:spPr>
        <p:txBody>
          <a:bodyPr>
            <a:spAutoFit/>
          </a:bodyPr>
          <a:lstStyle/>
          <a:p>
            <a:r>
              <a:rPr lang="en-US" dirty="0">
                <a:solidFill>
                  <a:srgbClr val="222222"/>
                </a:solidFill>
                <a:latin typeface="Open Sans"/>
              </a:rPr>
              <a:t>In iPhone 2007 launch, one heading was “Your life in your pocket”.</a:t>
            </a:r>
            <a:endParaRPr lang="en-US" dirty="0"/>
          </a:p>
        </p:txBody>
      </p:sp>
      <p:sp>
        <p:nvSpPr>
          <p:cNvPr id="5" name="Rectangle 4">
            <a:extLst>
              <a:ext uri="{FF2B5EF4-FFF2-40B4-BE49-F238E27FC236}">
                <a16:creationId xmlns:a16="http://schemas.microsoft.com/office/drawing/2014/main" id="{F266507F-D777-47DB-9E4E-79DE7F3A300A}"/>
              </a:ext>
            </a:extLst>
          </p:cNvPr>
          <p:cNvSpPr/>
          <p:nvPr/>
        </p:nvSpPr>
        <p:spPr>
          <a:xfrm>
            <a:off x="2848215" y="4281119"/>
            <a:ext cx="6096000" cy="1200329"/>
          </a:xfrm>
          <a:prstGeom prst="rect">
            <a:avLst/>
          </a:prstGeom>
        </p:spPr>
        <p:txBody>
          <a:bodyPr>
            <a:spAutoFit/>
          </a:bodyPr>
          <a:lstStyle/>
          <a:p>
            <a:r>
              <a:rPr lang="en-US" dirty="0">
                <a:solidFill>
                  <a:srgbClr val="212608"/>
                </a:solidFill>
                <a:latin typeface="Georgia" panose="02040502050405020303" pitchFamily="18" charset="0"/>
              </a:rPr>
              <a:t>A really good copywriting rule of thumb to keep if you are having trouble consolidating the words on your slide is that you should look to cut 20% of your words after the first draft, and then cut them again a second time.</a:t>
            </a:r>
            <a:endParaRPr lang="en-US" dirty="0"/>
          </a:p>
        </p:txBody>
      </p:sp>
      <p:sp>
        <p:nvSpPr>
          <p:cNvPr id="6" name="Rectangle 5">
            <a:extLst>
              <a:ext uri="{FF2B5EF4-FFF2-40B4-BE49-F238E27FC236}">
                <a16:creationId xmlns:a16="http://schemas.microsoft.com/office/drawing/2014/main" id="{7A9E921C-A2B0-435D-AC50-CDAB759640B3}"/>
              </a:ext>
            </a:extLst>
          </p:cNvPr>
          <p:cNvSpPr/>
          <p:nvPr/>
        </p:nvSpPr>
        <p:spPr>
          <a:xfrm>
            <a:off x="3921366" y="1745948"/>
            <a:ext cx="4349268" cy="369332"/>
          </a:xfrm>
          <a:prstGeom prst="rect">
            <a:avLst/>
          </a:prstGeom>
        </p:spPr>
        <p:txBody>
          <a:bodyPr wrap="none">
            <a:spAutoFit/>
          </a:bodyPr>
          <a:lstStyle/>
          <a:p>
            <a:r>
              <a:rPr lang="en-US" dirty="0">
                <a:solidFill>
                  <a:srgbClr val="212608"/>
                </a:solidFill>
                <a:latin typeface="Georgia" panose="02040502050405020303" pitchFamily="18" charset="0"/>
              </a:rPr>
              <a:t>Simplicity should also be your buzzword </a:t>
            </a:r>
            <a:endParaRPr lang="en-US" dirty="0"/>
          </a:p>
        </p:txBody>
      </p:sp>
    </p:spTree>
    <p:extLst>
      <p:ext uri="{BB962C8B-B14F-4D97-AF65-F5344CB8AC3E}">
        <p14:creationId xmlns:p14="http://schemas.microsoft.com/office/powerpoint/2010/main" val="696624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614F64-71EF-4B6D-A4CD-54E3AF18FCBF}"/>
              </a:ext>
            </a:extLst>
          </p:cNvPr>
          <p:cNvSpPr/>
          <p:nvPr/>
        </p:nvSpPr>
        <p:spPr>
          <a:xfrm>
            <a:off x="3048000" y="3105835"/>
            <a:ext cx="6096000" cy="1200329"/>
          </a:xfrm>
          <a:prstGeom prst="rect">
            <a:avLst/>
          </a:prstGeom>
        </p:spPr>
        <p:txBody>
          <a:bodyPr>
            <a:spAutoFit/>
          </a:bodyPr>
          <a:lstStyle/>
          <a:p>
            <a:r>
              <a:rPr lang="en-US" dirty="0">
                <a:solidFill>
                  <a:srgbClr val="222222"/>
                </a:solidFill>
                <a:latin typeface="Open Sans"/>
              </a:rPr>
              <a:t>Jobs keynotes presentation is like a musical orchestra, paying attention to even the minutest of details. I</a:t>
            </a:r>
            <a:r>
              <a:rPr lang="en-US" dirty="0"/>
              <a:t>n his presentation, he doesn’t sell products, he sells dreams and promise of a better world.</a:t>
            </a:r>
          </a:p>
        </p:txBody>
      </p:sp>
    </p:spTree>
    <p:extLst>
      <p:ext uri="{BB962C8B-B14F-4D97-AF65-F5344CB8AC3E}">
        <p14:creationId xmlns:p14="http://schemas.microsoft.com/office/powerpoint/2010/main" val="826917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05B99-83EB-4242-8DA5-54B84FE869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B86CFF-D547-4FDB-8359-E050F2461922}"/>
              </a:ext>
            </a:extLst>
          </p:cNvPr>
          <p:cNvSpPr>
            <a:spLocks noGrp="1"/>
          </p:cNvSpPr>
          <p:nvPr>
            <p:ph idx="1"/>
          </p:nvPr>
        </p:nvSpPr>
        <p:spPr/>
        <p:txBody>
          <a:bodyPr/>
          <a:lstStyle/>
          <a:p>
            <a:r>
              <a:rPr lang="en-US" dirty="0"/>
              <a:t>Effective communication is way more than being simple</a:t>
            </a:r>
          </a:p>
          <a:p>
            <a:r>
              <a:rPr lang="en-US" dirty="0"/>
              <a:t>It works both ways, you just don’t have to be a good speaker but a good listener</a:t>
            </a:r>
          </a:p>
          <a:p>
            <a:r>
              <a:rPr lang="en-US" dirty="0"/>
              <a:t>Listening and Understanding are important pillars of effective communication skills.</a:t>
            </a:r>
          </a:p>
        </p:txBody>
      </p:sp>
    </p:spTree>
    <p:extLst>
      <p:ext uri="{BB962C8B-B14F-4D97-AF65-F5344CB8AC3E}">
        <p14:creationId xmlns:p14="http://schemas.microsoft.com/office/powerpoint/2010/main" val="42187458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0F97-B2C7-4E99-AF76-166A0CB7D49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7420869-BD5F-4D87-9D28-D549034E51AC}"/>
              </a:ext>
            </a:extLst>
          </p:cNvPr>
          <p:cNvSpPr>
            <a:spLocks noGrp="1"/>
          </p:cNvSpPr>
          <p:nvPr>
            <p:ph idx="1"/>
          </p:nvPr>
        </p:nvSpPr>
        <p:spPr/>
        <p:txBody>
          <a:bodyPr/>
          <a:lstStyle/>
          <a:p>
            <a:r>
              <a:rPr lang="en-US" i="1" dirty="0"/>
              <a:t>Presentation go far beyond words. They connect you with people mentally and emotionally</a:t>
            </a:r>
            <a:endParaRPr lang="en-US" dirty="0"/>
          </a:p>
        </p:txBody>
      </p:sp>
    </p:spTree>
    <p:extLst>
      <p:ext uri="{BB962C8B-B14F-4D97-AF65-F5344CB8AC3E}">
        <p14:creationId xmlns:p14="http://schemas.microsoft.com/office/powerpoint/2010/main" val="3188612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7948E5-F54B-4F1B-B44F-0B19730C2A1E}"/>
              </a:ext>
            </a:extLst>
          </p:cNvPr>
          <p:cNvSpPr/>
          <p:nvPr/>
        </p:nvSpPr>
        <p:spPr>
          <a:xfrm>
            <a:off x="3914152" y="3244334"/>
            <a:ext cx="4363695" cy="369332"/>
          </a:xfrm>
          <a:prstGeom prst="rect">
            <a:avLst/>
          </a:prstGeom>
        </p:spPr>
        <p:txBody>
          <a:bodyPr wrap="none">
            <a:spAutoFit/>
          </a:bodyPr>
          <a:lstStyle/>
          <a:p>
            <a:r>
              <a:rPr lang="en-US" dirty="0">
                <a:solidFill>
                  <a:srgbClr val="222222"/>
                </a:solidFill>
                <a:latin typeface="Open Sans"/>
              </a:rPr>
              <a:t>We listen only 100-125 words per minute</a:t>
            </a:r>
            <a:endParaRPr lang="en-US" dirty="0"/>
          </a:p>
        </p:txBody>
      </p:sp>
    </p:spTree>
    <p:extLst>
      <p:ext uri="{BB962C8B-B14F-4D97-AF65-F5344CB8AC3E}">
        <p14:creationId xmlns:p14="http://schemas.microsoft.com/office/powerpoint/2010/main" val="940178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AF5658-43E4-4C9A-8BB4-BAF53D3DAD5A}"/>
              </a:ext>
            </a:extLst>
          </p:cNvPr>
          <p:cNvSpPr/>
          <p:nvPr/>
        </p:nvSpPr>
        <p:spPr>
          <a:xfrm>
            <a:off x="3048000" y="3105835"/>
            <a:ext cx="6096000" cy="646331"/>
          </a:xfrm>
          <a:prstGeom prst="rect">
            <a:avLst/>
          </a:prstGeom>
        </p:spPr>
        <p:txBody>
          <a:bodyPr>
            <a:spAutoFit/>
          </a:bodyPr>
          <a:lstStyle/>
          <a:p>
            <a:r>
              <a:rPr lang="en-US" dirty="0">
                <a:solidFill>
                  <a:srgbClr val="222222"/>
                </a:solidFill>
                <a:latin typeface="Open Sans"/>
              </a:rPr>
              <a:t>while our brain can utilize up to 3000 words per minute during thinking</a:t>
            </a:r>
            <a:endParaRPr lang="en-US" dirty="0"/>
          </a:p>
        </p:txBody>
      </p:sp>
    </p:spTree>
    <p:extLst>
      <p:ext uri="{BB962C8B-B14F-4D97-AF65-F5344CB8AC3E}">
        <p14:creationId xmlns:p14="http://schemas.microsoft.com/office/powerpoint/2010/main" val="21427673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615B-736D-4BF5-B5DF-3C60393B2A8B}"/>
              </a:ext>
            </a:extLst>
          </p:cNvPr>
          <p:cNvSpPr>
            <a:spLocks noGrp="1"/>
          </p:cNvSpPr>
          <p:nvPr>
            <p:ph type="title"/>
          </p:nvPr>
        </p:nvSpPr>
        <p:spPr/>
        <p:txBody>
          <a:bodyPr>
            <a:normAutofit fontScale="90000"/>
          </a:bodyPr>
          <a:lstStyle/>
          <a:p>
            <a:r>
              <a:rPr lang="en-US" b="1" dirty="0"/>
              <a:t>These communication facts are just going to surprise you</a:t>
            </a:r>
            <a:endParaRPr lang="en-US" dirty="0"/>
          </a:p>
        </p:txBody>
      </p:sp>
      <p:sp>
        <p:nvSpPr>
          <p:cNvPr id="3" name="Content Placeholder 2">
            <a:extLst>
              <a:ext uri="{FF2B5EF4-FFF2-40B4-BE49-F238E27FC236}">
                <a16:creationId xmlns:a16="http://schemas.microsoft.com/office/drawing/2014/main" id="{EFDDC370-AEC2-4580-B809-CA13AB9A5AB3}"/>
              </a:ext>
            </a:extLst>
          </p:cNvPr>
          <p:cNvSpPr>
            <a:spLocks noGrp="1"/>
          </p:cNvSpPr>
          <p:nvPr>
            <p:ph idx="1"/>
          </p:nvPr>
        </p:nvSpPr>
        <p:spPr/>
        <p:txBody>
          <a:bodyPr/>
          <a:lstStyle/>
          <a:p>
            <a:r>
              <a:rPr lang="en-US" dirty="0"/>
              <a:t>Facial expressions matter way more</a:t>
            </a:r>
          </a:p>
          <a:p>
            <a:r>
              <a:rPr lang="en-US" dirty="0"/>
              <a:t>Our thinking and listening doesn’t align</a:t>
            </a:r>
          </a:p>
          <a:p>
            <a:r>
              <a:rPr lang="en-US" dirty="0"/>
              <a:t> Listening and vision also have conflicts</a:t>
            </a:r>
          </a:p>
          <a:p>
            <a:r>
              <a:rPr lang="en-US" dirty="0"/>
              <a:t>Your employer loves effective communication</a:t>
            </a:r>
          </a:p>
          <a:p>
            <a:r>
              <a:rPr lang="en-US" dirty="0"/>
              <a:t>Words definitely speak louder</a:t>
            </a:r>
          </a:p>
          <a:p>
            <a:endParaRPr lang="en-US" dirty="0"/>
          </a:p>
          <a:p>
            <a:endParaRPr lang="en-US" dirty="0"/>
          </a:p>
          <a:p>
            <a:endParaRPr lang="en-US" dirty="0"/>
          </a:p>
        </p:txBody>
      </p:sp>
    </p:spTree>
    <p:extLst>
      <p:ext uri="{BB962C8B-B14F-4D97-AF65-F5344CB8AC3E}">
        <p14:creationId xmlns:p14="http://schemas.microsoft.com/office/powerpoint/2010/main" val="14619463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BCABF-788A-4045-9287-13904E9151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CFB29B-C3D7-44DF-9F4E-D75572C01B1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53690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991084-6CE9-459D-9644-3DDC53166951}"/>
              </a:ext>
            </a:extLst>
          </p:cNvPr>
          <p:cNvSpPr/>
          <p:nvPr/>
        </p:nvSpPr>
        <p:spPr>
          <a:xfrm>
            <a:off x="3048000" y="3105835"/>
            <a:ext cx="6096000" cy="646331"/>
          </a:xfrm>
          <a:prstGeom prst="rect">
            <a:avLst/>
          </a:prstGeom>
        </p:spPr>
        <p:txBody>
          <a:bodyPr>
            <a:spAutoFit/>
          </a:bodyPr>
          <a:lstStyle/>
          <a:p>
            <a:r>
              <a:rPr lang="en-US" dirty="0">
                <a:solidFill>
                  <a:srgbClr val="222222"/>
                </a:solidFill>
                <a:latin typeface="Open Sans"/>
              </a:rPr>
              <a:t>We can only listen and store 7 bits of information at a single time</a:t>
            </a:r>
            <a:endParaRPr lang="en-US" dirty="0"/>
          </a:p>
        </p:txBody>
      </p:sp>
    </p:spTree>
    <p:extLst>
      <p:ext uri="{BB962C8B-B14F-4D97-AF65-F5344CB8AC3E}">
        <p14:creationId xmlns:p14="http://schemas.microsoft.com/office/powerpoint/2010/main" val="39044484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7333CC-88F7-4107-A256-AB6AF5A313D7}"/>
              </a:ext>
            </a:extLst>
          </p:cNvPr>
          <p:cNvSpPr/>
          <p:nvPr/>
        </p:nvSpPr>
        <p:spPr>
          <a:xfrm>
            <a:off x="3023492" y="3244334"/>
            <a:ext cx="6145016" cy="369332"/>
          </a:xfrm>
          <a:prstGeom prst="rect">
            <a:avLst/>
          </a:prstGeom>
        </p:spPr>
        <p:txBody>
          <a:bodyPr wrap="none">
            <a:spAutoFit/>
          </a:bodyPr>
          <a:lstStyle/>
          <a:p>
            <a:r>
              <a:rPr lang="en-US" dirty="0">
                <a:solidFill>
                  <a:srgbClr val="222222"/>
                </a:solidFill>
                <a:latin typeface="Open Sans"/>
              </a:rPr>
              <a:t>According to a study emotional distress is felt more deeply</a:t>
            </a:r>
            <a:endParaRPr lang="en-US" dirty="0"/>
          </a:p>
        </p:txBody>
      </p:sp>
    </p:spTree>
    <p:extLst>
      <p:ext uri="{BB962C8B-B14F-4D97-AF65-F5344CB8AC3E}">
        <p14:creationId xmlns:p14="http://schemas.microsoft.com/office/powerpoint/2010/main" val="12396471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DEBAED-2422-4346-9C0B-D0341B10C44B}"/>
              </a:ext>
            </a:extLst>
          </p:cNvPr>
          <p:cNvSpPr/>
          <p:nvPr/>
        </p:nvSpPr>
        <p:spPr>
          <a:xfrm>
            <a:off x="3048000" y="2828836"/>
            <a:ext cx="6096000" cy="1200329"/>
          </a:xfrm>
          <a:prstGeom prst="rect">
            <a:avLst/>
          </a:prstGeom>
        </p:spPr>
        <p:txBody>
          <a:bodyPr>
            <a:spAutoFit/>
          </a:bodyPr>
          <a:lstStyle/>
          <a:p>
            <a:r>
              <a:rPr lang="en-US" dirty="0">
                <a:solidFill>
                  <a:srgbClr val="222222"/>
                </a:solidFill>
                <a:latin typeface="Open Sans"/>
              </a:rPr>
              <a:t>Always be clear and make sure your communication style isn’t impacting anyone negatively.</a:t>
            </a:r>
          </a:p>
          <a:p>
            <a:br>
              <a:rPr lang="en-US" dirty="0"/>
            </a:br>
            <a:endParaRPr lang="en-US" dirty="0"/>
          </a:p>
        </p:txBody>
      </p:sp>
    </p:spTree>
    <p:extLst>
      <p:ext uri="{BB962C8B-B14F-4D97-AF65-F5344CB8AC3E}">
        <p14:creationId xmlns:p14="http://schemas.microsoft.com/office/powerpoint/2010/main" val="37605848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94520-15E0-4E57-B889-E943388E83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5CBF4A-6D4F-4312-B154-301FB610ADE6}"/>
              </a:ext>
            </a:extLst>
          </p:cNvPr>
          <p:cNvSpPr>
            <a:spLocks noGrp="1"/>
          </p:cNvSpPr>
          <p:nvPr>
            <p:ph idx="1"/>
          </p:nvPr>
        </p:nvSpPr>
        <p:spPr/>
        <p:txBody>
          <a:bodyPr/>
          <a:lstStyle/>
          <a:p>
            <a:endParaRPr lang="en-US"/>
          </a:p>
        </p:txBody>
      </p:sp>
      <p:pic>
        <p:nvPicPr>
          <p:cNvPr id="4" name="Picture 2" descr="Best font combinations and typeface pairings guide - 7">
            <a:extLst>
              <a:ext uri="{FF2B5EF4-FFF2-40B4-BE49-F238E27FC236}">
                <a16:creationId xmlns:a16="http://schemas.microsoft.com/office/drawing/2014/main" id="{7AC1BEA4-BDFF-4059-A0EF-9B50690A70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138" y="1612900"/>
            <a:ext cx="504825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6349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E407F-D5E4-4738-BE7F-197F98694C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998C8F-DB1F-4471-B898-C91575F2A53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433307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D2D9BFCB-C489-4BFD-80E4-BA5880078CD3}"/>
              </a:ext>
            </a:extLst>
          </p:cNvPr>
          <p:cNvCxnSpPr/>
          <p:nvPr/>
        </p:nvCxnSpPr>
        <p:spPr>
          <a:xfrm>
            <a:off x="0" y="2286000"/>
            <a:ext cx="12192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734DAF0-4F2F-4C3A-B42A-281685185CEA}"/>
              </a:ext>
            </a:extLst>
          </p:cNvPr>
          <p:cNvCxnSpPr>
            <a:cxnSpLocks/>
          </p:cNvCxnSpPr>
          <p:nvPr/>
        </p:nvCxnSpPr>
        <p:spPr>
          <a:xfrm>
            <a:off x="4037359" y="0"/>
            <a:ext cx="0" cy="685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8A70BC5-B852-4527-A54A-D522564BE025}"/>
              </a:ext>
            </a:extLst>
          </p:cNvPr>
          <p:cNvCxnSpPr>
            <a:cxnSpLocks/>
          </p:cNvCxnSpPr>
          <p:nvPr/>
        </p:nvCxnSpPr>
        <p:spPr>
          <a:xfrm>
            <a:off x="8097295" y="-19320"/>
            <a:ext cx="0" cy="68773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1F621B4-0BFD-48BE-8C2C-164FFD3FC226}"/>
              </a:ext>
            </a:extLst>
          </p:cNvPr>
          <p:cNvCxnSpPr/>
          <p:nvPr/>
        </p:nvCxnSpPr>
        <p:spPr>
          <a:xfrm>
            <a:off x="0" y="4562340"/>
            <a:ext cx="12192000"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E8218EE8-E955-4C09-8741-92AC3693DD1E}"/>
              </a:ext>
            </a:extLst>
          </p:cNvPr>
          <p:cNvGrpSpPr/>
          <p:nvPr/>
        </p:nvGrpSpPr>
        <p:grpSpPr>
          <a:xfrm>
            <a:off x="5306172" y="3530600"/>
            <a:ext cx="5537093" cy="1870324"/>
            <a:chOff x="2221225" y="2129960"/>
            <a:chExt cx="5537093" cy="1870324"/>
          </a:xfrm>
        </p:grpSpPr>
        <p:sp>
          <p:nvSpPr>
            <p:cNvPr id="10" name="TextBox 9">
              <a:extLst>
                <a:ext uri="{FF2B5EF4-FFF2-40B4-BE49-F238E27FC236}">
                  <a16:creationId xmlns:a16="http://schemas.microsoft.com/office/drawing/2014/main" id="{73648109-7F6D-4695-8FD0-42CF698F6094}"/>
                </a:ext>
              </a:extLst>
            </p:cNvPr>
            <p:cNvSpPr txBox="1"/>
            <p:nvPr/>
          </p:nvSpPr>
          <p:spPr>
            <a:xfrm>
              <a:off x="2221225" y="2528563"/>
              <a:ext cx="5537093" cy="1061829"/>
            </a:xfrm>
            <a:prstGeom prst="rect">
              <a:avLst/>
            </a:prstGeom>
            <a:noFill/>
          </p:spPr>
          <p:txBody>
            <a:bodyPr wrap="none" rtlCol="0">
              <a:spAutoFit/>
            </a:bodyPr>
            <a:lstStyle/>
            <a:p>
              <a:pPr algn="r"/>
              <a:r>
                <a:rPr lang="en-IN" sz="6200" b="1" dirty="0">
                  <a:solidFill>
                    <a:srgbClr val="505050"/>
                  </a:solidFill>
                  <a:latin typeface="Montserrat SemiBold" panose="00000700000000000000" pitchFamily="50" charset="0"/>
                </a:rPr>
                <a:t>presentation</a:t>
              </a:r>
            </a:p>
          </p:txBody>
        </p:sp>
        <p:sp>
          <p:nvSpPr>
            <p:cNvPr id="12" name="TextBox 11">
              <a:extLst>
                <a:ext uri="{FF2B5EF4-FFF2-40B4-BE49-F238E27FC236}">
                  <a16:creationId xmlns:a16="http://schemas.microsoft.com/office/drawing/2014/main" id="{280D4464-6F39-419E-848F-3241451CBFF8}"/>
                </a:ext>
              </a:extLst>
            </p:cNvPr>
            <p:cNvSpPr txBox="1"/>
            <p:nvPr/>
          </p:nvSpPr>
          <p:spPr>
            <a:xfrm>
              <a:off x="6128108" y="2129960"/>
              <a:ext cx="1576691" cy="677108"/>
            </a:xfrm>
            <a:prstGeom prst="rect">
              <a:avLst/>
            </a:prstGeom>
            <a:noFill/>
          </p:spPr>
          <p:txBody>
            <a:bodyPr wrap="square" rtlCol="0">
              <a:spAutoFit/>
            </a:bodyPr>
            <a:lstStyle/>
            <a:p>
              <a:pPr algn="r"/>
              <a:r>
                <a:rPr lang="en-IN" sz="3800" dirty="0">
                  <a:solidFill>
                    <a:schemeClr val="bg1">
                      <a:lumMod val="50000"/>
                    </a:schemeClr>
                  </a:solidFill>
                  <a:latin typeface="Montserrat ExtraLight" panose="00000300000000000000" pitchFamily="50" charset="0"/>
                </a:rPr>
                <a:t>Art of</a:t>
              </a:r>
            </a:p>
          </p:txBody>
        </p:sp>
        <p:sp>
          <p:nvSpPr>
            <p:cNvPr id="9" name="Rectangle 8">
              <a:extLst>
                <a:ext uri="{FF2B5EF4-FFF2-40B4-BE49-F238E27FC236}">
                  <a16:creationId xmlns:a16="http://schemas.microsoft.com/office/drawing/2014/main" id="{47DA5027-9574-4B3A-B8CC-34196550E608}"/>
                </a:ext>
              </a:extLst>
            </p:cNvPr>
            <p:cNvSpPr/>
            <p:nvPr/>
          </p:nvSpPr>
          <p:spPr>
            <a:xfrm>
              <a:off x="6132942" y="2289396"/>
              <a:ext cx="100584" cy="548640"/>
            </a:xfrm>
            <a:prstGeom prst="rect">
              <a:avLst/>
            </a:prstGeom>
            <a:solidFill>
              <a:srgbClr val="50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2C2AA72-439E-4C9F-8DFA-A998E9D41793}"/>
                </a:ext>
              </a:extLst>
            </p:cNvPr>
            <p:cNvSpPr/>
            <p:nvPr/>
          </p:nvSpPr>
          <p:spPr>
            <a:xfrm>
              <a:off x="2513442" y="3327844"/>
              <a:ext cx="100584" cy="548640"/>
            </a:xfrm>
            <a:prstGeom prst="rect">
              <a:avLst/>
            </a:prstGeom>
            <a:solidFill>
              <a:srgbClr val="50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37DDF2C-78FC-497B-BA0C-EAA162F3AD21}"/>
                </a:ext>
              </a:extLst>
            </p:cNvPr>
            <p:cNvSpPr txBox="1"/>
            <p:nvPr/>
          </p:nvSpPr>
          <p:spPr>
            <a:xfrm>
              <a:off x="2643054" y="3353953"/>
              <a:ext cx="481222" cy="646331"/>
            </a:xfrm>
            <a:prstGeom prst="rect">
              <a:avLst/>
            </a:prstGeom>
            <a:noFill/>
          </p:spPr>
          <p:txBody>
            <a:bodyPr wrap="none" rtlCol="0">
              <a:spAutoFit/>
            </a:bodyPr>
            <a:lstStyle/>
            <a:p>
              <a:r>
                <a:rPr lang="en-US" sz="3600" dirty="0">
                  <a:solidFill>
                    <a:srgbClr val="505050"/>
                  </a:solidFill>
                  <a:latin typeface="FontAwesome" pitchFamily="50" charset="0"/>
                </a:rPr>
                <a:t></a:t>
              </a:r>
              <a:endParaRPr lang="en-US" sz="3600" dirty="0">
                <a:solidFill>
                  <a:srgbClr val="505050"/>
                </a:solidFill>
              </a:endParaRPr>
            </a:p>
          </p:txBody>
        </p:sp>
      </p:grpSp>
      <p:grpSp>
        <p:nvGrpSpPr>
          <p:cNvPr id="5" name="Group 4">
            <a:extLst>
              <a:ext uri="{FF2B5EF4-FFF2-40B4-BE49-F238E27FC236}">
                <a16:creationId xmlns:a16="http://schemas.microsoft.com/office/drawing/2014/main" id="{DB7B1675-ADCB-4048-8663-BB34FB6C9044}"/>
              </a:ext>
            </a:extLst>
          </p:cNvPr>
          <p:cNvGrpSpPr/>
          <p:nvPr/>
        </p:nvGrpSpPr>
        <p:grpSpPr>
          <a:xfrm>
            <a:off x="11318043" y="6364659"/>
            <a:ext cx="873957" cy="493341"/>
            <a:chOff x="2223911" y="5497690"/>
            <a:chExt cx="873957" cy="493341"/>
          </a:xfrm>
        </p:grpSpPr>
        <p:sp>
          <p:nvSpPr>
            <p:cNvPr id="4" name="TextBox 3">
              <a:extLst>
                <a:ext uri="{FF2B5EF4-FFF2-40B4-BE49-F238E27FC236}">
                  <a16:creationId xmlns:a16="http://schemas.microsoft.com/office/drawing/2014/main" id="{A196F3AE-AC0A-49BE-A20F-232C0914B336}"/>
                </a:ext>
              </a:extLst>
            </p:cNvPr>
            <p:cNvSpPr txBox="1"/>
            <p:nvPr/>
          </p:nvSpPr>
          <p:spPr>
            <a:xfrm>
              <a:off x="2223911" y="5497690"/>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3" name="TextBox 12">
              <a:extLst>
                <a:ext uri="{FF2B5EF4-FFF2-40B4-BE49-F238E27FC236}">
                  <a16:creationId xmlns:a16="http://schemas.microsoft.com/office/drawing/2014/main" id="{BEEE9BC1-8D8E-4257-88E9-E5ECFCFD54E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16821786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7039495" cy="1418317"/>
            <a:chOff x="825147" y="1300878"/>
            <a:chExt cx="7039495" cy="1418317"/>
          </a:xfrm>
        </p:grpSpPr>
        <p:sp>
          <p:nvSpPr>
            <p:cNvPr id="10" name="Rectangle 9">
              <a:extLst>
                <a:ext uri="{FF2B5EF4-FFF2-40B4-BE49-F238E27FC236}">
                  <a16:creationId xmlns:a16="http://schemas.microsoft.com/office/drawing/2014/main" id="{FDC48643-4FBE-4281-866D-A0E040A53BDB}"/>
                </a:ext>
              </a:extLst>
            </p:cNvPr>
            <p:cNvSpPr/>
            <p:nvPr/>
          </p:nvSpPr>
          <p:spPr>
            <a:xfrm>
              <a:off x="1923592" y="1795865"/>
              <a:ext cx="5941050" cy="923330"/>
            </a:xfrm>
            <a:prstGeom prst="rect">
              <a:avLst/>
            </a:prstGeom>
          </p:spPr>
          <p:txBody>
            <a:bodyPr wrap="none">
              <a:spAutoFit/>
            </a:bodyPr>
            <a:lstStyle/>
            <a:p>
              <a:r>
                <a:rPr lang="en-US" sz="5400" dirty="0">
                  <a:solidFill>
                    <a:schemeClr val="bg1">
                      <a:lumMod val="85000"/>
                    </a:schemeClr>
                  </a:solidFill>
                  <a:latin typeface="Montserrat ExtraLight" panose="00000300000000000000" pitchFamily="50" charset="0"/>
                </a:rPr>
                <a:t>What if I tell you</a:t>
              </a:r>
              <a:r>
                <a:rPr lang="en-US" sz="4400" dirty="0">
                  <a:solidFill>
                    <a:schemeClr val="bg1">
                      <a:lumMod val="50000"/>
                    </a:schemeClr>
                  </a:solidFill>
                  <a:latin typeface="Montserrat ExtraLight" panose="00000300000000000000" pitchFamily="50" charset="0"/>
                </a:rPr>
                <a:t>…</a:t>
              </a: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760128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6087311" cy="1418317"/>
            <a:chOff x="825147" y="1300878"/>
            <a:chExt cx="6087311" cy="1418317"/>
          </a:xfrm>
        </p:grpSpPr>
        <p:sp>
          <p:nvSpPr>
            <p:cNvPr id="10" name="Rectangle 9">
              <a:extLst>
                <a:ext uri="{FF2B5EF4-FFF2-40B4-BE49-F238E27FC236}">
                  <a16:creationId xmlns:a16="http://schemas.microsoft.com/office/drawing/2014/main" id="{FDC48643-4FBE-4281-866D-A0E040A53BDB}"/>
                </a:ext>
              </a:extLst>
            </p:cNvPr>
            <p:cNvSpPr/>
            <p:nvPr/>
          </p:nvSpPr>
          <p:spPr>
            <a:xfrm>
              <a:off x="1923592" y="1795865"/>
              <a:ext cx="4988866" cy="923330"/>
            </a:xfrm>
            <a:prstGeom prst="rect">
              <a:avLst/>
            </a:prstGeom>
          </p:spPr>
          <p:txBody>
            <a:bodyPr wrap="none">
              <a:spAutoFit/>
            </a:bodyPr>
            <a:lstStyle/>
            <a:p>
              <a:r>
                <a:rPr lang="en-US" sz="5400" dirty="0">
                  <a:solidFill>
                    <a:schemeClr val="bg1">
                      <a:lumMod val="85000"/>
                    </a:schemeClr>
                  </a:solidFill>
                  <a:latin typeface="Montserrat ExtraLight" panose="00000300000000000000" pitchFamily="50" charset="0"/>
                </a:rPr>
                <a:t>I am sure now</a:t>
              </a:r>
              <a:endParaRPr lang="en-US" sz="4400" dirty="0">
                <a:solidFill>
                  <a:schemeClr val="bg1">
                    <a:lumMod val="50000"/>
                  </a:schemeClr>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151240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670CFA-1C6B-42D7-B142-4BE726478034}"/>
              </a:ext>
            </a:extLst>
          </p:cNvPr>
          <p:cNvGrpSpPr/>
          <p:nvPr/>
        </p:nvGrpSpPr>
        <p:grpSpPr>
          <a:xfrm>
            <a:off x="4158556" y="3535574"/>
            <a:ext cx="7032695" cy="2053531"/>
            <a:chOff x="4046270" y="1360450"/>
            <a:chExt cx="7032695" cy="2053531"/>
          </a:xfrm>
        </p:grpSpPr>
        <p:sp>
          <p:nvSpPr>
            <p:cNvPr id="7" name="Rectangle 6">
              <a:extLst>
                <a:ext uri="{FF2B5EF4-FFF2-40B4-BE49-F238E27FC236}">
                  <a16:creationId xmlns:a16="http://schemas.microsoft.com/office/drawing/2014/main" id="{508310AF-78D6-487D-B885-1F163A758B5D}"/>
                </a:ext>
              </a:extLst>
            </p:cNvPr>
            <p:cNvSpPr/>
            <p:nvPr/>
          </p:nvSpPr>
          <p:spPr>
            <a:xfrm>
              <a:off x="7726765" y="1360450"/>
              <a:ext cx="3352200" cy="677108"/>
            </a:xfrm>
            <a:prstGeom prst="rect">
              <a:avLst/>
            </a:prstGeom>
          </p:spPr>
          <p:txBody>
            <a:bodyPr wrap="none">
              <a:spAutoFit/>
            </a:bodyPr>
            <a:lstStyle/>
            <a:p>
              <a:pPr algn="r"/>
              <a:r>
                <a:rPr lang="en-US" sz="3800" dirty="0">
                  <a:solidFill>
                    <a:schemeClr val="bg1">
                      <a:lumMod val="50000"/>
                    </a:schemeClr>
                  </a:solidFill>
                  <a:latin typeface="Montserrat ExtraLight" panose="00000300000000000000" pitchFamily="50" charset="0"/>
                </a:rPr>
                <a:t>You get paid </a:t>
              </a:r>
            </a:p>
          </p:txBody>
        </p:sp>
        <p:sp>
          <p:nvSpPr>
            <p:cNvPr id="8" name="Rectangle 7">
              <a:extLst>
                <a:ext uri="{FF2B5EF4-FFF2-40B4-BE49-F238E27FC236}">
                  <a16:creationId xmlns:a16="http://schemas.microsoft.com/office/drawing/2014/main" id="{0F7AB48F-45B7-4524-A106-94B2B46C7EB7}"/>
                </a:ext>
              </a:extLst>
            </p:cNvPr>
            <p:cNvSpPr/>
            <p:nvPr/>
          </p:nvSpPr>
          <p:spPr>
            <a:xfrm>
              <a:off x="4046270" y="1844321"/>
              <a:ext cx="7032695" cy="1569660"/>
            </a:xfrm>
            <a:prstGeom prst="rect">
              <a:avLst/>
            </a:prstGeom>
          </p:spPr>
          <p:txBody>
            <a:bodyPr wrap="none">
              <a:spAutoFit/>
            </a:bodyPr>
            <a:lstStyle/>
            <a:p>
              <a:pPr algn="r"/>
              <a:r>
                <a:rPr lang="en-US" sz="9600" b="1" dirty="0">
                  <a:solidFill>
                    <a:srgbClr val="505050"/>
                  </a:solidFill>
                  <a:latin typeface="Montserrat SemiBold" panose="00000700000000000000" pitchFamily="50" charset="0"/>
                </a:rPr>
                <a:t>10% </a:t>
              </a:r>
              <a:r>
                <a:rPr lang="en-US" sz="9600" b="1" dirty="0">
                  <a:solidFill>
                    <a:srgbClr val="00B050"/>
                  </a:solidFill>
                  <a:latin typeface="Montserrat ExtraLight" panose="00000300000000000000" pitchFamily="50" charset="0"/>
                </a:rPr>
                <a:t>more…</a:t>
              </a:r>
            </a:p>
          </p:txBody>
        </p:sp>
      </p:grpSp>
    </p:spTree>
    <p:extLst>
      <p:ext uri="{BB962C8B-B14F-4D97-AF65-F5344CB8AC3E}">
        <p14:creationId xmlns:p14="http://schemas.microsoft.com/office/powerpoint/2010/main" val="29766341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D36E07-5AB5-41EB-811E-484967415A2B}"/>
              </a:ext>
            </a:extLst>
          </p:cNvPr>
          <p:cNvSpPr/>
          <p:nvPr/>
        </p:nvSpPr>
        <p:spPr>
          <a:xfrm>
            <a:off x="1704622" y="2828836"/>
            <a:ext cx="7439378" cy="2308324"/>
          </a:xfrm>
          <a:prstGeom prst="rect">
            <a:avLst/>
          </a:prstGeom>
        </p:spPr>
        <p:txBody>
          <a:bodyPr wrap="square">
            <a:spAutoFit/>
          </a:bodyPr>
          <a:lstStyle/>
          <a:p>
            <a:r>
              <a:rPr lang="en-US" sz="3600" dirty="0" err="1"/>
              <a:t>अगर</a:t>
            </a:r>
            <a:r>
              <a:rPr lang="en-US" sz="3600" dirty="0"/>
              <a:t>  </a:t>
            </a:r>
            <a:r>
              <a:rPr lang="en-US" sz="3600" dirty="0" err="1"/>
              <a:t>भरोसा</a:t>
            </a:r>
            <a:r>
              <a:rPr lang="en-US" sz="3600" dirty="0"/>
              <a:t>  </a:t>
            </a:r>
            <a:r>
              <a:rPr lang="en-US" sz="3600" dirty="0" err="1"/>
              <a:t>उपरवाले</a:t>
            </a:r>
            <a:r>
              <a:rPr lang="en-US" sz="3600" dirty="0"/>
              <a:t>  </a:t>
            </a:r>
            <a:r>
              <a:rPr lang="en-US" sz="3600" dirty="0" err="1"/>
              <a:t>पर</a:t>
            </a:r>
            <a:r>
              <a:rPr lang="en-US" sz="3600" dirty="0"/>
              <a:t>  </a:t>
            </a:r>
            <a:r>
              <a:rPr lang="en-US" sz="3600" dirty="0" err="1"/>
              <a:t>है</a:t>
            </a:r>
            <a:r>
              <a:rPr lang="en-US" sz="3600" dirty="0"/>
              <a:t>  </a:t>
            </a:r>
            <a:r>
              <a:rPr lang="en-US" sz="3600" dirty="0" err="1"/>
              <a:t>तो</a:t>
            </a:r>
            <a:r>
              <a:rPr lang="en-US" sz="3600" dirty="0"/>
              <a:t> ,</a:t>
            </a:r>
          </a:p>
          <a:p>
            <a:r>
              <a:rPr lang="en-US" sz="3600" dirty="0" err="1"/>
              <a:t>जो</a:t>
            </a:r>
            <a:r>
              <a:rPr lang="en-US" sz="3600" dirty="0"/>
              <a:t>  </a:t>
            </a:r>
            <a:r>
              <a:rPr lang="en-US" sz="3600" dirty="0" err="1"/>
              <a:t>लिखा</a:t>
            </a:r>
            <a:r>
              <a:rPr lang="en-US" sz="3600" dirty="0"/>
              <a:t>  </a:t>
            </a:r>
            <a:r>
              <a:rPr lang="en-US" sz="3600" dirty="0" err="1"/>
              <a:t>तक़दीर</a:t>
            </a:r>
            <a:r>
              <a:rPr lang="en-US" sz="3600" dirty="0"/>
              <a:t>  </a:t>
            </a:r>
            <a:r>
              <a:rPr lang="en-US" sz="3600" dirty="0" err="1"/>
              <a:t>में</a:t>
            </a:r>
            <a:r>
              <a:rPr lang="en-US" sz="3600" dirty="0"/>
              <a:t>  </a:t>
            </a:r>
            <a:r>
              <a:rPr lang="en-US" sz="3600" dirty="0" err="1"/>
              <a:t>है</a:t>
            </a:r>
            <a:r>
              <a:rPr lang="en-US" sz="3600" dirty="0"/>
              <a:t>  </a:t>
            </a:r>
            <a:r>
              <a:rPr lang="en-US" sz="3600" dirty="0" err="1"/>
              <a:t>वही</a:t>
            </a:r>
            <a:r>
              <a:rPr lang="en-US" sz="3600" dirty="0"/>
              <a:t>  </a:t>
            </a:r>
            <a:r>
              <a:rPr lang="en-US" sz="3600" dirty="0" err="1"/>
              <a:t>पाओगे</a:t>
            </a:r>
            <a:r>
              <a:rPr lang="en-US" sz="3600" dirty="0"/>
              <a:t> ,</a:t>
            </a:r>
          </a:p>
          <a:p>
            <a:r>
              <a:rPr lang="en-US" sz="3600" dirty="0" err="1"/>
              <a:t>मगर</a:t>
            </a:r>
            <a:r>
              <a:rPr lang="en-US" sz="3600" dirty="0"/>
              <a:t>  </a:t>
            </a:r>
            <a:r>
              <a:rPr lang="en-US" sz="3600" dirty="0" err="1"/>
              <a:t>भरोसा</a:t>
            </a:r>
            <a:r>
              <a:rPr lang="en-US" sz="3600" dirty="0"/>
              <a:t>  </a:t>
            </a:r>
            <a:r>
              <a:rPr lang="en-US" sz="3600" dirty="0" err="1"/>
              <a:t>अगर</a:t>
            </a:r>
            <a:r>
              <a:rPr lang="en-US" sz="3600" dirty="0"/>
              <a:t>  </a:t>
            </a:r>
            <a:r>
              <a:rPr lang="en-US" sz="3600" dirty="0" err="1"/>
              <a:t>खुद</a:t>
            </a:r>
            <a:r>
              <a:rPr lang="en-US" sz="3600" dirty="0"/>
              <a:t>  </a:t>
            </a:r>
            <a:r>
              <a:rPr lang="en-US" sz="3600" dirty="0" err="1"/>
              <a:t>पर</a:t>
            </a:r>
            <a:r>
              <a:rPr lang="en-US" sz="3600" dirty="0"/>
              <a:t>  </a:t>
            </a:r>
            <a:r>
              <a:rPr lang="en-US" sz="3600" dirty="0" err="1"/>
              <a:t>है</a:t>
            </a:r>
            <a:r>
              <a:rPr lang="en-US" sz="3600" dirty="0"/>
              <a:t>  </a:t>
            </a:r>
            <a:r>
              <a:rPr lang="en-US" sz="3600" dirty="0" err="1"/>
              <a:t>तो</a:t>
            </a:r>
            <a:r>
              <a:rPr lang="en-US" sz="3600" dirty="0"/>
              <a:t> ,</a:t>
            </a:r>
          </a:p>
          <a:p>
            <a:r>
              <a:rPr lang="en-US" sz="3600" dirty="0" err="1"/>
              <a:t>वो</a:t>
            </a:r>
            <a:r>
              <a:rPr lang="en-US" sz="3600" dirty="0"/>
              <a:t>  </a:t>
            </a:r>
            <a:r>
              <a:rPr lang="en-US" sz="3600" dirty="0" err="1"/>
              <a:t>वही</a:t>
            </a:r>
            <a:r>
              <a:rPr lang="en-US" sz="3600" dirty="0"/>
              <a:t>  </a:t>
            </a:r>
            <a:r>
              <a:rPr lang="en-US" sz="3600" dirty="0" err="1"/>
              <a:t>लिखेगा</a:t>
            </a:r>
            <a:r>
              <a:rPr lang="en-US" sz="3600" dirty="0"/>
              <a:t>  </a:t>
            </a:r>
            <a:r>
              <a:rPr lang="en-US" sz="3600" dirty="0" err="1"/>
              <a:t>जो</a:t>
            </a:r>
            <a:r>
              <a:rPr lang="en-US" sz="3600" dirty="0"/>
              <a:t>  </a:t>
            </a:r>
            <a:r>
              <a:rPr lang="en-US" sz="3600" dirty="0" err="1"/>
              <a:t>आप</a:t>
            </a:r>
            <a:r>
              <a:rPr lang="en-US" sz="3600" dirty="0"/>
              <a:t>  </a:t>
            </a:r>
            <a:r>
              <a:rPr lang="en-US" sz="3600" dirty="0" err="1"/>
              <a:t>चाहोगे</a:t>
            </a:r>
            <a:r>
              <a:rPr lang="en-US" sz="3600" dirty="0"/>
              <a:t> </a:t>
            </a:r>
          </a:p>
        </p:txBody>
      </p:sp>
    </p:spTree>
    <p:extLst>
      <p:ext uri="{BB962C8B-B14F-4D97-AF65-F5344CB8AC3E}">
        <p14:creationId xmlns:p14="http://schemas.microsoft.com/office/powerpoint/2010/main" val="6829724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30155F-38DF-40A4-BD94-32DAB6CA784D}"/>
              </a:ext>
            </a:extLst>
          </p:cNvPr>
          <p:cNvGrpSpPr/>
          <p:nvPr/>
        </p:nvGrpSpPr>
        <p:grpSpPr>
          <a:xfrm>
            <a:off x="0" y="-19320"/>
            <a:ext cx="12192000" cy="6877320"/>
            <a:chOff x="0" y="-19320"/>
            <a:chExt cx="12192000" cy="6877320"/>
          </a:xfrm>
        </p:grpSpPr>
        <p:cxnSp>
          <p:nvCxnSpPr>
            <p:cNvPr id="4" name="Straight Connector 3">
              <a:extLst>
                <a:ext uri="{FF2B5EF4-FFF2-40B4-BE49-F238E27FC236}">
                  <a16:creationId xmlns:a16="http://schemas.microsoft.com/office/drawing/2014/main" id="{F5D0B0A0-887F-4504-ACC8-618310F815CE}"/>
                </a:ext>
              </a:extLst>
            </p:cNvPr>
            <p:cNvCxnSpPr/>
            <p:nvPr/>
          </p:nvCxnSpPr>
          <p:spPr>
            <a:xfrm>
              <a:off x="0" y="2286000"/>
              <a:ext cx="12192000" cy="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BDFB94D7-0AE7-42B5-BD9F-346FC2859D25}"/>
                </a:ext>
              </a:extLst>
            </p:cNvPr>
            <p:cNvCxnSpPr>
              <a:cxnSpLocks/>
            </p:cNvCxnSpPr>
            <p:nvPr/>
          </p:nvCxnSpPr>
          <p:spPr>
            <a:xfrm>
              <a:off x="4037359" y="0"/>
              <a:ext cx="0" cy="685800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ACE43DC4-60E1-4EBA-86DC-85DCFB82491F}"/>
                </a:ext>
              </a:extLst>
            </p:cNvPr>
            <p:cNvCxnSpPr>
              <a:cxnSpLocks/>
            </p:cNvCxnSpPr>
            <p:nvPr/>
          </p:nvCxnSpPr>
          <p:spPr>
            <a:xfrm>
              <a:off x="8097295" y="-19320"/>
              <a:ext cx="0" cy="687732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9495F23F-D1B5-40B4-A0AD-74D80F83CF2E}"/>
                </a:ext>
              </a:extLst>
            </p:cNvPr>
            <p:cNvCxnSpPr/>
            <p:nvPr/>
          </p:nvCxnSpPr>
          <p:spPr>
            <a:xfrm>
              <a:off x="0" y="4562340"/>
              <a:ext cx="12192000" cy="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grpSp>
      <p:grpSp>
        <p:nvGrpSpPr>
          <p:cNvPr id="9" name="Group 8">
            <a:extLst>
              <a:ext uri="{FF2B5EF4-FFF2-40B4-BE49-F238E27FC236}">
                <a16:creationId xmlns:a16="http://schemas.microsoft.com/office/drawing/2014/main" id="{B5DD2DDD-EC84-4441-A6D6-A730F6013154}"/>
              </a:ext>
            </a:extLst>
          </p:cNvPr>
          <p:cNvGrpSpPr/>
          <p:nvPr/>
        </p:nvGrpSpPr>
        <p:grpSpPr>
          <a:xfrm>
            <a:off x="11318043" y="6321117"/>
            <a:ext cx="873957" cy="536883"/>
            <a:chOff x="2223911" y="5454148"/>
            <a:chExt cx="873957" cy="536883"/>
          </a:xfrm>
        </p:grpSpPr>
        <p:sp>
          <p:nvSpPr>
            <p:cNvPr id="10" name="TextBox 9">
              <a:extLst>
                <a:ext uri="{FF2B5EF4-FFF2-40B4-BE49-F238E27FC236}">
                  <a16:creationId xmlns:a16="http://schemas.microsoft.com/office/drawing/2014/main" id="{C22FE3C6-34C3-4239-8D0D-BA6F4BF9AE72}"/>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11" name="TextBox 10">
              <a:extLst>
                <a:ext uri="{FF2B5EF4-FFF2-40B4-BE49-F238E27FC236}">
                  <a16:creationId xmlns:a16="http://schemas.microsoft.com/office/drawing/2014/main" id="{81506640-7430-4007-A146-B52F62D3A91B}"/>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648289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Image result for fibonacci design transparent">
            <a:extLst>
              <a:ext uri="{FF2B5EF4-FFF2-40B4-BE49-F238E27FC236}">
                <a16:creationId xmlns:a16="http://schemas.microsoft.com/office/drawing/2014/main" id="{D016DE48-F39C-4351-8C37-34494BDFBEC3}"/>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2450" y="0"/>
            <a:ext cx="11085513"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63006BAD-01C8-4820-BB9A-754B52DFAA06}"/>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E7918619-F5CC-4B17-914B-AE2B10E60F3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B05A1942-E307-4657-AC8B-41025E89452E}"/>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30873651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CF17C-9F3A-4AA8-B590-31EE0B051C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15ECBB-598E-4E9B-B139-EDF18B18E86C}"/>
              </a:ext>
            </a:extLst>
          </p:cNvPr>
          <p:cNvSpPr>
            <a:spLocks noGrp="1"/>
          </p:cNvSpPr>
          <p:nvPr>
            <p:ph idx="1"/>
          </p:nvPr>
        </p:nvSpPr>
        <p:spPr/>
        <p:txBody>
          <a:bodyPr/>
          <a:lstStyle/>
          <a:p>
            <a:r>
              <a:rPr lang="en-US" dirty="0">
                <a:hlinkClick r:id="rId2"/>
              </a:rPr>
              <a:t>https://www.youtube.com/watch?v=Q5WT2vweFRY</a:t>
            </a:r>
            <a:endParaRPr lang="en-US" dirty="0"/>
          </a:p>
          <a:p>
            <a:r>
              <a:rPr lang="en-GB" dirty="0">
                <a:hlinkClick r:id="rId3"/>
              </a:rPr>
              <a:t>The surprising secret to speaking with confidence</a:t>
            </a:r>
          </a:p>
          <a:p>
            <a:r>
              <a:rPr lang="en-GB" dirty="0">
                <a:hlinkClick r:id="rId4"/>
              </a:rPr>
              <a:t>How to open and close presentations? - Presentation lesson from Mark Powell</a:t>
            </a:r>
            <a:endParaRPr lang="en-GB" dirty="0"/>
          </a:p>
          <a:p>
            <a:r>
              <a:rPr lang="en-GB" dirty="0">
                <a:hlinkClick r:id="rId5"/>
              </a:rPr>
              <a:t>08 Simple tips to develop great Presentation Skills - Public speaking tips | Body language</a:t>
            </a:r>
            <a:endParaRPr lang="en-GB" dirty="0"/>
          </a:p>
          <a:p>
            <a:r>
              <a:rPr lang="en-GB" dirty="0">
                <a:hlinkClick r:id="rId6"/>
              </a:rPr>
              <a:t>How to develop your Communication Skills by International Keynote Speaker </a:t>
            </a:r>
            <a:r>
              <a:rPr lang="en-GB" dirty="0" err="1">
                <a:hlinkClick r:id="rId6"/>
              </a:rPr>
              <a:t>Simerjeet</a:t>
            </a:r>
            <a:r>
              <a:rPr lang="en-GB" dirty="0">
                <a:hlinkClick r:id="rId6"/>
              </a:rPr>
              <a:t> Singh</a:t>
            </a:r>
            <a:endParaRPr lang="en-GB" dirty="0"/>
          </a:p>
          <a:p>
            <a:endParaRPr lang="en-GB" dirty="0"/>
          </a:p>
          <a:p>
            <a:endParaRPr lang="en-GB" dirty="0"/>
          </a:p>
          <a:p>
            <a:endParaRPr lang="en-GB" dirty="0"/>
          </a:p>
          <a:p>
            <a:endParaRPr lang="en-US" dirty="0"/>
          </a:p>
          <a:p>
            <a:endParaRPr lang="en-US" dirty="0"/>
          </a:p>
        </p:txBody>
      </p:sp>
    </p:spTree>
    <p:extLst>
      <p:ext uri="{BB962C8B-B14F-4D97-AF65-F5344CB8AC3E}">
        <p14:creationId xmlns:p14="http://schemas.microsoft.com/office/powerpoint/2010/main" val="3425706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35411</TotalTime>
  <Words>1843</Words>
  <Application>Microsoft Office PowerPoint</Application>
  <PresentationFormat>Widescreen</PresentationFormat>
  <Paragraphs>334</Paragraphs>
  <Slides>65</Slides>
  <Notes>33</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65</vt:i4>
      </vt:variant>
    </vt:vector>
  </HeadingPairs>
  <TitlesOfParts>
    <vt:vector size="83" baseType="lpstr">
      <vt:lpstr>Arial</vt:lpstr>
      <vt:lpstr>Calibri</vt:lpstr>
      <vt:lpstr>Calibri Light</vt:lpstr>
      <vt:lpstr>Capsuula</vt:lpstr>
      <vt:lpstr>FontAwesome</vt:lpstr>
      <vt:lpstr>Georgia</vt:lpstr>
      <vt:lpstr>Montserrat Alternates Light</vt:lpstr>
      <vt:lpstr>Montserrat ExtraLight</vt:lpstr>
      <vt:lpstr>Montserrat SemiBold</vt:lpstr>
      <vt:lpstr>Open Sans</vt:lpstr>
      <vt:lpstr>Ostrich Sans Medium</vt:lpstr>
      <vt:lpstr>Proxima Nova Cn Rg</vt:lpstr>
      <vt:lpstr>Proxima Nova ExCn Bl</vt:lpstr>
      <vt:lpstr>Proxima Nova ExCn Rg</vt:lpstr>
      <vt:lpstr>Proxima Nova Th</vt:lpstr>
      <vt:lpstr>Source Sans Pro Black</vt:lpstr>
      <vt:lpstr>tabular-numbers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These communication facts are just going to surprise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Bharat Mane</dc:creator>
  <cp:lastModifiedBy>Bharat Mane</cp:lastModifiedBy>
  <cp:revision>1547</cp:revision>
  <dcterms:created xsi:type="dcterms:W3CDTF">2017-08-04T04:53:56Z</dcterms:created>
  <dcterms:modified xsi:type="dcterms:W3CDTF">2019-01-04T02:28:34Z</dcterms:modified>
</cp:coreProperties>
</file>