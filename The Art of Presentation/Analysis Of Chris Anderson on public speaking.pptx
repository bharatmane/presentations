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handoutMasterIdLst>
    <p:handoutMasterId r:id="rId9"/>
  </p:handoutMasterIdLst>
  <p:sldIdLst>
    <p:sldId id="335" r:id="rId2"/>
    <p:sldId id="353" r:id="rId3"/>
    <p:sldId id="355" r:id="rId4"/>
    <p:sldId id="352" r:id="rId5"/>
    <p:sldId id="340" r:id="rId6"/>
    <p:sldId id="34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BB4129-60AB-480C-B1D4-D0A9B366C14A}">
          <p14:sldIdLst>
            <p14:sldId id="335"/>
            <p14:sldId id="353"/>
            <p14:sldId id="355"/>
            <p14:sldId id="352"/>
            <p14:sldId id="340"/>
            <p14:sldId id="34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2D2D2D"/>
    <a:srgbClr val="505050"/>
    <a:srgbClr val="2E323E"/>
    <a:srgbClr val="F77F07"/>
    <a:srgbClr val="F99837"/>
    <a:srgbClr val="ECECEC"/>
    <a:srgbClr val="E4E4E4"/>
    <a:srgbClr val="E2E2E2"/>
    <a:srgbClr val="F8FA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1462" autoAdjust="0"/>
  </p:normalViewPr>
  <p:slideViewPr>
    <p:cSldViewPr snapToGrid="0">
      <p:cViewPr varScale="1">
        <p:scale>
          <a:sx n="78" d="100"/>
          <a:sy n="78" d="100"/>
        </p:scale>
        <p:origin x="1614" y="78"/>
      </p:cViewPr>
      <p:guideLst>
        <p:guide orient="horz" pos="2160"/>
        <p:guide pos="3840"/>
      </p:guideLst>
    </p:cSldViewPr>
  </p:slideViewPr>
  <p:outlineViewPr>
    <p:cViewPr>
      <p:scale>
        <a:sx n="33" d="100"/>
        <a:sy n="33" d="100"/>
      </p:scale>
      <p:origin x="0" y="0"/>
    </p:cViewPr>
  </p:outlineViewPr>
  <p:notesTextViewPr>
    <p:cViewPr>
      <p:scale>
        <a:sx n="1" d="1"/>
        <a:sy n="1" d="1"/>
      </p:scale>
      <p:origin x="0" y="-42"/>
    </p:cViewPr>
  </p:notesTextViewPr>
  <p:sorterViewPr>
    <p:cViewPr>
      <p:scale>
        <a:sx n="100" d="100"/>
        <a:sy n="100" d="100"/>
      </p:scale>
      <p:origin x="0" y="0"/>
    </p:cViewPr>
  </p:sorterViewPr>
  <p:notesViewPr>
    <p:cSldViewPr snapToGrid="0">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46E21ED-16CE-4F24-80AE-EAA670226342}" type="datetimeFigureOut">
              <a:rPr lang="en-US" smtClean="0"/>
              <a:t>1/12/2019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75D9F6-7422-48F2-8A6C-3C4CB49F3925}"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49767B-8DD0-4A45-953D-8094941534E6}" type="datetimeFigureOut">
              <a:rPr lang="en-US" smtClean="0"/>
              <a:pPr/>
              <a:t>1/12/2019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F9E20-B887-4600-B1E3-3C3A8AFB3A82}" type="slidenum">
              <a:rPr lang="en-US" smtClean="0"/>
              <a:pPr/>
              <a:t>‹#›</a:t>
            </a:fld>
            <a:endParaRPr lang="en-US"/>
          </a:p>
        </p:txBody>
      </p:sp>
    </p:spTree>
    <p:extLst>
      <p:ext uri="{BB962C8B-B14F-4D97-AF65-F5344CB8AC3E}">
        <p14:creationId xmlns:p14="http://schemas.microsoft.com/office/powerpoint/2010/main" val="239193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a:t>
            </a:fld>
            <a:endParaRPr lang="en-US"/>
          </a:p>
        </p:txBody>
      </p:sp>
    </p:spTree>
    <p:extLst>
      <p:ext uri="{BB962C8B-B14F-4D97-AF65-F5344CB8AC3E}">
        <p14:creationId xmlns:p14="http://schemas.microsoft.com/office/powerpoint/2010/main" val="1176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https://www.udemy.com/chris-anderson-on-public-speaking/</a:t>
            </a:r>
          </a:p>
          <a:p>
            <a:r>
              <a:rPr lang="en-IN" dirty="0"/>
              <a:t>C</a:t>
            </a:r>
            <a:r>
              <a:rPr lang="en-US" dirty="0" err="1"/>
              <a:t>hris</a:t>
            </a:r>
            <a:r>
              <a:rPr lang="en-US" dirty="0"/>
              <a:t> Anderson</a:t>
            </a:r>
          </a:p>
        </p:txBody>
      </p:sp>
      <p:sp>
        <p:nvSpPr>
          <p:cNvPr id="4" name="Slide Number Placeholder 3"/>
          <p:cNvSpPr>
            <a:spLocks noGrp="1"/>
          </p:cNvSpPr>
          <p:nvPr>
            <p:ph type="sldNum" sz="quarter" idx="5"/>
          </p:nvPr>
        </p:nvSpPr>
        <p:spPr/>
        <p:txBody>
          <a:bodyPr/>
          <a:lstStyle/>
          <a:p>
            <a:fld id="{636F9E20-B887-4600-B1E3-3C3A8AFB3A82}" type="slidenum">
              <a:rPr lang="en-US" smtClean="0"/>
              <a:pPr/>
              <a:t>2</a:t>
            </a:fld>
            <a:endParaRPr lang="en-US"/>
          </a:p>
        </p:txBody>
      </p:sp>
    </p:spTree>
    <p:extLst>
      <p:ext uri="{BB962C8B-B14F-4D97-AF65-F5344CB8AC3E}">
        <p14:creationId xmlns:p14="http://schemas.microsoft.com/office/powerpoint/2010/main" val="9509629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a great way to think about "a talk" is as a journey. You, the speaker, are going with your audience on a journey of discovery together. </a:t>
            </a:r>
          </a:p>
          <a:p>
            <a:r>
              <a:rPr lang="en-GB" dirty="0"/>
              <a:t>So what makes a journey successful? </a:t>
            </a:r>
          </a:p>
          <a:p>
            <a:r>
              <a:rPr lang="en-GB" dirty="0"/>
              <a:t>It's really just two simple things. </a:t>
            </a:r>
          </a:p>
          <a:p>
            <a:r>
              <a:rPr lang="en-GB" dirty="0"/>
              <a:t>The first is you obviously have to start where the audience is. </a:t>
            </a:r>
          </a:p>
          <a:p>
            <a:r>
              <a:rPr lang="en-GB" dirty="0"/>
              <a:t>You start on the journey together. So that means you have to be putting yourself in their shoes and planning to use their language, their assumptions, not your own starting assumptions. </a:t>
            </a:r>
          </a:p>
          <a:p>
            <a:r>
              <a:rPr lang="en-GB" dirty="0"/>
              <a:t>And then each step of the journey needs to be both possible and desirable.</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a:t>
            </a:fld>
            <a:endParaRPr lang="en-US"/>
          </a:p>
        </p:txBody>
      </p:sp>
    </p:spTree>
    <p:extLst>
      <p:ext uri="{BB962C8B-B14F-4D97-AF65-F5344CB8AC3E}">
        <p14:creationId xmlns:p14="http://schemas.microsoft.com/office/powerpoint/2010/main" val="273463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cost of a poor PowerPoint presentation is staggering. Ian Parker in </a:t>
            </a:r>
            <a:r>
              <a:rPr lang="en-GB" sz="1200" b="0" i="1" kern="1200" dirty="0">
                <a:solidFill>
                  <a:schemeClr val="tx1"/>
                </a:solidFill>
                <a:effectLst/>
                <a:latin typeface="+mn-lt"/>
                <a:ea typeface="+mn-ea"/>
                <a:cs typeface="+mn-cs"/>
              </a:rPr>
              <a:t>The New </a:t>
            </a:r>
            <a:r>
              <a:rPr lang="en-GB" sz="1200" b="0" i="1" kern="1200" dirty="0" err="1">
                <a:solidFill>
                  <a:schemeClr val="tx1"/>
                </a:solidFill>
                <a:effectLst/>
                <a:latin typeface="+mn-lt"/>
                <a:ea typeface="+mn-ea"/>
                <a:cs typeface="+mn-cs"/>
              </a:rPr>
              <a:t>Yorker</a:t>
            </a:r>
            <a:r>
              <a:rPr lang="en-GB" sz="1200" b="0" i="0" kern="1200" dirty="0" err="1">
                <a:solidFill>
                  <a:schemeClr val="tx1"/>
                </a:solidFill>
                <a:effectLst/>
                <a:latin typeface="+mn-lt"/>
                <a:ea typeface="+mn-ea"/>
                <a:cs typeface="+mn-cs"/>
              </a:rPr>
              <a:t>magazine</a:t>
            </a:r>
            <a:r>
              <a:rPr lang="en-GB" sz="1200" b="0" i="0" kern="1200" dirty="0">
                <a:solidFill>
                  <a:schemeClr val="tx1"/>
                </a:solidFill>
                <a:effectLst/>
                <a:latin typeface="+mn-lt"/>
                <a:ea typeface="+mn-ea"/>
                <a:cs typeface="+mn-cs"/>
              </a:rPr>
              <a:t> states that according to Microsoft estimates, there are more than 30 million PowerPoint presentations made each day. If we assume some relatively conservative meeting parameters of four people per presentation, a half-hour presentation on average and the wasted time due to a poor presentation is one-quarter of the presentation time, we arrive at a waste of 15 million person hours per day. At an average salary of $35,000 per year for those attending the meeting, the cost of that wasted time is a staggering $252 million and change each </a:t>
            </a:r>
            <a:r>
              <a:rPr lang="en-GB" sz="1200" b="0" i="0" kern="1200" dirty="0" err="1">
                <a:solidFill>
                  <a:schemeClr val="tx1"/>
                </a:solidFill>
                <a:effectLst/>
                <a:latin typeface="+mn-lt"/>
                <a:ea typeface="+mn-ea"/>
                <a:cs typeface="+mn-cs"/>
              </a:rPr>
              <a:t>day.soft</a:t>
            </a:r>
            <a:r>
              <a:rPr lang="en-GB" sz="1200" b="0" i="0" kern="1200" dirty="0">
                <a:solidFill>
                  <a:schemeClr val="tx1"/>
                </a:solidFill>
                <a:effectLst/>
                <a:latin typeface="+mn-lt"/>
                <a:ea typeface="+mn-ea"/>
                <a:cs typeface="+mn-cs"/>
              </a:rPr>
              <a:t> estimates, there are more than 30 million PowerPoint presentations made each day. </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5</a:t>
            </a:fld>
            <a:endParaRPr lang="en-US"/>
          </a:p>
        </p:txBody>
      </p:sp>
    </p:spTree>
    <p:extLst>
      <p:ext uri="{BB962C8B-B14F-4D97-AF65-F5344CB8AC3E}">
        <p14:creationId xmlns:p14="http://schemas.microsoft.com/office/powerpoint/2010/main" val="340488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first is the ramble.</a:t>
            </a:r>
          </a:p>
          <a:p>
            <a:r>
              <a:rPr lang="en-GB" sz="1200" b="0" i="0" kern="1200" dirty="0">
                <a:solidFill>
                  <a:schemeClr val="tx1"/>
                </a:solidFill>
                <a:effectLst/>
                <a:latin typeface="+mn-lt"/>
                <a:ea typeface="+mn-ea"/>
                <a:cs typeface="+mn-cs"/>
              </a:rPr>
              <a:t>So many speakers think that they can just come and wing it.</a:t>
            </a:r>
          </a:p>
          <a:p>
            <a:r>
              <a:rPr lang="en-GB" sz="1200" b="0" i="0" kern="1200" dirty="0">
                <a:solidFill>
                  <a:schemeClr val="tx1"/>
                </a:solidFill>
                <a:effectLst/>
                <a:latin typeface="+mn-lt"/>
                <a:ea typeface="+mn-ea"/>
                <a:cs typeface="+mn-cs"/>
              </a:rPr>
              <a:t>They come under-prepared to a speaking occasion and they</a:t>
            </a:r>
          </a:p>
          <a:p>
            <a:r>
              <a:rPr lang="en-GB" sz="1200" b="0" i="0" kern="1200" dirty="0">
                <a:solidFill>
                  <a:schemeClr val="tx1"/>
                </a:solidFill>
                <a:effectLst/>
                <a:latin typeface="+mn-lt"/>
                <a:ea typeface="+mn-ea"/>
                <a:cs typeface="+mn-cs"/>
              </a:rPr>
              <a:t>just talk about one thing that's on</a:t>
            </a:r>
          </a:p>
          <a:p>
            <a:r>
              <a:rPr lang="en-GB" sz="1200" b="0" i="0" kern="1200" dirty="0">
                <a:solidFill>
                  <a:schemeClr val="tx1"/>
                </a:solidFill>
                <a:effectLst/>
                <a:latin typeface="+mn-lt"/>
                <a:ea typeface="+mn-ea"/>
                <a:cs typeface="+mn-cs"/>
              </a:rPr>
              <a:t>their mind and then they shift to another and they go,</a:t>
            </a:r>
          </a:p>
          <a:p>
            <a:r>
              <a:rPr lang="en-GB" sz="1200" b="0" i="0" kern="1200" dirty="0">
                <a:solidFill>
                  <a:schemeClr val="tx1"/>
                </a:solidFill>
                <a:effectLst/>
                <a:latin typeface="+mn-lt"/>
                <a:ea typeface="+mn-ea"/>
                <a:cs typeface="+mn-cs"/>
              </a:rPr>
              <a:t>oh, yes, and another thing that I just must mention before I stop</a:t>
            </a:r>
          </a:p>
          <a:p>
            <a:r>
              <a:rPr lang="en-GB" sz="1200" b="0" i="0" kern="1200" dirty="0">
                <a:solidFill>
                  <a:schemeClr val="tx1"/>
                </a:solidFill>
                <a:effectLst/>
                <a:latin typeface="+mn-lt"/>
                <a:ea typeface="+mn-ea"/>
                <a:cs typeface="+mn-cs"/>
              </a:rPr>
              <a:t>is and the audience doesn't know where they are heading.</a:t>
            </a:r>
          </a:p>
          <a:p>
            <a:r>
              <a:rPr lang="en-GB" sz="1200" b="0" i="0" kern="1200" dirty="0">
                <a:solidFill>
                  <a:schemeClr val="tx1"/>
                </a:solidFill>
                <a:effectLst/>
                <a:latin typeface="+mn-lt"/>
                <a:ea typeface="+mn-ea"/>
                <a:cs typeface="+mn-cs"/>
              </a:rPr>
              <a:t>There's no connection between these different parts.</a:t>
            </a:r>
          </a:p>
          <a:p>
            <a:r>
              <a:rPr lang="en-GB" sz="1200" b="0" i="0" kern="1200" dirty="0">
                <a:solidFill>
                  <a:schemeClr val="tx1"/>
                </a:solidFill>
                <a:effectLst/>
                <a:latin typeface="+mn-lt"/>
                <a:ea typeface="+mn-ea"/>
                <a:cs typeface="+mn-cs"/>
              </a:rPr>
              <a:t>The speaker may think that, hey,</a:t>
            </a:r>
          </a:p>
          <a:p>
            <a:r>
              <a:rPr lang="en-GB" sz="1200" b="0" i="0" kern="1200" dirty="0">
                <a:solidFill>
                  <a:schemeClr val="tx1"/>
                </a:solidFill>
                <a:effectLst/>
                <a:latin typeface="+mn-lt"/>
                <a:ea typeface="+mn-ea"/>
                <a:cs typeface="+mn-cs"/>
              </a:rPr>
              <a:t>all of this is interesting,</a:t>
            </a:r>
          </a:p>
          <a:p>
            <a:r>
              <a:rPr lang="en-GB" sz="1200" b="0" i="0" kern="1200" dirty="0">
                <a:solidFill>
                  <a:schemeClr val="tx1"/>
                </a:solidFill>
                <a:effectLst/>
                <a:latin typeface="+mn-lt"/>
                <a:ea typeface="+mn-ea"/>
                <a:cs typeface="+mn-cs"/>
              </a:rPr>
              <a:t>I'm an interesting person,</a:t>
            </a:r>
          </a:p>
          <a:p>
            <a:r>
              <a:rPr lang="en-GB" sz="1200" b="0" i="0" kern="1200" dirty="0">
                <a:solidFill>
                  <a:schemeClr val="tx1"/>
                </a:solidFill>
                <a:effectLst/>
                <a:latin typeface="+mn-lt"/>
                <a:ea typeface="+mn-ea"/>
                <a:cs typeface="+mn-cs"/>
              </a:rPr>
              <a:t>look at me, the audience experience is just one of deep frustration. Don't ramble.</a:t>
            </a:r>
          </a:p>
          <a:p>
            <a:r>
              <a:rPr lang="en-GB" sz="1200" b="0" i="0" kern="1200" dirty="0">
                <a:solidFill>
                  <a:schemeClr val="tx1"/>
                </a:solidFill>
                <a:effectLst/>
                <a:latin typeface="+mn-lt"/>
                <a:ea typeface="+mn-ea"/>
                <a:cs typeface="+mn-cs"/>
              </a:rPr>
              <a:t>You owe it to our audience to prepare a connected talk.</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6</a:t>
            </a:fld>
            <a:endParaRPr lang="en-US"/>
          </a:p>
        </p:txBody>
      </p:sp>
    </p:spTree>
    <p:extLst>
      <p:ext uri="{BB962C8B-B14F-4D97-AF65-F5344CB8AC3E}">
        <p14:creationId xmlns:p14="http://schemas.microsoft.com/office/powerpoint/2010/main" val="3137435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157364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8311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58B92-C2C2-4D92-AC41-E2D2D85B460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E92856-56B1-4D91-BB72-909EB7E510E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2E3F4B-FE6D-40ED-A9F5-BC0F46321DF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58AA0BA8-F0B1-4DDF-A0FD-BC203FA393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3AD9A5-2112-4533-A1CB-0CA6A0A442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16654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42240" y="121075"/>
            <a:ext cx="11893973"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42239" y="894185"/>
            <a:ext cx="11893973"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532861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82880" y="148175"/>
            <a:ext cx="11785600"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82880" y="928052"/>
            <a:ext cx="11785600"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1901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FE7D62-D573-4E1E-A2D5-9E747E2F0855}"/>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4" name="Footer Placeholder 3">
            <a:extLst>
              <a:ext uri="{FF2B5EF4-FFF2-40B4-BE49-F238E27FC236}">
                <a16:creationId xmlns:a16="http://schemas.microsoft.com/office/drawing/2014/main" id="{B2061520-24E5-43CB-BDF9-DA30DFBFAB0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EF7F479-6CE2-40D3-8B2E-F5EC0885E2B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grpSp>
        <p:nvGrpSpPr>
          <p:cNvPr id="6" name="Group 5">
            <a:extLst>
              <a:ext uri="{FF2B5EF4-FFF2-40B4-BE49-F238E27FC236}">
                <a16:creationId xmlns:a16="http://schemas.microsoft.com/office/drawing/2014/main" id="{2539DD7F-95B3-4BD0-9564-3384459F9E17}"/>
              </a:ext>
            </a:extLst>
          </p:cNvPr>
          <p:cNvGrpSpPr/>
          <p:nvPr userDrawn="1"/>
        </p:nvGrpSpPr>
        <p:grpSpPr>
          <a:xfrm>
            <a:off x="156315" y="1831474"/>
            <a:ext cx="5998137" cy="3195051"/>
            <a:chOff x="142867" y="1364410"/>
            <a:chExt cx="5998137" cy="3195051"/>
          </a:xfrm>
        </p:grpSpPr>
        <p:sp>
          <p:nvSpPr>
            <p:cNvPr id="7" name="TextBox 6">
              <a:extLst>
                <a:ext uri="{FF2B5EF4-FFF2-40B4-BE49-F238E27FC236}">
                  <a16:creationId xmlns:a16="http://schemas.microsoft.com/office/drawing/2014/main" id="{2851D5C5-C65B-41F9-9FDC-9781C2CCE211}"/>
                </a:ext>
              </a:extLst>
            </p:cNvPr>
            <p:cNvSpPr txBox="1"/>
            <p:nvPr/>
          </p:nvSpPr>
          <p:spPr>
            <a:xfrm>
              <a:off x="244467" y="1864343"/>
              <a:ext cx="4863832" cy="1200329"/>
            </a:xfrm>
            <a:prstGeom prst="rect">
              <a:avLst/>
            </a:prstGeom>
            <a:noFill/>
          </p:spPr>
          <p:txBody>
            <a:bodyPr wrap="none" rtlCol="0">
              <a:spAutoFit/>
            </a:bodyPr>
            <a:lstStyle/>
            <a:p>
              <a:r>
                <a:rPr lang="en-IN" sz="7000" dirty="0">
                  <a:latin typeface="Ostrich Sans Medium" panose="00000500000000000000" pitchFamily="50" charset="0"/>
                </a:rPr>
                <a:t>WHY WE NEED TO</a:t>
              </a:r>
              <a:endParaRPr lang="en-US" sz="7000" dirty="0">
                <a:latin typeface="Ostrich Sans Medium" panose="00000500000000000000" pitchFamily="50" charset="0"/>
              </a:endParaRPr>
            </a:p>
          </p:txBody>
        </p:sp>
        <p:sp>
          <p:nvSpPr>
            <p:cNvPr id="8" name="TextBox 7">
              <a:extLst>
                <a:ext uri="{FF2B5EF4-FFF2-40B4-BE49-F238E27FC236}">
                  <a16:creationId xmlns:a16="http://schemas.microsoft.com/office/drawing/2014/main" id="{22F4D905-4D9E-4F4B-8DAF-1FE4C1366FA3}"/>
                </a:ext>
              </a:extLst>
            </p:cNvPr>
            <p:cNvSpPr txBox="1"/>
            <p:nvPr/>
          </p:nvSpPr>
          <p:spPr>
            <a:xfrm>
              <a:off x="142867" y="2464508"/>
              <a:ext cx="4939173" cy="1631216"/>
            </a:xfrm>
            <a:prstGeom prst="rect">
              <a:avLst/>
            </a:prstGeom>
            <a:noFill/>
          </p:spPr>
          <p:txBody>
            <a:bodyPr wrap="none" rtlCol="0">
              <a:spAutoFit/>
            </a:bodyPr>
            <a:lstStyle/>
            <a:p>
              <a:r>
                <a:rPr lang="en-IN" sz="10000" dirty="0">
                  <a:latin typeface="Source Sans Pro Black" panose="020B0803030403020204" pitchFamily="34" charset="0"/>
                  <a:ea typeface="Source Sans Pro Black" panose="020B0803030403020204" pitchFamily="34" charset="0"/>
                </a:rPr>
                <a:t>BOTHER</a:t>
              </a:r>
            </a:p>
          </p:txBody>
        </p:sp>
        <p:sp>
          <p:nvSpPr>
            <p:cNvPr id="9" name="Rectangle 8">
              <a:extLst>
                <a:ext uri="{FF2B5EF4-FFF2-40B4-BE49-F238E27FC236}">
                  <a16:creationId xmlns:a16="http://schemas.microsoft.com/office/drawing/2014/main" id="{10501C60-05CA-4F22-B1A3-C7D231CE805B}"/>
                </a:ext>
              </a:extLst>
            </p:cNvPr>
            <p:cNvSpPr/>
            <p:nvPr/>
          </p:nvSpPr>
          <p:spPr>
            <a:xfrm>
              <a:off x="4736452" y="1364410"/>
              <a:ext cx="1404552" cy="3154710"/>
            </a:xfrm>
            <a:prstGeom prst="rect">
              <a:avLst/>
            </a:prstGeom>
          </p:spPr>
          <p:txBody>
            <a:bodyPr wrap="none">
              <a:spAutoFit/>
            </a:bodyPr>
            <a:lstStyle/>
            <a:p>
              <a:r>
                <a:rPr lang="en-IN" sz="19900" dirty="0">
                  <a:latin typeface="Source Sans Pro Black" panose="020B0803030403020204" pitchFamily="34" charset="0"/>
                  <a:ea typeface="Source Sans Pro Black" panose="020B0803030403020204" pitchFamily="34" charset="0"/>
                </a:rPr>
                <a:t>?</a:t>
              </a:r>
              <a:endParaRPr lang="en-US" dirty="0"/>
            </a:p>
          </p:txBody>
        </p:sp>
        <p:sp>
          <p:nvSpPr>
            <p:cNvPr id="10" name="TextBox 9">
              <a:extLst>
                <a:ext uri="{FF2B5EF4-FFF2-40B4-BE49-F238E27FC236}">
                  <a16:creationId xmlns:a16="http://schemas.microsoft.com/office/drawing/2014/main" id="{F6CA5798-DE99-4136-903E-FC0C0E5F5167}"/>
                </a:ext>
              </a:extLst>
            </p:cNvPr>
            <p:cNvSpPr txBox="1"/>
            <p:nvPr/>
          </p:nvSpPr>
          <p:spPr>
            <a:xfrm>
              <a:off x="244467" y="3913130"/>
              <a:ext cx="4600940" cy="646331"/>
            </a:xfrm>
            <a:prstGeom prst="rect">
              <a:avLst/>
            </a:prstGeom>
            <a:noFill/>
          </p:spPr>
          <p:txBody>
            <a:bodyPr wrap="none" rtlCol="0">
              <a:spAutoFit/>
            </a:bodyPr>
            <a:lstStyle/>
            <a:p>
              <a:r>
                <a:rPr lang="en-IN" sz="3600" dirty="0">
                  <a:latin typeface="Capsuula" panose="02000506000000020004" pitchFamily="2" charset="0"/>
                </a:rPr>
                <a:t>Top 10 reasons from the web</a:t>
              </a:r>
              <a:endParaRPr lang="en-US" sz="3600" dirty="0">
                <a:latin typeface="Capsuula" panose="02000506000000020004" pitchFamily="2" charset="0"/>
              </a:endParaRPr>
            </a:p>
          </p:txBody>
        </p:sp>
        <p:cxnSp>
          <p:nvCxnSpPr>
            <p:cNvPr id="11" name="Straight Connector 10">
              <a:extLst>
                <a:ext uri="{FF2B5EF4-FFF2-40B4-BE49-F238E27FC236}">
                  <a16:creationId xmlns:a16="http://schemas.microsoft.com/office/drawing/2014/main" id="{68AFC7EE-3361-4194-9A52-BF311C6607D7}"/>
                </a:ext>
              </a:extLst>
            </p:cNvPr>
            <p:cNvCxnSpPr/>
            <p:nvPr/>
          </p:nvCxnSpPr>
          <p:spPr>
            <a:xfrm>
              <a:off x="325149" y="3941393"/>
              <a:ext cx="5175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345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80F1-C7D7-4BD4-8BE0-6A71EA1FD25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3F26-A7EA-49CE-B7C1-5556D02B6DF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7C3A8A0-AC40-438A-964A-59EBE34E2DD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7F5F8400-9705-45F8-953B-D3C64BCADDE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4FBE03-B21D-4059-B93A-62B73A8B5B5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208683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F9F8-C11A-4854-88EE-B56FE1D5B4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CBB155D-15D0-4EE2-B74D-955A038E07D7}"/>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5D64D9-C064-4C5B-922E-2D991BA825F5}"/>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CC8CE5-56EA-43DB-A1D2-A9DDACB0F50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6" name="Footer Placeholder 5">
            <a:extLst>
              <a:ext uri="{FF2B5EF4-FFF2-40B4-BE49-F238E27FC236}">
                <a16:creationId xmlns:a16="http://schemas.microsoft.com/office/drawing/2014/main" id="{7645141D-078E-4AA6-9223-AA4B1D812D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2EEEEA-4D36-4AA4-8AA7-4B7ADC0E7AEF}"/>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246797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8EB0-165C-40FC-91FC-EC402630B61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12CB1E2-FB0C-4335-AF39-D772F435252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265867D-3CE7-4D64-8E54-CB3857CF08C9}"/>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A43759-70CC-4183-B255-57870371721F}"/>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69DC26A-D654-4173-8129-6CBCF16DFDA1}"/>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07CC76-99E6-4A67-96DE-FF9AE36FF5B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8" name="Footer Placeholder 7">
            <a:extLst>
              <a:ext uri="{FF2B5EF4-FFF2-40B4-BE49-F238E27FC236}">
                <a16:creationId xmlns:a16="http://schemas.microsoft.com/office/drawing/2014/main" id="{0C959D32-0B77-4DCE-86E0-E94E4A9A7FA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6BCFB17D-5E58-42FD-90EF-BF8483396A9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213554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F8EDA-48DF-41EC-A691-2A2522FBC47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18BD1E1-FDC0-4C47-8D14-A3BEABA8FF09}"/>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4" name="Footer Placeholder 3">
            <a:extLst>
              <a:ext uri="{FF2B5EF4-FFF2-40B4-BE49-F238E27FC236}">
                <a16:creationId xmlns:a16="http://schemas.microsoft.com/office/drawing/2014/main" id="{FFE567E1-2A3F-45F5-A95E-372EDBEF3C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A05F6B5-A812-4E28-9F45-2A47E1DCDF74}"/>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25233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08AD8E-59DB-4538-8FD2-6624ED97AB2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3" name="Footer Placeholder 2">
            <a:extLst>
              <a:ext uri="{FF2B5EF4-FFF2-40B4-BE49-F238E27FC236}">
                <a16:creationId xmlns:a16="http://schemas.microsoft.com/office/drawing/2014/main" id="{1F8BA089-E5C7-4198-968B-E504D593C1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63B7638-321B-4F17-A2B5-C8C715341F89}"/>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02352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CD32-1C90-4C12-8785-7D11E2904A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5ABC17-EFA9-4515-9012-CD63CDC91B3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5CF7F5-4CC3-44A4-8D0A-60CB9F40317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F65F274-A1CE-459F-B2A6-3274158D343C}"/>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6" name="Footer Placeholder 5">
            <a:extLst>
              <a:ext uri="{FF2B5EF4-FFF2-40B4-BE49-F238E27FC236}">
                <a16:creationId xmlns:a16="http://schemas.microsoft.com/office/drawing/2014/main" id="{65D4CEDF-08CB-40CA-84B1-67CC4E7CB3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3CE5518-982C-43BF-A289-47F0CB41EA75}"/>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949893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7B04B-6D32-4DBE-B277-267D3891EF2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952F1A-B117-4C7D-8826-8DCC7E8ED1A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15D7B2-3AD2-40A1-84C4-E0A4F8273D2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B613DD-2DD5-4C39-A6D3-E453388D51F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6" name="Footer Placeholder 5">
            <a:extLst>
              <a:ext uri="{FF2B5EF4-FFF2-40B4-BE49-F238E27FC236}">
                <a16:creationId xmlns:a16="http://schemas.microsoft.com/office/drawing/2014/main" id="{7233F84B-7435-418E-B452-EFAB7DDD9CE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2C683CB-F4E6-4584-A8C7-3BFDA787BED1}"/>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602434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880F-F04E-46CD-A489-B8EC4D6691D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317693-1E01-46A2-9E83-FFB850EE21E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9E4F00-087D-4736-BB08-F02FC7833996}"/>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5A47B423-6542-4CF2-9E93-36B93C755E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2E5BF2E-1650-4CB3-8967-02242F045B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828479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93433E-C45E-4479-AD52-4A33C50973B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C5E31B-A62F-4063-92C0-B0AF37E8D5CC}"/>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16A27-B87A-43E9-B20A-E5F8A0DEF9FB}"/>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1/12/2019</a:t>
            </a:fld>
            <a:endParaRPr lang="en-US"/>
          </a:p>
        </p:txBody>
      </p:sp>
      <p:sp>
        <p:nvSpPr>
          <p:cNvPr id="5" name="Footer Placeholder 4">
            <a:extLst>
              <a:ext uri="{FF2B5EF4-FFF2-40B4-BE49-F238E27FC236}">
                <a16:creationId xmlns:a16="http://schemas.microsoft.com/office/drawing/2014/main" id="{82D59FCE-320C-4473-BD8F-8B61A1B8B4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AD247AC-EE0D-4F09-AA8A-7444CFBA580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48008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BCD92-0A79-4A5E-B0BD-80978161E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D8C6DE-5191-4FA7-95FA-167F6C3955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57246"/>
      </p:ext>
    </p:extLst>
  </p:cSld>
  <p:clrMap bg1="lt1" tx1="dk1" bg2="lt2" tx2="dk2" accent1="accent1" accent2="accent2" accent3="accent3" accent4="accent4" accent5="accent5" accent6="accent6" hlink="hlink" folHlink="folHlink"/>
  <p:sldLayoutIdLst>
    <p:sldLayoutId id="2147483663" r:id="rId1"/>
    <p:sldLayoutId id="2147483661" r:id="rId2"/>
    <p:sldLayoutId id="2147483649" r:id="rId3"/>
    <p:sldLayoutId id="2147483650" r:id="rId4"/>
    <p:sldLayoutId id="2147483662" r:id="rId5"/>
    <p:sldLayoutId id="214748366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ed.com/speakers/chris_anderson_ted"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3" Type="http://schemas.openxmlformats.org/officeDocument/2006/relationships/image" Target="../media/image3.png"/><Relationship Id="rId7" Type="http://schemas.openxmlformats.org/officeDocument/2006/relationships/image" Target="../media/image6.jpeg"/><Relationship Id="rId12"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jpeg"/><Relationship Id="rId4" Type="http://schemas.microsoft.com/office/2007/relationships/hdphoto" Target="../media/hdphoto1.wdp"/><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67F2ED-2BF9-43FC-BBBF-F71DBCA10CD6}"/>
              </a:ext>
            </a:extLst>
          </p:cNvPr>
          <p:cNvSpPr/>
          <p:nvPr/>
        </p:nvSpPr>
        <p:spPr>
          <a:xfrm>
            <a:off x="831910" y="1379525"/>
            <a:ext cx="7811911" cy="1156214"/>
          </a:xfrm>
          <a:prstGeom prst="rect">
            <a:avLst/>
          </a:prstGeom>
        </p:spPr>
        <p:txBody>
          <a:bodyPr wrap="square">
            <a:spAutoFit/>
          </a:bodyPr>
          <a:lstStyle/>
          <a:p>
            <a:pPr>
              <a:lnSpc>
                <a:spcPct val="150000"/>
              </a:lnSpc>
            </a:pPr>
            <a:r>
              <a:rPr lang="en-GB" sz="1600" dirty="0">
                <a:solidFill>
                  <a:schemeClr val="bg1">
                    <a:lumMod val="50000"/>
                  </a:schemeClr>
                </a:solidFill>
                <a:latin typeface="Montserrat Light" panose="00000400000000000000" pitchFamily="50" charset="0"/>
              </a:rPr>
              <a:t>After a long career in journalism and publishing, Chris Anderson became the curator of the TED Conference in 2002 and has developed it as a platform for identifying and disseminating ideas worth spreading.</a:t>
            </a:r>
          </a:p>
        </p:txBody>
      </p:sp>
      <p:sp>
        <p:nvSpPr>
          <p:cNvPr id="2" name="Rectangle 1">
            <a:extLst>
              <a:ext uri="{FF2B5EF4-FFF2-40B4-BE49-F238E27FC236}">
                <a16:creationId xmlns:a16="http://schemas.microsoft.com/office/drawing/2014/main" id="{AB6B63D2-D6E6-4FEB-916C-7FDC3CAEF8EF}"/>
              </a:ext>
            </a:extLst>
          </p:cNvPr>
          <p:cNvSpPr/>
          <p:nvPr/>
        </p:nvSpPr>
        <p:spPr>
          <a:xfrm>
            <a:off x="9735149" y="3339224"/>
            <a:ext cx="1737976" cy="523220"/>
          </a:xfrm>
          <a:prstGeom prst="rect">
            <a:avLst/>
          </a:prstGeom>
        </p:spPr>
        <p:txBody>
          <a:bodyPr wrap="none">
            <a:spAutoFit/>
          </a:bodyPr>
          <a:lstStyle/>
          <a:p>
            <a:r>
              <a:rPr lang="en-US" sz="1600" dirty="0">
                <a:solidFill>
                  <a:schemeClr val="bg1">
                    <a:lumMod val="50000"/>
                  </a:schemeClr>
                </a:solidFill>
                <a:latin typeface="Montserrat Light" panose="00000400000000000000" pitchFamily="50" charset="0"/>
                <a:hlinkClick r:id="rId3">
                  <a:extLst>
                    <a:ext uri="{A12FA001-AC4F-418D-AE19-62706E023703}">
                      <ahyp:hlinkClr xmlns:ahyp="http://schemas.microsoft.com/office/drawing/2018/hyperlinkcolor" val="tx"/>
                    </a:ext>
                  </a:extLst>
                </a:hlinkClick>
              </a:rPr>
              <a:t>Chris Anderson</a:t>
            </a:r>
            <a:endParaRPr lang="en-US" sz="1600" dirty="0">
              <a:solidFill>
                <a:schemeClr val="bg1">
                  <a:lumMod val="50000"/>
                </a:schemeClr>
              </a:solidFill>
              <a:latin typeface="Montserrat Light" panose="00000400000000000000" pitchFamily="50" charset="0"/>
            </a:endParaRPr>
          </a:p>
          <a:p>
            <a:pPr algn="r"/>
            <a:r>
              <a:rPr lang="en-US" sz="1200" i="1" dirty="0">
                <a:solidFill>
                  <a:schemeClr val="bg1">
                    <a:lumMod val="50000"/>
                  </a:schemeClr>
                </a:solidFill>
              </a:rPr>
              <a:t>Curator of the TED</a:t>
            </a:r>
            <a:endParaRPr lang="en-US" sz="1100" dirty="0">
              <a:solidFill>
                <a:schemeClr val="bg1">
                  <a:lumMod val="50000"/>
                </a:schemeClr>
              </a:solidFill>
              <a:latin typeface="Montserrat Light" panose="00000400000000000000" pitchFamily="50" charset="0"/>
            </a:endParaRPr>
          </a:p>
        </p:txBody>
      </p:sp>
      <p:pic>
        <p:nvPicPr>
          <p:cNvPr id="1026" name="Picture 2" descr="Related image">
            <a:extLst>
              <a:ext uri="{FF2B5EF4-FFF2-40B4-BE49-F238E27FC236}">
                <a16:creationId xmlns:a16="http://schemas.microsoft.com/office/drawing/2014/main" id="{DECC3D82-A58F-419D-9A0F-2D58CB175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0740" y="1519949"/>
            <a:ext cx="2419350" cy="1819275"/>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4798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2" name="TextBox 1">
            <a:extLst>
              <a:ext uri="{FF2B5EF4-FFF2-40B4-BE49-F238E27FC236}">
                <a16:creationId xmlns:a16="http://schemas.microsoft.com/office/drawing/2014/main" id="{FB2C7B8F-EFFB-4156-A4CE-B638F838D807}"/>
              </a:ext>
            </a:extLst>
          </p:cNvPr>
          <p:cNvSpPr txBox="1"/>
          <p:nvPr/>
        </p:nvSpPr>
        <p:spPr>
          <a:xfrm>
            <a:off x="-63695" y="1305342"/>
            <a:ext cx="12319398" cy="3293209"/>
          </a:xfrm>
          <a:prstGeom prst="rect">
            <a:avLst/>
          </a:prstGeom>
          <a:noFill/>
        </p:spPr>
        <p:txBody>
          <a:bodyPr wrap="none" rtlCol="0">
            <a:spAutoFit/>
          </a:bodyPr>
          <a:lstStyle/>
          <a:p>
            <a:pPr algn="ctr"/>
            <a:r>
              <a:rPr lang="en-US" sz="3800" dirty="0">
                <a:solidFill>
                  <a:schemeClr val="bg1">
                    <a:lumMod val="50000"/>
                  </a:schemeClr>
                </a:solidFill>
                <a:latin typeface="Montserrat ExtraLight" panose="00000300000000000000" pitchFamily="50" charset="0"/>
              </a:rPr>
              <a:t>Not everyone is born as a natural public speaker.</a:t>
            </a:r>
          </a:p>
          <a:p>
            <a:pPr algn="ctr"/>
            <a:r>
              <a:rPr lang="en-IN" sz="3800" dirty="0">
                <a:solidFill>
                  <a:schemeClr val="bg1">
                    <a:lumMod val="50000"/>
                  </a:schemeClr>
                </a:solidFill>
                <a:latin typeface="Montserrat ExtraLight" panose="00000300000000000000" pitchFamily="50" charset="0"/>
              </a:rPr>
              <a:t>I</a:t>
            </a:r>
            <a:r>
              <a:rPr lang="en-US" sz="3800" dirty="0">
                <a:solidFill>
                  <a:schemeClr val="bg1">
                    <a:lumMod val="50000"/>
                  </a:schemeClr>
                </a:solidFill>
                <a:latin typeface="Montserrat ExtraLight" panose="00000300000000000000" pitchFamily="50" charset="0"/>
              </a:rPr>
              <a:t> certainly wasn’t. </a:t>
            </a:r>
          </a:p>
          <a:p>
            <a:pPr algn="ctr"/>
            <a:r>
              <a:rPr lang="en-IN" sz="3800" dirty="0">
                <a:solidFill>
                  <a:schemeClr val="bg1">
                    <a:lumMod val="50000"/>
                  </a:schemeClr>
                </a:solidFill>
                <a:latin typeface="Montserrat ExtraLight" panose="00000300000000000000" pitchFamily="50" charset="0"/>
              </a:rPr>
              <a:t>B</a:t>
            </a:r>
            <a:r>
              <a:rPr lang="en-US" sz="3800" dirty="0">
                <a:solidFill>
                  <a:schemeClr val="bg1">
                    <a:lumMod val="50000"/>
                  </a:schemeClr>
                </a:solidFill>
                <a:latin typeface="Montserrat ExtraLight" panose="00000300000000000000" pitchFamily="50" charset="0"/>
              </a:rPr>
              <a:t>ut, I am convinced that everyone can learn </a:t>
            </a:r>
          </a:p>
          <a:p>
            <a:pPr algn="ctr"/>
            <a:r>
              <a:rPr lang="en-IN" sz="3800" dirty="0">
                <a:solidFill>
                  <a:schemeClr val="bg1">
                    <a:lumMod val="50000"/>
                  </a:schemeClr>
                </a:solidFill>
                <a:latin typeface="Montserrat ExtraLight" panose="00000300000000000000" pitchFamily="50" charset="0"/>
              </a:rPr>
              <a:t>enough to communicate effectively </a:t>
            </a:r>
          </a:p>
          <a:p>
            <a:pPr algn="ctr"/>
            <a:r>
              <a:rPr lang="en-IN" sz="3800" dirty="0">
                <a:solidFill>
                  <a:schemeClr val="bg1">
                    <a:lumMod val="50000"/>
                  </a:schemeClr>
                </a:solidFill>
                <a:latin typeface="Montserrat ExtraLight" panose="00000300000000000000" pitchFamily="50" charset="0"/>
              </a:rPr>
              <a:t>and it’s worthwhile doing so</a:t>
            </a:r>
            <a:endParaRPr lang="en-US" sz="3800" dirty="0">
              <a:solidFill>
                <a:schemeClr val="bg1">
                  <a:lumMod val="50000"/>
                </a:schemeClr>
              </a:solidFill>
              <a:latin typeface="Montserrat ExtraLight" panose="00000300000000000000" pitchFamily="50" charset="0"/>
            </a:endParaRPr>
          </a:p>
          <a:p>
            <a:endParaRPr lang="en-US" dirty="0"/>
          </a:p>
        </p:txBody>
      </p:sp>
    </p:spTree>
    <p:extLst>
      <p:ext uri="{BB962C8B-B14F-4D97-AF65-F5344CB8AC3E}">
        <p14:creationId xmlns:p14="http://schemas.microsoft.com/office/powerpoint/2010/main" val="4249655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pic>
        <p:nvPicPr>
          <p:cNvPr id="2050" name="Picture 2" descr="https://lh3.googleusercontent.com/nIyo53zFpt9TpK08276aJd_pNzX65fcCi7UHtLVwrsDar1S7sxFX2HmC4evdV5GFqYODkZbGmE3jBHX4WfaccclFwAPwT4sUVhN-KOe48Ay7qy2N0d25Nev-78d5PZY9ESpoUVO4Foe53iXA7E86CKR-m0SPE6aVTV9J8p6cTuWRDGirFR07-fM5rOQS7MSxL8JeDwY_25Fcs5nkhv4pCdMLhQcKA82lvKB-n8FINPvHTz2gM6nXbYV88WFqf0jL3odhV5na3468OG91HA3831o7-HyogsBwYYDGrCXAuS-SKQ3Q3_hmtHSjD7DmyFDHwBOXjDPkF6XaXxnqb8OdFx0qEeipNQgl0LZGJB8iTzfu-ANY5nbXoBfFvsHVvcIDRd5nFV7MO9rY5W_DS6lGqViS1lOSqh8ajbf6MxuQvU1-UjRVWuLnwaXt9iQmtS4afY5kZPwMJf9-ybkVWNr1S9sVcR5HOhvboidcsyI8wJf1n_7Vcb59hwK7aOTfmip_rk_ZjbyLvevm3siUcoAuZeOJzfONEVnz47uNjVdLLruMxzFy_Xehl8LIidZD1vcHoVDrJD9pdNiyHd3yyzoNg_c3iNzzzOF4rIWMMHPnYTzY4s4i3h8KBqmNZVUu67T1lnIzkSxGp0fgqvwvwiQkZ4_ApAQrT6EN-OsG8PBT1XK2J6QvQ9rYGJPbmVVXutmJZJ5dMsSLiSskFWaNyUg=w1407-h938-no">
            <a:extLst>
              <a:ext uri="{FF2B5EF4-FFF2-40B4-BE49-F238E27FC236}">
                <a16:creationId xmlns:a16="http://schemas.microsoft.com/office/drawing/2014/main" id="{7BC3FD61-BFAD-4BE2-A781-9D527F1054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01" r="37310"/>
          <a:stretch/>
        </p:blipFill>
        <p:spPr bwMode="auto">
          <a:xfrm>
            <a:off x="0" y="0"/>
            <a:ext cx="6099049"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22E86B63-A5E1-4B38-90A1-A0807E34BA5D}"/>
              </a:ext>
            </a:extLst>
          </p:cNvPr>
          <p:cNvSpPr/>
          <p:nvPr/>
        </p:nvSpPr>
        <p:spPr>
          <a:xfrm>
            <a:off x="7020641" y="3090446"/>
            <a:ext cx="2396810" cy="677108"/>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a journey</a:t>
            </a:r>
          </a:p>
        </p:txBody>
      </p:sp>
    </p:spTree>
    <p:extLst>
      <p:ext uri="{BB962C8B-B14F-4D97-AF65-F5344CB8AC3E}">
        <p14:creationId xmlns:p14="http://schemas.microsoft.com/office/powerpoint/2010/main" val="3268515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pic>
        <p:nvPicPr>
          <p:cNvPr id="6146" name="Picture 2" descr="Rob Walker (left) and Josh Glenn">
            <a:extLst>
              <a:ext uri="{FF2B5EF4-FFF2-40B4-BE49-F238E27FC236}">
                <a16:creationId xmlns:a16="http://schemas.microsoft.com/office/drawing/2014/main" id="{F64EFC48-85A9-4C50-851A-DE5BF087A85A}"/>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19501" y="675835"/>
            <a:ext cx="2542626" cy="3874477"/>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FFEF4059-844C-4C6A-9EF1-ADC2D7A10F48}"/>
              </a:ext>
            </a:extLst>
          </p:cNvPr>
          <p:cNvSpPr/>
          <p:nvPr/>
        </p:nvSpPr>
        <p:spPr>
          <a:xfrm>
            <a:off x="628902" y="4550312"/>
            <a:ext cx="2723823" cy="276999"/>
          </a:xfrm>
          <a:prstGeom prst="rect">
            <a:avLst/>
          </a:prstGeom>
        </p:spPr>
        <p:txBody>
          <a:bodyPr wrap="none">
            <a:spAutoFit/>
          </a:bodyPr>
          <a:lstStyle/>
          <a:p>
            <a:r>
              <a:rPr lang="en-GB" sz="1200" dirty="0">
                <a:solidFill>
                  <a:schemeClr val="bg1">
                    <a:lumMod val="50000"/>
                  </a:schemeClr>
                </a:solidFill>
                <a:latin typeface="Montserrat Light" panose="00000400000000000000" pitchFamily="50" charset="0"/>
              </a:rPr>
              <a:t>Rob Walker (L) and Joshua Glenn</a:t>
            </a:r>
            <a:endParaRPr lang="en-US" sz="1200" dirty="0">
              <a:solidFill>
                <a:schemeClr val="bg1">
                  <a:lumMod val="50000"/>
                </a:schemeClr>
              </a:solidFill>
              <a:latin typeface="Montserrat Light" panose="00000400000000000000" pitchFamily="50" charset="0"/>
            </a:endParaRPr>
          </a:p>
        </p:txBody>
      </p:sp>
      <p:sp>
        <p:nvSpPr>
          <p:cNvPr id="21" name="Rectangle 20">
            <a:extLst>
              <a:ext uri="{FF2B5EF4-FFF2-40B4-BE49-F238E27FC236}">
                <a16:creationId xmlns:a16="http://schemas.microsoft.com/office/drawing/2014/main" id="{A929E2DB-F68C-46F6-8560-F6F1BEE0A706}"/>
              </a:ext>
            </a:extLst>
          </p:cNvPr>
          <p:cNvSpPr/>
          <p:nvPr/>
        </p:nvSpPr>
        <p:spPr>
          <a:xfrm>
            <a:off x="3506132" y="1619467"/>
            <a:ext cx="7811911" cy="1664045"/>
          </a:xfrm>
          <a:prstGeom prst="rect">
            <a:avLst/>
          </a:prstGeom>
        </p:spPr>
        <p:txBody>
          <a:bodyPr wrap="square">
            <a:spAutoFit/>
          </a:bodyPr>
          <a:lstStyle/>
          <a:p>
            <a:pPr>
              <a:lnSpc>
                <a:spcPct val="150000"/>
              </a:lnSpc>
            </a:pPr>
            <a:r>
              <a:rPr lang="en-GB" sz="2000" dirty="0">
                <a:solidFill>
                  <a:schemeClr val="bg1">
                    <a:lumMod val="50000"/>
                  </a:schemeClr>
                </a:solidFill>
                <a:latin typeface="Montserrat" panose="00000500000000000000" pitchFamily="50" charset="0"/>
              </a:rPr>
              <a:t>eBay Project </a:t>
            </a:r>
            <a:endParaRPr lang="en-US" sz="2000" dirty="0">
              <a:solidFill>
                <a:schemeClr val="bg1">
                  <a:lumMod val="50000"/>
                </a:schemeClr>
              </a:solidFill>
              <a:latin typeface="Montserrat" panose="00000500000000000000" pitchFamily="50" charset="0"/>
            </a:endParaRPr>
          </a:p>
          <a:p>
            <a:pPr algn="just">
              <a:lnSpc>
                <a:spcPct val="150000"/>
              </a:lnSpc>
            </a:pPr>
            <a:r>
              <a:rPr lang="en-GB" i="1" dirty="0">
                <a:solidFill>
                  <a:schemeClr val="bg1">
                    <a:lumMod val="50000"/>
                  </a:schemeClr>
                </a:solidFill>
                <a:latin typeface="Montserrat Light" panose="00000400000000000000" pitchFamily="50" charset="0"/>
              </a:rPr>
              <a:t>Significant Objects</a:t>
            </a:r>
            <a:r>
              <a:rPr lang="en-GB" sz="1600" dirty="0">
                <a:solidFill>
                  <a:schemeClr val="bg1">
                    <a:lumMod val="50000"/>
                  </a:schemeClr>
                </a:solidFill>
                <a:latin typeface="Montserrat Light" panose="00000400000000000000" pitchFamily="50" charset="0"/>
              </a:rPr>
              <a:t>, a literary and anthropological experiment devised by Rob Walker and Joshua Glenn, demonstrated that the effect of narrative on any given object’s subjective value can be measured objectively </a:t>
            </a:r>
          </a:p>
        </p:txBody>
      </p:sp>
      <p:sp>
        <p:nvSpPr>
          <p:cNvPr id="8" name="Rectangle 7">
            <a:extLst>
              <a:ext uri="{FF2B5EF4-FFF2-40B4-BE49-F238E27FC236}">
                <a16:creationId xmlns:a16="http://schemas.microsoft.com/office/drawing/2014/main" id="{712FE762-7FEB-48D6-843E-1C141C2F378A}"/>
              </a:ext>
            </a:extLst>
          </p:cNvPr>
          <p:cNvSpPr/>
          <p:nvPr/>
        </p:nvSpPr>
        <p:spPr>
          <a:xfrm>
            <a:off x="628902" y="6435006"/>
            <a:ext cx="3081356" cy="369332"/>
          </a:xfrm>
          <a:prstGeom prst="rect">
            <a:avLst/>
          </a:prstGeom>
        </p:spPr>
        <p:txBody>
          <a:bodyPr wrap="none">
            <a:spAutoFit/>
          </a:bodyPr>
          <a:lstStyle/>
          <a:p>
            <a:r>
              <a:rPr lang="en-US" dirty="0">
                <a:solidFill>
                  <a:schemeClr val="bg1">
                    <a:lumMod val="75000"/>
                  </a:schemeClr>
                </a:solidFill>
              </a:rPr>
              <a:t>https://significantobjects.com/</a:t>
            </a:r>
          </a:p>
        </p:txBody>
      </p:sp>
      <p:grpSp>
        <p:nvGrpSpPr>
          <p:cNvPr id="11" name="Group 10">
            <a:extLst>
              <a:ext uri="{FF2B5EF4-FFF2-40B4-BE49-F238E27FC236}">
                <a16:creationId xmlns:a16="http://schemas.microsoft.com/office/drawing/2014/main" id="{6B20BD12-BF65-450F-893D-9332E18BC8B4}"/>
              </a:ext>
            </a:extLst>
          </p:cNvPr>
          <p:cNvGrpSpPr/>
          <p:nvPr/>
        </p:nvGrpSpPr>
        <p:grpSpPr>
          <a:xfrm>
            <a:off x="1468199" y="5192246"/>
            <a:ext cx="9255601" cy="877824"/>
            <a:chOff x="1990813" y="5206972"/>
            <a:chExt cx="9255601" cy="877824"/>
          </a:xfrm>
        </p:grpSpPr>
        <p:pic>
          <p:nvPicPr>
            <p:cNvPr id="6148" name="Picture 4" descr="Image result for Josh Glenn ebay experiment">
              <a:extLst>
                <a:ext uri="{FF2B5EF4-FFF2-40B4-BE49-F238E27FC236}">
                  <a16:creationId xmlns:a16="http://schemas.microsoft.com/office/drawing/2014/main" id="{33B62089-DDFB-4F51-A714-BDB497A6C3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0813" y="5208906"/>
              <a:ext cx="873957" cy="873957"/>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0" name="Picture 6" descr="Related image">
              <a:extLst>
                <a:ext uri="{FF2B5EF4-FFF2-40B4-BE49-F238E27FC236}">
                  <a16:creationId xmlns:a16="http://schemas.microsoft.com/office/drawing/2014/main" id="{AE2E93DD-1BBD-48E5-AB65-D42B10897D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7768"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2" name="Picture 8" descr="Santa Nutcracker by Kurt Andersen">
              <a:extLst>
                <a:ext uri="{FF2B5EF4-FFF2-40B4-BE49-F238E27FC236}">
                  <a16:creationId xmlns:a16="http://schemas.microsoft.com/office/drawing/2014/main" id="{07D3097D-D2B2-451E-94C2-BDAC6EE324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2175"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4" name="Picture 10" descr="Penguin Creamer by Sari Wilson">
              <a:extLst>
                <a:ext uri="{FF2B5EF4-FFF2-40B4-BE49-F238E27FC236}">
                  <a16:creationId xmlns:a16="http://schemas.microsoft.com/office/drawing/2014/main" id="{09BA3E7A-3E5A-441D-9E0B-5E3ED712DAF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7404"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6" name="Picture 12" descr="Utah Snow Globe by Blake Butler">
              <a:extLst>
                <a:ext uri="{FF2B5EF4-FFF2-40B4-BE49-F238E27FC236}">
                  <a16:creationId xmlns:a16="http://schemas.microsoft.com/office/drawing/2014/main" id="{CD22A8C9-0CAE-4887-9BB9-629868623D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27586"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58" name="Picture 14" descr="Miniature Turkey Dinner by Jenny Offill">
              <a:extLst>
                <a:ext uri="{FF2B5EF4-FFF2-40B4-BE49-F238E27FC236}">
                  <a16:creationId xmlns:a16="http://schemas.microsoft.com/office/drawing/2014/main" id="{65FBB448-9B0B-4EAA-9E50-AE929DD626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23361"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60" name="Picture 16" descr="Mermaid Figurine by Tom McCarthy">
              <a:extLst>
                <a:ext uri="{FF2B5EF4-FFF2-40B4-BE49-F238E27FC236}">
                  <a16:creationId xmlns:a16="http://schemas.microsoft.com/office/drawing/2014/main" id="{C7AF914F-0B89-4163-8A73-869C0F7180D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8132"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62" name="Picture 18" descr="4-Angel by Katie Williams">
              <a:extLst>
                <a:ext uri="{FF2B5EF4-FFF2-40B4-BE49-F238E27FC236}">
                  <a16:creationId xmlns:a16="http://schemas.microsoft.com/office/drawing/2014/main" id="{21309095-3AEA-4894-B883-943E3D2EE38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27950"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pic>
          <p:nvPicPr>
            <p:cNvPr id="6164" name="Picture 20" descr="Idol by Andrew Ervin">
              <a:extLst>
                <a:ext uri="{FF2B5EF4-FFF2-40B4-BE49-F238E27FC236}">
                  <a16:creationId xmlns:a16="http://schemas.microsoft.com/office/drawing/2014/main" id="{4A327BD1-E3F4-4800-93CF-D0E83F43F1E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368590" y="5206972"/>
              <a:ext cx="877824" cy="877824"/>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52539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D2D2D"/>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grpSp>
        <p:nvGrpSpPr>
          <p:cNvPr id="7" name="Group 6">
            <a:extLst>
              <a:ext uri="{FF2B5EF4-FFF2-40B4-BE49-F238E27FC236}">
                <a16:creationId xmlns:a16="http://schemas.microsoft.com/office/drawing/2014/main" id="{EE70F141-810A-4D48-A909-A3753404742D}"/>
              </a:ext>
            </a:extLst>
          </p:cNvPr>
          <p:cNvGrpSpPr/>
          <p:nvPr/>
        </p:nvGrpSpPr>
        <p:grpSpPr>
          <a:xfrm>
            <a:off x="4140975" y="1967554"/>
            <a:ext cx="4221027" cy="2569442"/>
            <a:chOff x="4140975" y="3051975"/>
            <a:chExt cx="4221027" cy="2569442"/>
          </a:xfrm>
        </p:grpSpPr>
        <p:sp>
          <p:nvSpPr>
            <p:cNvPr id="12" name="Rectangle 11">
              <a:extLst>
                <a:ext uri="{FF2B5EF4-FFF2-40B4-BE49-F238E27FC236}">
                  <a16:creationId xmlns:a16="http://schemas.microsoft.com/office/drawing/2014/main" id="{94E5BCAD-5B16-40EF-A43E-3FBF6A6EBC17}"/>
                </a:ext>
              </a:extLst>
            </p:cNvPr>
            <p:cNvSpPr/>
            <p:nvPr/>
          </p:nvSpPr>
          <p:spPr>
            <a:xfrm>
              <a:off x="4140975" y="4174867"/>
              <a:ext cx="4221027" cy="1446550"/>
            </a:xfrm>
            <a:prstGeom prst="rect">
              <a:avLst/>
            </a:prstGeom>
          </p:spPr>
          <p:txBody>
            <a:bodyPr wrap="none">
              <a:spAutoFit/>
            </a:bodyPr>
            <a:lstStyle/>
            <a:p>
              <a:r>
                <a:rPr lang="en-US" sz="8800" b="1" dirty="0">
                  <a:solidFill>
                    <a:srgbClr val="FF6600"/>
                  </a:solidFill>
                  <a:latin typeface="Montserrat SemiBold" panose="00000700000000000000" pitchFamily="50" charset="0"/>
                </a:rPr>
                <a:t>$ 8000</a:t>
              </a:r>
              <a:endParaRPr lang="en-US" sz="8800" b="1" dirty="0">
                <a:solidFill>
                  <a:srgbClr val="505050"/>
                </a:solidFill>
                <a:latin typeface="Montserrat SemiBold" panose="00000700000000000000" pitchFamily="50" charset="0"/>
              </a:endParaRPr>
            </a:p>
          </p:txBody>
        </p:sp>
        <p:sp>
          <p:nvSpPr>
            <p:cNvPr id="2" name="Rectangle 1">
              <a:extLst>
                <a:ext uri="{FF2B5EF4-FFF2-40B4-BE49-F238E27FC236}">
                  <a16:creationId xmlns:a16="http://schemas.microsoft.com/office/drawing/2014/main" id="{9CE2981C-E43F-4D1C-B97E-D7AA4471C076}"/>
                </a:ext>
              </a:extLst>
            </p:cNvPr>
            <p:cNvSpPr/>
            <p:nvPr/>
          </p:nvSpPr>
          <p:spPr>
            <a:xfrm>
              <a:off x="5617340" y="3051975"/>
              <a:ext cx="1051891" cy="523220"/>
            </a:xfrm>
            <a:prstGeom prst="rect">
              <a:avLst/>
            </a:prstGeom>
          </p:spPr>
          <p:txBody>
            <a:bodyPr wrap="none">
              <a:spAutoFit/>
            </a:bodyPr>
            <a:lstStyle/>
            <a:p>
              <a:r>
                <a:rPr lang="en-US" sz="2800" dirty="0">
                  <a:solidFill>
                    <a:schemeClr val="bg1">
                      <a:lumMod val="75000"/>
                    </a:schemeClr>
                  </a:solidFill>
                  <a:latin typeface="Montserrat" panose="00000500000000000000" pitchFamily="50" charset="0"/>
                </a:rPr>
                <a:t>$ 129</a:t>
              </a:r>
            </a:p>
          </p:txBody>
        </p:sp>
      </p:grpSp>
    </p:spTree>
    <p:extLst>
      <p:ext uri="{BB962C8B-B14F-4D97-AF65-F5344CB8AC3E}">
        <p14:creationId xmlns:p14="http://schemas.microsoft.com/office/powerpoint/2010/main" val="1528434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7871540" cy="4313684"/>
            <a:chOff x="825147" y="1300878"/>
            <a:chExt cx="7871540" cy="4313684"/>
          </a:xfrm>
        </p:grpSpPr>
        <p:sp>
          <p:nvSpPr>
            <p:cNvPr id="10" name="Rectangle 9">
              <a:extLst>
                <a:ext uri="{FF2B5EF4-FFF2-40B4-BE49-F238E27FC236}">
                  <a16:creationId xmlns:a16="http://schemas.microsoft.com/office/drawing/2014/main" id="{FDC48643-4FBE-4281-866D-A0E040A53BDB}"/>
                </a:ext>
              </a:extLst>
            </p:cNvPr>
            <p:cNvSpPr/>
            <p:nvPr/>
          </p:nvSpPr>
          <p:spPr>
            <a:xfrm>
              <a:off x="1938106" y="2013576"/>
              <a:ext cx="6758581" cy="3600986"/>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What doesn’t work</a:t>
              </a:r>
            </a:p>
            <a:p>
              <a:pPr marL="742950" indent="-742950">
                <a:buAutoNum type="arabicPeriod"/>
              </a:pPr>
              <a:r>
                <a:rPr lang="en-US" sz="3800" dirty="0">
                  <a:solidFill>
                    <a:schemeClr val="bg1">
                      <a:lumMod val="50000"/>
                    </a:schemeClr>
                  </a:solidFill>
                  <a:latin typeface="Montserrat ExtraLight" panose="00000300000000000000" pitchFamily="50" charset="0"/>
                </a:rPr>
                <a:t>The sales pitch</a:t>
              </a:r>
            </a:p>
            <a:p>
              <a:pPr marL="742950" indent="-742950">
                <a:buAutoNum type="arabicPeriod"/>
              </a:pPr>
              <a:r>
                <a:rPr lang="en-IN" sz="3800" dirty="0">
                  <a:solidFill>
                    <a:schemeClr val="bg1">
                      <a:lumMod val="50000"/>
                    </a:schemeClr>
                  </a:solidFill>
                  <a:latin typeface="Montserrat ExtraLight" panose="00000300000000000000" pitchFamily="50" charset="0"/>
                </a:rPr>
                <a:t>T</a:t>
              </a:r>
              <a:r>
                <a:rPr lang="en-US" sz="3800" dirty="0">
                  <a:solidFill>
                    <a:schemeClr val="bg1">
                      <a:lumMod val="50000"/>
                    </a:schemeClr>
                  </a:solidFill>
                  <a:latin typeface="Montserrat ExtraLight" panose="00000300000000000000" pitchFamily="50" charset="0"/>
                </a:rPr>
                <a:t>he ramble</a:t>
              </a:r>
            </a:p>
            <a:p>
              <a:pPr marL="742950" indent="-742950">
                <a:buAutoNum type="arabicPeriod"/>
              </a:pPr>
              <a:r>
                <a:rPr lang="en-IN" sz="3800" dirty="0">
                  <a:solidFill>
                    <a:schemeClr val="bg1">
                      <a:lumMod val="50000"/>
                    </a:schemeClr>
                  </a:solidFill>
                  <a:latin typeface="Montserrat ExtraLight" panose="00000300000000000000" pitchFamily="50" charset="0"/>
                </a:rPr>
                <a:t>O</a:t>
              </a:r>
              <a:r>
                <a:rPr lang="en-US" sz="3800" dirty="0">
                  <a:solidFill>
                    <a:schemeClr val="bg1">
                      <a:lumMod val="50000"/>
                    </a:schemeClr>
                  </a:solidFill>
                  <a:latin typeface="Montserrat ExtraLight" panose="00000300000000000000" pitchFamily="50" charset="0"/>
                </a:rPr>
                <a:t>RG BORE</a:t>
              </a:r>
            </a:p>
            <a:p>
              <a:pPr marL="742950" indent="-742950">
                <a:buAutoNum type="arabicPeriod"/>
              </a:pPr>
              <a:r>
                <a:rPr lang="en-IN" sz="3800" dirty="0">
                  <a:solidFill>
                    <a:schemeClr val="bg1">
                      <a:lumMod val="50000"/>
                    </a:schemeClr>
                  </a:solidFill>
                  <a:latin typeface="Montserrat ExtraLight" panose="00000300000000000000" pitchFamily="50" charset="0"/>
                </a:rPr>
                <a:t>Inspiration </a:t>
              </a:r>
              <a:r>
                <a:rPr lang="en-IN" sz="3800">
                  <a:solidFill>
                    <a:schemeClr val="bg1">
                      <a:lumMod val="50000"/>
                    </a:schemeClr>
                  </a:solidFill>
                  <a:latin typeface="Montserrat ExtraLight" panose="00000300000000000000" pitchFamily="50" charset="0"/>
                </a:rPr>
                <a:t>perfromance</a:t>
              </a:r>
              <a:endParaRPr lang="en-US" sz="3800" dirty="0">
                <a:solidFill>
                  <a:schemeClr val="bg1">
                    <a:lumMod val="50000"/>
                  </a:schemeClr>
                </a:solidFill>
                <a:latin typeface="Montserrat ExtraLight" panose="00000300000000000000" pitchFamily="50" charset="0"/>
              </a:endParaRPr>
            </a:p>
            <a:p>
              <a:pPr marL="742950" indent="-742950">
                <a:buAutoNum type="arabicPeriod"/>
              </a:pPr>
              <a:endParaRPr lang="en-US" sz="3800" dirty="0">
                <a:solidFill>
                  <a:schemeClr val="bg1">
                    <a:lumMod val="50000"/>
                  </a:schemeClr>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988453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37010</TotalTime>
  <Words>422</Words>
  <Application>Microsoft Office PowerPoint</Application>
  <PresentationFormat>Widescreen</PresentationFormat>
  <Paragraphs>57</Paragraphs>
  <Slides>6</Slides>
  <Notes>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vt:i4>
      </vt:variant>
    </vt:vector>
  </HeadingPairs>
  <TitlesOfParts>
    <vt:vector size="19" baseType="lpstr">
      <vt:lpstr>Arial</vt:lpstr>
      <vt:lpstr>Calibri</vt:lpstr>
      <vt:lpstr>Calibri Light</vt:lpstr>
      <vt:lpstr>Capsuula</vt:lpstr>
      <vt:lpstr>Montserrat</vt:lpstr>
      <vt:lpstr>Montserrat ExtraLight</vt:lpstr>
      <vt:lpstr>Montserrat Light</vt:lpstr>
      <vt:lpstr>Montserrat SemiBold</vt:lpstr>
      <vt:lpstr>Ostrich Sans Medium</vt:lpstr>
      <vt:lpstr>Proxima Nova Cn Rg</vt:lpstr>
      <vt:lpstr>Proxima Nova ExCn Rg</vt:lpstr>
      <vt:lpstr>Source Sans Pro Black</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Bharat Mane</dc:creator>
  <cp:lastModifiedBy>Bharat Mane</cp:lastModifiedBy>
  <cp:revision>1640</cp:revision>
  <dcterms:created xsi:type="dcterms:W3CDTF">2017-08-04T04:53:56Z</dcterms:created>
  <dcterms:modified xsi:type="dcterms:W3CDTF">2019-01-12T10:19:04Z</dcterms:modified>
</cp:coreProperties>
</file>